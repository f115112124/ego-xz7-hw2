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1580583d1ec4a1c" /><Relationship Type="http://schemas.openxmlformats.org/officeDocument/2006/relationships/extended-properties" Target="/docProps/app.xml" Id="R82d7242a7e8944a8" /><Relationship Type="http://schemas.openxmlformats.org/officeDocument/2006/relationships/officeDocument" Target="/ppt/presentation.xml" Id="Rad175121d1034b4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9206831d4984979"/>
  </p:sldMasterIdLst>
  <p:notesMasterIdLst>
    <p:notesMasterId xmlns:r="http://schemas.openxmlformats.org/officeDocument/2006/relationships" r:id="Rf1c9c815c849439a"/>
  </p:notesMasterIdLst>
  <p:sldIdLst>
    <p:sldId xmlns:r="http://schemas.openxmlformats.org/officeDocument/2006/relationships" id="256" r:id="R5a0d7838d4274a14"/>
    <p:sldId xmlns:r="http://schemas.openxmlformats.org/officeDocument/2006/relationships" id="257" r:id="Rcecc9fe2ee6047bf"/>
    <p:sldId xmlns:r="http://schemas.openxmlformats.org/officeDocument/2006/relationships" id="258" r:id="R441ee60354534f7d"/>
    <p:sldId xmlns:r="http://schemas.openxmlformats.org/officeDocument/2006/relationships" id="259" r:id="R32b14b6587a74486"/>
    <p:sldId xmlns:r="http://schemas.openxmlformats.org/officeDocument/2006/relationships" id="260" r:id="R72e119ced0904e62"/>
    <p:sldId xmlns:r="http://schemas.openxmlformats.org/officeDocument/2006/relationships" id="261" r:id="R02902eeef06b40fc"/>
    <p:sldId xmlns:r="http://schemas.openxmlformats.org/officeDocument/2006/relationships" id="262" r:id="R84f7cd3d48bf44c1"/>
    <p:sldId xmlns:r="http://schemas.openxmlformats.org/officeDocument/2006/relationships" id="263" r:id="R57d295016ced4284"/>
    <p:sldId xmlns:r="http://schemas.openxmlformats.org/officeDocument/2006/relationships" id="264" r:id="R63cf5d00bb6e4d40"/>
    <p:sldId xmlns:r="http://schemas.openxmlformats.org/officeDocument/2006/relationships" id="265" r:id="R8083446130e44ae9"/>
    <p:sldId xmlns:r="http://schemas.openxmlformats.org/officeDocument/2006/relationships" id="266" r:id="Rbeb1f6f868524466"/>
    <p:sldId xmlns:r="http://schemas.openxmlformats.org/officeDocument/2006/relationships" id="267" r:id="R40bac41410b24bb3"/>
    <p:sldId xmlns:r="http://schemas.openxmlformats.org/officeDocument/2006/relationships" id="268" r:id="Raa5ac2c123764d4e"/>
    <p:sldId xmlns:r="http://schemas.openxmlformats.org/officeDocument/2006/relationships" id="269" r:id="R9ad9e08c649946cd"/>
    <p:sldId xmlns:r="http://schemas.openxmlformats.org/officeDocument/2006/relationships" id="270" r:id="Re96846802b8c4a8e"/>
    <p:sldId xmlns:r="http://schemas.openxmlformats.org/officeDocument/2006/relationships" id="271" r:id="Rc35ba27158e8435c"/>
    <p:sldId xmlns:r="http://schemas.openxmlformats.org/officeDocument/2006/relationships" id="272" r:id="R386880619d5d43d5"/>
    <p:sldId xmlns:r="http://schemas.openxmlformats.org/officeDocument/2006/relationships" id="273" r:id="Rdb0bd90783bf4ba8"/>
    <p:sldId xmlns:r="http://schemas.openxmlformats.org/officeDocument/2006/relationships" id="274" r:id="R44bcca48b1da4e92"/>
    <p:sldId xmlns:r="http://schemas.openxmlformats.org/officeDocument/2006/relationships" id="275" r:id="R20422ef3cdfe476d"/>
    <p:sldId xmlns:r="http://schemas.openxmlformats.org/officeDocument/2006/relationships" id="276" r:id="R221d735ec6d648dc"/>
    <p:sldId xmlns:r="http://schemas.openxmlformats.org/officeDocument/2006/relationships" id="277" r:id="R35a9a329dcb44977"/>
    <p:sldId xmlns:r="http://schemas.openxmlformats.org/officeDocument/2006/relationships" id="278" r:id="Rdbf7621183df4d5b"/>
    <p:sldId xmlns:r="http://schemas.openxmlformats.org/officeDocument/2006/relationships" id="279" r:id="R775ea5bdf52b4450"/>
    <p:sldId xmlns:r="http://schemas.openxmlformats.org/officeDocument/2006/relationships" id="280" r:id="Ra6cb05ea0aab436c"/>
    <p:sldId xmlns:r="http://schemas.openxmlformats.org/officeDocument/2006/relationships" id="281" r:id="R596e1799dd804e3f"/>
    <p:sldId xmlns:r="http://schemas.openxmlformats.org/officeDocument/2006/relationships" id="282" r:id="R9336956938834a4b"/>
    <p:sldId xmlns:r="http://schemas.openxmlformats.org/officeDocument/2006/relationships" id="283" r:id="Rfa3a02828a7045b1"/>
    <p:sldId xmlns:r="http://schemas.openxmlformats.org/officeDocument/2006/relationships" id="284" r:id="Rd0ac308ad8e24304"/>
    <p:sldId xmlns:r="http://schemas.openxmlformats.org/officeDocument/2006/relationships" id="285" r:id="R6e5262dc640b42fc"/>
    <p:sldId xmlns:r="http://schemas.openxmlformats.org/officeDocument/2006/relationships" id="286" r:id="R01704a44ff6544fc"/>
    <p:sldId xmlns:r="http://schemas.openxmlformats.org/officeDocument/2006/relationships" id="287" r:id="R40340ad7998a4fd3"/>
    <p:sldId xmlns:r="http://schemas.openxmlformats.org/officeDocument/2006/relationships" id="288" r:id="R004ef06c597e44d3"/>
    <p:sldId xmlns:r="http://schemas.openxmlformats.org/officeDocument/2006/relationships" id="289" r:id="R14a2bf355cde49e1"/>
    <p:sldId xmlns:r="http://schemas.openxmlformats.org/officeDocument/2006/relationships" id="290" r:id="R00c5b76bfe774e1d"/>
    <p:sldId xmlns:r="http://schemas.openxmlformats.org/officeDocument/2006/relationships" id="291" r:id="R8eff9204be6841d7"/>
    <p:sldId xmlns:r="http://schemas.openxmlformats.org/officeDocument/2006/relationships" id="292" r:id="R079e8e4ec3924dba"/>
    <p:sldId xmlns:r="http://schemas.openxmlformats.org/officeDocument/2006/relationships" id="293" r:id="Rcc76446d3a424a87"/>
    <p:sldId xmlns:r="http://schemas.openxmlformats.org/officeDocument/2006/relationships" id="294" r:id="R6baf8da9cb814721"/>
    <p:sldId xmlns:r="http://schemas.openxmlformats.org/officeDocument/2006/relationships" id="295" r:id="Rb9cc8f2170ab4261"/>
    <p:sldId xmlns:r="http://schemas.openxmlformats.org/officeDocument/2006/relationships" id="296" r:id="R91ecddf1121b4690"/>
    <p:sldId xmlns:r="http://schemas.openxmlformats.org/officeDocument/2006/relationships" id="297" r:id="R31f99bf7eb8a480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b96da8a162c4597" /><Relationship Type="http://schemas.openxmlformats.org/officeDocument/2006/relationships/slideMaster" Target="/ppt/slideMasters/slideMaster1.xml" Id="Rb9206831d4984979" /><Relationship Type="http://schemas.openxmlformats.org/officeDocument/2006/relationships/notesMaster" Target="/ppt/notesMasters/notesMaster1.xml" Id="Rf1c9c815c849439a" /><Relationship Type="http://schemas.openxmlformats.org/officeDocument/2006/relationships/presProps" Target="/ppt/presProps.xml" Id="R69abd98d2a764dd3" /><Relationship Type="http://schemas.openxmlformats.org/officeDocument/2006/relationships/tableStyles" Target="/ppt/tableStyles.xml" Id="R524d102f27f24c37" /><Relationship Type="http://schemas.openxmlformats.org/officeDocument/2006/relationships/slide" Target="/ppt/slides/slide1.xml" Id="R5a0d7838d4274a14" /><Relationship Type="http://schemas.openxmlformats.org/officeDocument/2006/relationships/slide" Target="/ppt/slides/slide2.xml" Id="Rcecc9fe2ee6047bf" /><Relationship Type="http://schemas.openxmlformats.org/officeDocument/2006/relationships/slide" Target="/ppt/slides/slide3.xml" Id="R441ee60354534f7d" /><Relationship Type="http://schemas.openxmlformats.org/officeDocument/2006/relationships/slide" Target="/ppt/slides/slide4.xml" Id="R32b14b6587a74486" /><Relationship Type="http://schemas.openxmlformats.org/officeDocument/2006/relationships/slide" Target="/ppt/slides/slide5.xml" Id="R72e119ced0904e62" /><Relationship Type="http://schemas.openxmlformats.org/officeDocument/2006/relationships/slide" Target="/ppt/slides/slide6.xml" Id="R02902eeef06b40fc" /><Relationship Type="http://schemas.openxmlformats.org/officeDocument/2006/relationships/slide" Target="/ppt/slides/slide7.xml" Id="R84f7cd3d48bf44c1" /><Relationship Type="http://schemas.openxmlformats.org/officeDocument/2006/relationships/slide" Target="/ppt/slides/slide8.xml" Id="R57d295016ced4284" /><Relationship Type="http://schemas.openxmlformats.org/officeDocument/2006/relationships/slide" Target="/ppt/slides/slide9.xml" Id="R63cf5d00bb6e4d40" /><Relationship Type="http://schemas.openxmlformats.org/officeDocument/2006/relationships/slide" Target="/ppt/slides/slide10.xml" Id="R8083446130e44ae9" /><Relationship Type="http://schemas.openxmlformats.org/officeDocument/2006/relationships/slide" Target="/ppt/slides/slide11.xml" Id="Rbeb1f6f868524466" /><Relationship Type="http://schemas.openxmlformats.org/officeDocument/2006/relationships/slide" Target="/ppt/slides/slide12.xml" Id="R40bac41410b24bb3" /><Relationship Type="http://schemas.openxmlformats.org/officeDocument/2006/relationships/slide" Target="/ppt/slides/slide13.xml" Id="Raa5ac2c123764d4e" /><Relationship Type="http://schemas.openxmlformats.org/officeDocument/2006/relationships/slide" Target="/ppt/slides/slide14.xml" Id="R9ad9e08c649946cd" /><Relationship Type="http://schemas.openxmlformats.org/officeDocument/2006/relationships/slide" Target="/ppt/slides/slide15.xml" Id="Re96846802b8c4a8e" /><Relationship Type="http://schemas.openxmlformats.org/officeDocument/2006/relationships/slide" Target="/ppt/slides/slide16.xml" Id="Rc35ba27158e8435c" /><Relationship Type="http://schemas.openxmlformats.org/officeDocument/2006/relationships/slide" Target="/ppt/slides/slide17.xml" Id="R386880619d5d43d5" /><Relationship Type="http://schemas.openxmlformats.org/officeDocument/2006/relationships/slide" Target="/ppt/slides/slide18.xml" Id="Rdb0bd90783bf4ba8" /><Relationship Type="http://schemas.openxmlformats.org/officeDocument/2006/relationships/slide" Target="/ppt/slides/slide19.xml" Id="R44bcca48b1da4e92" /><Relationship Type="http://schemas.openxmlformats.org/officeDocument/2006/relationships/slide" Target="/ppt/slides/slide20.xml" Id="R20422ef3cdfe476d" /><Relationship Type="http://schemas.openxmlformats.org/officeDocument/2006/relationships/slide" Target="/ppt/slides/slide21.xml" Id="R221d735ec6d648dc" /><Relationship Type="http://schemas.openxmlformats.org/officeDocument/2006/relationships/slide" Target="/ppt/slides/slide22.xml" Id="R35a9a329dcb44977" /><Relationship Type="http://schemas.openxmlformats.org/officeDocument/2006/relationships/slide" Target="/ppt/slides/slide23.xml" Id="Rdbf7621183df4d5b" /><Relationship Type="http://schemas.openxmlformats.org/officeDocument/2006/relationships/slide" Target="/ppt/slides/slide24.xml" Id="R775ea5bdf52b4450" /><Relationship Type="http://schemas.openxmlformats.org/officeDocument/2006/relationships/slide" Target="/ppt/slides/slide25.xml" Id="Ra6cb05ea0aab436c" /><Relationship Type="http://schemas.openxmlformats.org/officeDocument/2006/relationships/slide" Target="/ppt/slides/slide26.xml" Id="R596e1799dd804e3f" /><Relationship Type="http://schemas.openxmlformats.org/officeDocument/2006/relationships/slide" Target="/ppt/slides/slide27.xml" Id="R9336956938834a4b" /><Relationship Type="http://schemas.openxmlformats.org/officeDocument/2006/relationships/slide" Target="/ppt/slides/slide28.xml" Id="Rfa3a02828a7045b1" /><Relationship Type="http://schemas.openxmlformats.org/officeDocument/2006/relationships/slide" Target="/ppt/slides/slide29.xml" Id="Rd0ac308ad8e24304" /><Relationship Type="http://schemas.openxmlformats.org/officeDocument/2006/relationships/slide" Target="/ppt/slides/slide30.xml" Id="R6e5262dc640b42fc" /><Relationship Type="http://schemas.openxmlformats.org/officeDocument/2006/relationships/slide" Target="/ppt/slides/slide31.xml" Id="R01704a44ff6544fc" /><Relationship Type="http://schemas.openxmlformats.org/officeDocument/2006/relationships/slide" Target="/ppt/slides/slide32.xml" Id="R40340ad7998a4fd3" /><Relationship Type="http://schemas.openxmlformats.org/officeDocument/2006/relationships/slide" Target="/ppt/slides/slide33.xml" Id="R004ef06c597e44d3" /><Relationship Type="http://schemas.openxmlformats.org/officeDocument/2006/relationships/slide" Target="/ppt/slides/slide34.xml" Id="R14a2bf355cde49e1" /><Relationship Type="http://schemas.openxmlformats.org/officeDocument/2006/relationships/slide" Target="/ppt/slides/slide35.xml" Id="R00c5b76bfe774e1d" /><Relationship Type="http://schemas.openxmlformats.org/officeDocument/2006/relationships/slide" Target="/ppt/slides/slide36.xml" Id="R8eff9204be6841d7" /><Relationship Type="http://schemas.openxmlformats.org/officeDocument/2006/relationships/slide" Target="/ppt/slides/slide37.xml" Id="R079e8e4ec3924dba" /><Relationship Type="http://schemas.openxmlformats.org/officeDocument/2006/relationships/slide" Target="/ppt/slides/slide38.xml" Id="Rcc76446d3a424a87" /><Relationship Type="http://schemas.openxmlformats.org/officeDocument/2006/relationships/slide" Target="/ppt/slides/slide39.xml" Id="R6baf8da9cb814721" /><Relationship Type="http://schemas.openxmlformats.org/officeDocument/2006/relationships/slide" Target="/ppt/slides/slide40.xml" Id="Rb9cc8f2170ab4261" /><Relationship Type="http://schemas.openxmlformats.org/officeDocument/2006/relationships/slide" Target="/ppt/slides/slide41.xml" Id="R91ecddf1121b4690" /><Relationship Type="http://schemas.openxmlformats.org/officeDocument/2006/relationships/slide" Target="/ppt/slides/slide42.xml" Id="R31f99bf7eb8a480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febcfefc0b54de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dc878cbede54b0f" /><Relationship Type="http://schemas.openxmlformats.org/officeDocument/2006/relationships/notesMaster" Target="/ppt/notesMasters/notesMaster1.xml" Id="R5b272a0d4f78412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f0b2e9cd3ad4b8a" /><Relationship Type="http://schemas.openxmlformats.org/officeDocument/2006/relationships/notesMaster" Target="/ppt/notesMasters/notesMaster1.xml" Id="R7903b361ae9140c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2ffc038ed9e4480" /><Relationship Type="http://schemas.openxmlformats.org/officeDocument/2006/relationships/notesMaster" Target="/ppt/notesMasters/notesMaster1.xml" Id="R4947bb05a5ef498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c988f0f7f4e41d2" /><Relationship Type="http://schemas.openxmlformats.org/officeDocument/2006/relationships/notesMaster" Target="/ppt/notesMasters/notesMaster1.xml" Id="Ra13ad3c7715b474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a6a73b68c164ca1" /><Relationship Type="http://schemas.openxmlformats.org/officeDocument/2006/relationships/notesMaster" Target="/ppt/notesMasters/notesMaster1.xml" Id="R26e0d8ff9ad844b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713d843a7fd4b57" /><Relationship Type="http://schemas.openxmlformats.org/officeDocument/2006/relationships/notesMaster" Target="/ppt/notesMasters/notesMaster1.xml" Id="R6c7ee8d6e99c44b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8cffdfade174b66" /><Relationship Type="http://schemas.openxmlformats.org/officeDocument/2006/relationships/notesMaster" Target="/ppt/notesMasters/notesMaster1.xml" Id="Rdb24a1d9834e4c5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7cb76910a704cf7" /><Relationship Type="http://schemas.openxmlformats.org/officeDocument/2006/relationships/notesMaster" Target="/ppt/notesMasters/notesMaster1.xml" Id="R793aa9e8cef646b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a58bd5c7b9642ce" /><Relationship Type="http://schemas.openxmlformats.org/officeDocument/2006/relationships/notesMaster" Target="/ppt/notesMasters/notesMaster1.xml" Id="R8e9983c4dece476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76d2c1a50654899" /><Relationship Type="http://schemas.openxmlformats.org/officeDocument/2006/relationships/notesMaster" Target="/ppt/notesMasters/notesMaster1.xml" Id="R8644bfaa28ec461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956ecc1e71943f2" /><Relationship Type="http://schemas.openxmlformats.org/officeDocument/2006/relationships/notesMaster" Target="/ppt/notesMasters/notesMaster1.xml" Id="R09add2541dbf48a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f63f4877da241dd" /><Relationship Type="http://schemas.openxmlformats.org/officeDocument/2006/relationships/notesMaster" Target="/ppt/notesMasters/notesMaster1.xml" Id="R6e0bcd4cf13f42b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e3bec2908c94858" /><Relationship Type="http://schemas.openxmlformats.org/officeDocument/2006/relationships/notesMaster" Target="/ppt/notesMasters/notesMaster1.xml" Id="R51cef16ca1f24c4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ab6defd7b12446f" /><Relationship Type="http://schemas.openxmlformats.org/officeDocument/2006/relationships/notesMaster" Target="/ppt/notesMasters/notesMaster1.xml" Id="R518d588a64bf46b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9aa5da78d254dbf" /><Relationship Type="http://schemas.openxmlformats.org/officeDocument/2006/relationships/notesMaster" Target="/ppt/notesMasters/notesMaster1.xml" Id="Re7820be2bb784d5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8f332f2bd104b0d" /><Relationship Type="http://schemas.openxmlformats.org/officeDocument/2006/relationships/notesMaster" Target="/ppt/notesMasters/notesMaster1.xml" Id="R95b655200b614b0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e841281a29d46f8" /><Relationship Type="http://schemas.openxmlformats.org/officeDocument/2006/relationships/notesMaster" Target="/ppt/notesMasters/notesMaster1.xml" Id="R7c6f05c21bdf478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d89ceb988b4493e" /><Relationship Type="http://schemas.openxmlformats.org/officeDocument/2006/relationships/notesMaster" Target="/ppt/notesMasters/notesMaster1.xml" Id="Rcb643cdbe59341f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418a79d02894675" /><Relationship Type="http://schemas.openxmlformats.org/officeDocument/2006/relationships/notesMaster" Target="/ppt/notesMasters/notesMaster1.xml" Id="R6955df634a1a4e5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ae0107516de4725" /><Relationship Type="http://schemas.openxmlformats.org/officeDocument/2006/relationships/notesMaster" Target="/ppt/notesMasters/notesMaster1.xml" Id="R2755cd0b688c4a6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eae11e6cc7c4782" /><Relationship Type="http://schemas.openxmlformats.org/officeDocument/2006/relationships/notesMaster" Target="/ppt/notesMasters/notesMaster1.xml" Id="R0d014750dfc8425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84420a6dc0849c8" /><Relationship Type="http://schemas.openxmlformats.org/officeDocument/2006/relationships/notesMaster" Target="/ppt/notesMasters/notesMaster1.xml" Id="Rf9ecd13dda5b44d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e0ada330dcc43a4" /><Relationship Type="http://schemas.openxmlformats.org/officeDocument/2006/relationships/notesMaster" Target="/ppt/notesMasters/notesMaster1.xml" Id="Rfc1247cd491b452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89e840c61fe4de7" /><Relationship Type="http://schemas.openxmlformats.org/officeDocument/2006/relationships/notesMaster" Target="/ppt/notesMasters/notesMaster1.xml" Id="R23e0f5739f8349ce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6bbd8c10dbc4b40" /><Relationship Type="http://schemas.openxmlformats.org/officeDocument/2006/relationships/notesMaster" Target="/ppt/notesMasters/notesMaster1.xml" Id="R445b15e97a9c414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f3aaf051e93496d" /><Relationship Type="http://schemas.openxmlformats.org/officeDocument/2006/relationships/notesMaster" Target="/ppt/notesMasters/notesMaster1.xml" Id="Rba2cb63161a845e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fa600ec75424245" /><Relationship Type="http://schemas.openxmlformats.org/officeDocument/2006/relationships/notesMaster" Target="/ppt/notesMasters/notesMaster1.xml" Id="R50c1da952d344054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1152c8089d6543b0" /><Relationship Type="http://schemas.openxmlformats.org/officeDocument/2006/relationships/notesMaster" Target="/ppt/notesMasters/notesMaster1.xml" Id="R7055206307f74efb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cdfca7ead0814d02" /><Relationship Type="http://schemas.openxmlformats.org/officeDocument/2006/relationships/notesMaster" Target="/ppt/notesMasters/notesMaster1.xml" Id="R6a22f9c148094782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1b17e34d18f04fb5" /><Relationship Type="http://schemas.openxmlformats.org/officeDocument/2006/relationships/notesMaster" Target="/ppt/notesMasters/notesMaster1.xml" Id="R4c2ff648ed4d4470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1f83024848614217" /><Relationship Type="http://schemas.openxmlformats.org/officeDocument/2006/relationships/notesMaster" Target="/ppt/notesMasters/notesMaster1.xml" Id="R4ab943362af74935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bd437d9d4ff2485b" /><Relationship Type="http://schemas.openxmlformats.org/officeDocument/2006/relationships/notesMaster" Target="/ppt/notesMasters/notesMaster1.xml" Id="R5d8a43b8a0ec4dde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b6e599d2b2974df9" /><Relationship Type="http://schemas.openxmlformats.org/officeDocument/2006/relationships/notesMaster" Target="/ppt/notesMasters/notesMaster1.xml" Id="R1d339912cc754016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9955072eeae04283" /><Relationship Type="http://schemas.openxmlformats.org/officeDocument/2006/relationships/notesMaster" Target="/ppt/notesMasters/notesMaster1.xml" Id="R6cd550e47dd34dae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046d385350644eea" /><Relationship Type="http://schemas.openxmlformats.org/officeDocument/2006/relationships/notesMaster" Target="/ppt/notesMasters/notesMaster1.xml" Id="R4a6a2ae004914ab0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f689b816e8b34a6d" /><Relationship Type="http://schemas.openxmlformats.org/officeDocument/2006/relationships/notesMaster" Target="/ppt/notesMasters/notesMaster1.xml" Id="R91cf6dc9dc764bdb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e92762cccb924f9f" /><Relationship Type="http://schemas.openxmlformats.org/officeDocument/2006/relationships/notesMaster" Target="/ppt/notesMasters/notesMaster1.xml" Id="R0a05bdd0cb944de4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6f2752e468f14b28" /><Relationship Type="http://schemas.openxmlformats.org/officeDocument/2006/relationships/notesMaster" Target="/ppt/notesMasters/notesMaster1.xml" Id="Rf35e6415981f496f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5121361c9dea4e48" /><Relationship Type="http://schemas.openxmlformats.org/officeDocument/2006/relationships/notesMaster" Target="/ppt/notesMasters/notesMaster1.xml" Id="R2bbe2e56f403403b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185ce348b3fe49a2" /><Relationship Type="http://schemas.openxmlformats.org/officeDocument/2006/relationships/notesMaster" Target="/ppt/notesMasters/notesMaster1.xml" Id="R6b7c49a8e68341d6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493ad5ddd5154def" /><Relationship Type="http://schemas.openxmlformats.org/officeDocument/2006/relationships/notesMaster" Target="/ppt/notesMasters/notesMaster1.xml" Id="R9a4642216caa43f7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7d8dbbf1ce14402f" /><Relationship Type="http://schemas.openxmlformats.org/officeDocument/2006/relationships/notesMaster" Target="/ppt/notesMasters/notesMaster1.xml" Id="R3ec4287c94ff456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本手冊依 EGO-XZ7 v1.0、Vivado / Xilinx SDK 2018.3 實機與本機工程整理。原成功工程 D:/soc_hw2，搬移後固定 C:/soc_hw2。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本手冊依 EGO-XZ7 v1.0、Vivado / Xilinx SDK 2018.3 實機與本機工程整理。原成功工程 D:/soc_hw2，搬移後固定 C:/soc_hw2。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本手冊依 EGO-XZ7 v1.0、Vivado / Xilinx SDK 2018.3 實機與本機工程整理。原成功工程 D:/soc_hw2，搬移後固定 C:/soc_hw2。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本手冊依 EGO-XZ7 v1.0、Vivado / Xilinx SDK 2018.3 實機與本機工程整理。原成功工程 D:/soc_hw2，搬移後固定 C:/soc_hw2。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本手冊依 EGO-XZ7 v1.0、Vivado / Xilinx SDK 2018.3 實機與本機工程整理。原成功工程 D:/soc_hw2，搬移後固定 C:/soc_hw2。</a:t>
            </a:r>
          </a:p>
          <a:p xmlns:a="http://schemas.openxmlformats.org/drawingml/2006/main">
            <a:r>
              <a:t>https://www.amd.com/en/support/downloads/adaptive-socs-and-fpgas/development-tools/2018-3.html</a:t>
            </a:r>
          </a:p>
          <a:p xmlns:a="http://schemas.openxmlformats.org/drawingml/2006/main">
            <a:r>
              <a:t>https://docs.amd.com/v/u/2018.3-English/ug973-vivado-release-notes-install-license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本手冊依 EGO-XZ7 v1.0、Vivado / Xilinx SDK 2018.3 實機與本機工程整理。原成功工程 D:/soc_hw2，搬移後固定 C:/soc_hw2。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本機檢查路徑 D:/VIVADO/Vivado/2018.3/data/xicom/cable_drivers/nt64/install_drivers_wrapper.bat，內部 install_drivers.cmd 要求管理員權限。UART 若仍為未知裝置，需安裝對應 FTDI/板卡 UART 驅動。</a:t>
            </a:r>
          </a:p>
          <a:p xmlns:a="http://schemas.openxmlformats.org/drawingml/2006/main">
            <a:r>
              <a:t>本手冊依 EGO-XZ7 v1.0、Vivado / Xilinx SDK 2018.3 實機與本機工程整理。原成功工程 D:/soc_hw2，搬移後固定 C:/soc_hw2。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本手冊依 EGO-XZ7 v1.0、Vivado / Xilinx SDK 2018.3 實機與本機工程整理。原成功工程 D:/soc_hw2，搬移後固定 C:/soc_hw2。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介面來源：本機 Xilinx SDK 2018.3 的實際截圖。對照安裝文件 D:/VIVADO/SDK/2018.3/eclipse/win64.o/plugins/com.xilinx.sdk.docs.user_1.0.0.201811140217.jar，sdk_u_new_hardware_platform_spec.html、sdk_t_tcf_multiproc_debugging.html、sdk_t_configure_fpga.html、concept_sdk_terminal.html。</a:t>
            </a:r>
          </a:p>
          <a:p xmlns:a="http://schemas.openxmlformats.org/drawingml/2006/main">
            <a:r>
              <a:t>本手冊依 EGO-XZ7 v1.0、Vivado / Xilinx SDK 2018.3 實機與本機工程整理。原成功工程 D:/soc_hw2，搬移後固定 C:/soc_hw2。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本手冊依 EGO-XZ7 v1.0、Vivado / Xilinx SDK 2018.3 實機與本機工程整理。原成功工程 D:/soc_hw2，搬移後固定 C:/soc_hw2。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介面來源：本機 Xilinx SDK 2018.3 的實際截圖。對照安裝文件 D:/VIVADO/SDK/2018.3/eclipse/win64.o/plugins/com.xilinx.sdk.docs.user_1.0.0.201811140217.jar，sdk_u_new_hardware_platform_spec.html、sdk_t_tcf_multiproc_debugging.html、sdk_t_configure_fpga.html、concept_sdk_terminal.html。</a:t>
            </a:r>
          </a:p>
          <a:p xmlns:a="http://schemas.openxmlformats.org/drawingml/2006/main">
            <a:r>
              <a:t>本手冊依 EGO-XZ7 v1.0、Vivado / Xilinx SDK 2018.3 實機與本機工程整理。原成功工程 D:/soc_hw2，搬移後固定 C:/soc_hw2。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介面來源：本機 Xilinx SDK 2018.3 的實際截圖。對照安裝文件 D:/VIVADO/SDK/2018.3/eclipse/win64.o/plugins/com.xilinx.sdk.docs.user_1.0.0.201811140217.jar，sdk_u_new_hardware_platform_spec.html、sdk_t_tcf_multiproc_debugging.html、sdk_t_configure_fpga.html、concept_sdk_terminal.html。</a:t>
            </a:r>
          </a:p>
          <a:p xmlns:a="http://schemas.openxmlformats.org/drawingml/2006/main">
            <a:r>
              <a:t>本手冊依 EGO-XZ7 v1.0、Vivado / Xilinx SDK 2018.3 實機與本機工程整理。原成功工程 D:/soc_hw2，搬移後固定 C:/soc_hw2。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介面來源：本機 Xilinx SDK 2018.3 的實際截圖。對照安裝文件 D:/VIVADO/SDK/2018.3/eclipse/win64.o/plugins/com.xilinx.sdk.docs.user_1.0.0.201811140217.jar，sdk_u_new_hardware_platform_spec.html、sdk_t_tcf_multiproc_debugging.html、sdk_t_configure_fpga.html、concept_sdk_terminal.html。</a:t>
            </a:r>
          </a:p>
          <a:p xmlns:a="http://schemas.openxmlformats.org/drawingml/2006/main">
            <a:r>
              <a:t>本手冊依 EGO-XZ7 v1.0、Vivado / Xilinx SDK 2018.3 實機與本機工程整理。原成功工程 D:/soc_hw2，搬移後固定 C:/soc_hw2。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介面來源：本機 Xilinx SDK 2018.3 的實際截圖。對照安裝文件 D:/VIVADO/SDK/2018.3/eclipse/win64.o/plugins/com.xilinx.sdk.docs.user_1.0.0.201811140217.jar，sdk_u_new_hardware_platform_spec.html、sdk_t_tcf_multiproc_debugging.html、sdk_t_configure_fpga.html、concept_sdk_terminal.html。</a:t>
            </a:r>
          </a:p>
          <a:p xmlns:a="http://schemas.openxmlformats.org/drawingml/2006/main">
            <a:r>
              <a:t>本手冊依 EGO-XZ7 v1.0、Vivado / Xilinx SDK 2018.3 實機與本機工程整理。原成功工程 D:/soc_hw2，搬移後固定 C:/soc_hw2。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介面來源：本機 Xilinx SDK 2018.3 的實際截圖。對照安裝文件 D:/VIVADO/SDK/2018.3/eclipse/win64.o/plugins/com.xilinx.sdk.docs.user_1.0.0.201811140217.jar，sdk_u_new_hardware_platform_spec.html、sdk_t_tcf_multiproc_debugging.html、sdk_t_configure_fpga.html、concept_sdk_terminal.html。</a:t>
            </a:r>
          </a:p>
          <a:p xmlns:a="http://schemas.openxmlformats.org/drawingml/2006/main">
            <a:r>
              <a:t>本手冊依 EGO-XZ7 v1.0、Vivado / Xilinx SDK 2018.3 實機與本機工程整理。原成功工程 D:/soc_hw2，搬移後固定 C:/soc_hw2。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介面來源：本機 Xilinx SDK 2018.3 的實際截圖。對照安裝文件 D:/VIVADO/SDK/2018.3/eclipse/win64.o/plugins/com.xilinx.sdk.docs.user_1.0.0.201811140217.jar，sdk_u_new_hardware_platform_spec.html、sdk_t_tcf_multiproc_debugging.html、sdk_t_configure_fpga.html、concept_sdk_terminal.html。</a:t>
            </a:r>
          </a:p>
          <a:p xmlns:a="http://schemas.openxmlformats.org/drawingml/2006/main">
            <a:r>
              <a:t>本手冊依 EGO-XZ7 v1.0、Vivado / Xilinx SDK 2018.3 實機與本機工程整理。原成功工程 D:/soc_hw2，搬移後固定 C:/soc_hw2。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本手冊依 EGO-XZ7 v1.0、Vivado / Xilinx SDK 2018.3 實機與本機工程整理。原成功工程 D:/soc_hw2，搬移後固定 C:/soc_hw2。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同一包 HDF 內含與 export 相同 BIT。本機對話框資訊以實際擷取畫面為準。</a:t>
            </a:r>
          </a:p>
          <a:p xmlns:a="http://schemas.openxmlformats.org/drawingml/2006/main">
            <a:r>
              <a:t>介面來源：本機 Xilinx SDK 2018.3 的實際截圖。對照安裝文件 D:/VIVADO/SDK/2018.3/eclipse/win64.o/plugins/com.xilinx.sdk.docs.user_1.0.0.201811140217.jar，sdk_u_new_hardware_platform_spec.html、sdk_t_tcf_multiproc_debugging.html、sdk_t_configure_fpga.html、concept_sdk_terminal.html。</a:t>
            </a:r>
          </a:p>
          <a:p xmlns:a="http://schemas.openxmlformats.org/drawingml/2006/main">
            <a:r>
              <a:t>本手冊依 EGO-XZ7 v1.0、Vivado / Xilinx SDK 2018.3 實機與本機工程整理。原成功工程 D:/soc_hw2，搬移後固定 C:/soc_hw2。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介面來源：本機 Xilinx SDK 2018.3 的實際截圖。對照安裝文件 D:/VIVADO/SDK/2018.3/eclipse/win64.o/plugins/com.xilinx.sdk.docs.user_1.0.0.201811140217.jar，sdk_u_new_hardware_platform_spec.html、sdk_t_tcf_multiproc_debugging.html、sdk_t_configure_fpga.html、concept_sdk_terminal.html。</a:t>
            </a:r>
          </a:p>
          <a:p xmlns:a="http://schemas.openxmlformats.org/drawingml/2006/main">
            <a:r>
              <a:t>本手冊依 EGO-XZ7 v1.0、Vivado / Xilinx SDK 2018.3 實機與本機工程整理。原成功工程 D:/soc_hw2，搬移後固定 C:/soc_hw2。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介面來源：本機 Xilinx SDK 2018.3 的實際截圖。對照安裝文件 D:/VIVADO/SDK/2018.3/eclipse/win64.o/plugins/com.xilinx.sdk.docs.user_1.0.0.201811140217.jar，sdk_u_new_hardware_platform_spec.html、sdk_t_tcf_multiproc_debugging.html、sdk_t_configure_fpga.html、concept_sdk_terminal.html。</a:t>
            </a:r>
          </a:p>
          <a:p xmlns:a="http://schemas.openxmlformats.org/drawingml/2006/main">
            <a:r>
              <a:t>本手冊依 EGO-XZ7 v1.0、Vivado / Xilinx SDK 2018.3 實機與本機工程整理。原成功工程 D:/soc_hw2，搬移後固定 C:/soc_hw2。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介面來源：本機 Xilinx SDK 2018.3 的實際截圖。對照安裝文件 D:/VIVADO/SDK/2018.3/eclipse/win64.o/plugins/com.xilinx.sdk.docs.user_1.0.0.201811140217.jar，sdk_u_new_hardware_platform_spec.html、sdk_t_tcf_multiproc_debugging.html、sdk_t_configure_fpga.html、concept_sdk_terminal.html。</a:t>
            </a:r>
          </a:p>
          <a:p xmlns:a="http://schemas.openxmlformats.org/drawingml/2006/main">
            <a:r>
              <a:t>本手冊依 EGO-XZ7 v1.0、Vivado / Xilinx SDK 2018.3 實機與本機工程整理。原成功工程 D:/soc_hw2，搬移後固定 C:/soc_hw2。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介面來源：本機 Xilinx SDK 2018.3 的實際截圖。對照安裝文件 D:/VIVADO/SDK/2018.3/eclipse/win64.o/plugins/com.xilinx.sdk.docs.user_1.0.0.201811140217.jar，sdk_u_new_hardware_platform_spec.html、sdk_t_tcf_multiproc_debugging.html、sdk_t_configure_fpga.html、concept_sdk_terminal.html。</a:t>
            </a:r>
          </a:p>
          <a:p xmlns:a="http://schemas.openxmlformats.org/drawingml/2006/main">
            <a:r>
              <a:t>本手冊依 EGO-XZ7 v1.0、Vivado / Xilinx SDK 2018.3 實機與本機工程整理。原成功工程 D:/soc_hw2，搬移後固定 C:/soc_hw2。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介面來源：本機 Xilinx SDK 2018.3 的實際截圖。對照安裝文件 D:/VIVADO/SDK/2018.3/eclipse/win64.o/plugins/com.xilinx.sdk.docs.user_1.0.0.201811140217.jar，sdk_u_new_hardware_platform_spec.html、sdk_t_tcf_multiproc_debugging.html、sdk_t_configure_fpga.html、concept_sdk_terminal.html。</a:t>
            </a:r>
          </a:p>
          <a:p xmlns:a="http://schemas.openxmlformats.org/drawingml/2006/main">
            <a:r>
              <a:t>本手冊依 EGO-XZ7 v1.0、Vivado / Xilinx SDK 2018.3 實機與本機工程整理。原成功工程 D:/soc_hw2，搬移後固定 C:/soc_hw2。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介面來源：本機 Xilinx SDK 2018.3 的實際截圖。對照安裝文件 D:/VIVADO/SDK/2018.3/eclipse/win64.o/plugins/com.xilinx.sdk.docs.user_1.0.0.201811140217.jar，sdk_u_new_hardware_platform_spec.html、sdk_t_tcf_multiproc_debugging.html、sdk_t_configure_fpga.html、concept_sdk_terminal.html。</a:t>
            </a:r>
          </a:p>
          <a:p xmlns:a="http://schemas.openxmlformats.org/drawingml/2006/main">
            <a:r>
              <a:t>本手冊依 EGO-XZ7 v1.0、Vivado / Xilinx SDK 2018.3 實機與本機工程整理。原成功工程 D:/soc_hw2，搬移後固定 C:/soc_hw2。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使用者提供的原始實物照片 D:/下載/141084.jpg，未改動照片。S6 對應 GPIO bit0/P16。S2 SRST與S12 PROG屬重置/配置，不是本應用讀取的五顆PL按鈕。</a:t>
            </a:r>
          </a:p>
          <a:p xmlns:a="http://schemas.openxmlformats.org/drawingml/2006/main">
            <a:r>
              <a:t>本手冊依 EGO-XZ7 v1.0、Vivado / Xilinx SDK 2018.3 實機與本機工程整理。原成功工程 D:/soc_hw2，搬移後固定 C:/soc_hw2。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實測來源 D:/soc_hw2/reports/uart_button_test.log、board_test.json。使用者確認 S6 後 LED 熄滅約兩秒重新計數，紀錄有兩次有效按下。</a:t>
            </a:r>
          </a:p>
          <a:p xmlns:a="http://schemas.openxmlformats.org/drawingml/2006/main">
            <a:r>
              <a:t>本手冊依 EGO-XZ7 v1.0、Vivado / Xilinx SDK 2018.3 實機與本機工程整理。原成功工程 D:/soc_hw2，搬移後固定 C:/soc_hw2。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本手冊依 EGO-XZ7 v1.0、Vivado / Xilinx SDK 2018.3 實機與本機工程整理。原成功工程 D:/soc_hw2，搬移後固定 C:/soc_hw2。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本手冊依 EGO-XZ7 v1.0、Vivado / Xilinx SDK 2018.3 實機與本機工程整理。原成功工程 D:/soc_hw2，搬移後固定 C:/soc_hw2。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本手冊依 EGO-XZ7 v1.0、Vivado / Xilinx SDK 2018.3 實機與本機工程整理。原成功工程 D:/soc_hw2，搬移後固定 C:/soc_hw2。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本手冊依 EGO-XZ7 v1.0、Vivado / Xilinx SDK 2018.3 實機與本機工程整理。原成功工程 D:/soc_hw2，搬移後固定 C:/soc_hw2。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本手冊依 EGO-XZ7 v1.0、Vivado / Xilinx SDK 2018.3 實機與本機工程整理。原成功工程 D:/soc_hw2，搬移後固定 C:/soc_hw2。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若此版本未顯示 Change Hardware Platform Specification，可保留舊 workspace 另建全新的 sdk_new，依第12–18頁從新 HDF 建立，避免直接覆寫.metadata。</a:t>
            </a:r>
          </a:p>
          <a:p xmlns:a="http://schemas.openxmlformats.org/drawingml/2006/main">
            <a:r>
              <a:t>介面來源：本機 Xilinx SDK 2018.3 的實際截圖。對照安裝文件 D:/VIVADO/SDK/2018.3/eclipse/win64.o/plugins/com.xilinx.sdk.docs.user_1.0.0.201811140217.jar，sdk_u_new_hardware_platform_spec.html、sdk_t_tcf_multiproc_debugging.html、sdk_t_configure_fpga.html、concept_sdk_terminal.html。</a:t>
            </a:r>
          </a:p>
          <a:p xmlns:a="http://schemas.openxmlformats.org/drawingml/2006/main">
            <a:r>
              <a:t>本手冊依 EGO-XZ7 v1.0、Vivado / Xilinx SDK 2018.3 實機與本機工程整理。原成功工程 D:/soc_hw2，搬移後固定 C:/soc_hw2。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本手冊依 EGO-XZ7 v1.0、Vivado / Xilinx SDK 2018.3 實機與本機工程整理。原成功工程 D:/soc_hw2，搬移後固定 C:/soc_hw2。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本手冊依 EGO-XZ7 v1.0、Vivado / Xilinx SDK 2018.3 實機與本機工程整理。原成功工程 D:/soc_hw2，搬移後固定 C:/soc_hw2。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此腳本會將 firmware/hw2_demo/main.c 匯入 sdk/hw2_demo。必須先保存 SDK 中尚未回存的修改，避免以舊來源蓋回。</a:t>
            </a:r>
          </a:p>
          <a:p xmlns:a="http://schemas.openxmlformats.org/drawingml/2006/main">
            <a:r>
              <a:t>本手冊依 EGO-XZ7 v1.0、Vivado / Xilinx SDK 2018.3 實機與本機工程整理。原成功工程 D:/soc_hw2，搬移後固定 C:/soc_hw2。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本手冊依 EGO-XZ7 v1.0、Vivado / Xilinx SDK 2018.3 實機與本機工程整理。原成功工程 D:/soc_hw2，搬移後固定 C:/soc_hw2。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本手冊依 EGO-XZ7 v1.0、Vivado / Xilinx SDK 2018.3 實機與本機工程整理。原成功工程 D:/soc_hw2，搬移後固定 C:/soc_hw2。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本手冊依 EGO-XZ7 v1.0、Vivado / Xilinx SDK 2018.3 實機與本機工程整理。原成功工程 D:/soc_hw2，搬移後固定 C:/soc_hw2。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本手冊依 EGO-XZ7 v1.0、Vivado / Xilinx SDK 2018.3 實機與本機工程整理。原成功工程 D:/soc_hw2，搬移後固定 C:/soc_hw2。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本手冊依 EGO-XZ7 v1.0、Vivado / Xilinx SDK 2018.3 實機與本機工程整理。原成功工程 D:/soc_hw2，搬移後固定 C:/soc_hw2。</a:t>
            </a:r>
          </a:p>
          <a:p xmlns:a="http://schemas.openxmlformats.org/drawingml/2006/main">
            <a:r>
              <a:t>AMD UG585: https://docs.amd.com/r/en-US/ug585-zynq-7000-SoC-TRM/Interrupts</a:t>
            </a:r>
          </a:p>
          <a:p xmlns:a="http://schemas.openxmlformats.org/drawingml/2006/main">
            <a:r>
              <a:t>AMD PG144: https://docs.amd.com/r/en-US/pg144-axi-gpio/Register-Space</a:t>
            </a:r>
          </a:p>
          <a:p xmlns:a="http://schemas.openxmlformats.org/drawingml/2006/main">
            <a:r>
              <a:t>本機 Xilinx SDK 2018.3 安裝內 docs.user 說明與實際GUI擷取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 main.c 的正常執行路徑建立。INIT 為一次性初始化流程，主狀態以 paused=0/1 表示。COUNT 每500ms counter=(counter+1)&amp;0xFF。有效 pressed 清零並重設 pause_deadline=now+2000ms，即使原本已暫停亦會重設。到期時 counter=1 並 next_count=now+500ms。若同次迴圈有新按下，先更新暫停期限再檢查到期。來源 D:/soc_hw2/firmware/hw2_demo/main.c:136-207。所有狀態框、箭頭及標籤均為可編輯的 PowerPoint 物件。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 main.c:168-192 的並行防彈跳邏輯。observed_sequence改變時重設debounce_deadline=now+20ms。到期才取current_buttons。pressed使用前次stable_buttons計算上升位元，接著無論pressed是否為0都stable_buttons=current_buttons、debounce_pending=0。只有pressed非0才重設主FSM暫停。每次主迴圈仍繼續處理COUNT/PAUSE與各期限，因此防彈跳不是停止主FSM的第三個狀態。ISR位於main.c:63-72，僅清GPIO pending並累加ButtonIrqSequence。來源 D:/soc_hw2/firmware/hw2_demo/main.c。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dcc42eb9904e7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f1090e897047a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7691ce1a76438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e84072febf4f9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06163fdf7340a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b005a3df764d2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AC5F7F3-E3EC-4EC3-B175-C2C58CE608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4446EFB-A7F4-4871-83EB-BD1E8C6FC63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A52C449-0E40-44D7-B928-80D071A3B7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0752525-FAD4-46A3-A230-1DCEFB8A47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AEEAB70-1C05-4D3B-A6C9-3AA801DC9CF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DAB4F45-696A-4519-9FFB-2EC070FD21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B1D0EF7-057D-4A1D-95D7-570FFCF9738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8E59ACC-979F-4BDA-80D2-964986B9CBA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B48BDAC-18D9-4CF5-9F5B-EF3071635B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84E33DD-7E87-4B86-A93D-6B08F49E9DE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03683e1b9034e54" /><Relationship Type="http://schemas.openxmlformats.org/officeDocument/2006/relationships/slideLayout" Target="/ppt/slideLayouts/slideLayout1.xml" Id="R52dc4b143fc3426b" /><Relationship Type="http://schemas.openxmlformats.org/officeDocument/2006/relationships/slideLayout" Target="/ppt/slideLayouts/slideLayout2.xml" Id="Rc5ecb8c7ae854720" /><Relationship Type="http://schemas.openxmlformats.org/officeDocument/2006/relationships/slideLayout" Target="/ppt/slideLayouts/slideLayout3.xml" Id="R54f5b6cc45584ae8" /><Relationship Type="http://schemas.openxmlformats.org/officeDocument/2006/relationships/slideLayout" Target="/ppt/slideLayouts/slideLayout4.xml" Id="R30c6ee930bd140b7" /><Relationship Type="http://schemas.openxmlformats.org/officeDocument/2006/relationships/slideLayout" Target="/ppt/slideLayouts/slideLayout5.xml" Id="R28db3d8bdd0447c6" /><Relationship Type="http://schemas.openxmlformats.org/officeDocument/2006/relationships/slideLayout" Target="/ppt/slideLayouts/slideLayout6.xml" Id="R6c93ee10d0e24d2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dc4b143fc3426b"/>
    <p:sldLayoutId xmlns:r="http://schemas.openxmlformats.org/officeDocument/2006/relationships" id="2147483650" r:id="Rc5ecb8c7ae854720"/>
    <p:sldLayoutId xmlns:r="http://schemas.openxmlformats.org/officeDocument/2006/relationships" id="2147483651" r:id="R54f5b6cc45584ae8"/>
    <p:sldLayoutId xmlns:r="http://schemas.openxmlformats.org/officeDocument/2006/relationships" id="2147483652" r:id="R30c6ee930bd140b7"/>
    <p:sldLayoutId xmlns:r="http://schemas.openxmlformats.org/officeDocument/2006/relationships" id="2147483653" r:id="R28db3d8bdd0447c6"/>
    <p:sldLayoutId xmlns:r="http://schemas.openxmlformats.org/officeDocument/2006/relationships" id="2147483654" r:id="R6c93ee10d0e24d2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525c323b1a4640" /><Relationship Type="http://schemas.openxmlformats.org/officeDocument/2006/relationships/notesSlide" Target="/ppt/notesSlides/notesSlide1.xml" Id="Rad2137cda0c84bf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4ca07251d1497b" /><Relationship Type="http://schemas.openxmlformats.org/officeDocument/2006/relationships/notesSlide" Target="/ppt/notesSlides/notesSlide2.xml" Id="Ra796685ba577442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75d9c41abe48e8" /><Relationship Type="http://schemas.openxmlformats.org/officeDocument/2006/relationships/notesSlide" Target="/ppt/notesSlides/notesSlide3.xml" Id="R8c2924e62a304d2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dd3869ccda404d" /><Relationship Type="http://schemas.openxmlformats.org/officeDocument/2006/relationships/notesSlide" Target="/ppt/notesSlides/notesSlide4.xml" Id="R6367aff4bedb4db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2e325f6c5e4590" /><Relationship Type="http://schemas.openxmlformats.org/officeDocument/2006/relationships/hyperlink" Target="https://www.amd.com/en/support/downloads/adaptive-socs-and-fpgas/development-tools/2018-3.html" TargetMode="External" Id="R7c9550a777894ae7" /><Relationship Type="http://schemas.openxmlformats.org/officeDocument/2006/relationships/notesSlide" Target="/ppt/notesSlides/notesSlide5.xml" Id="R08c835a397c14f3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fa8478837d4bda" /><Relationship Type="http://schemas.openxmlformats.org/officeDocument/2006/relationships/notesSlide" Target="/ppt/notesSlides/notesSlide6.xml" Id="R167cd21667ff4e1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0dab5c225e44f3" /><Relationship Type="http://schemas.openxmlformats.org/officeDocument/2006/relationships/notesSlide" Target="/ppt/notesSlides/notesSlide7.xml" Id="R2aa4b4b9ec1f465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20f02ff37342b8" /><Relationship Type="http://schemas.openxmlformats.org/officeDocument/2006/relationships/notesSlide" Target="/ppt/notesSlides/notesSlide8.xml" Id="R2c4b1088da69441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c2933f713a4a42" /><Relationship Type="http://schemas.openxmlformats.org/officeDocument/2006/relationships/notesSlide" Target="/ppt/notesSlides/notesSlide9.xml" Id="R534ca01e43884f3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3b2a7e11414849" /><Relationship Type="http://schemas.openxmlformats.org/officeDocument/2006/relationships/notesSlide" Target="/ppt/notesSlides/notesSlide10.xml" Id="R5790ecf6818748b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6f6f7fa940483d" /><Relationship Type="http://schemas.openxmlformats.org/officeDocument/2006/relationships/image" Target="/ppt/media/image.jpeg" Id="R0cfd1c77de20421c" /><Relationship Type="http://schemas.openxmlformats.org/officeDocument/2006/relationships/notesSlide" Target="/ppt/notesSlides/notesSlide11.xml" Id="R6851a0fb37a3434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f57639f01e4c15" /><Relationship Type="http://schemas.openxmlformats.org/officeDocument/2006/relationships/image" Target="/ppt/media/image2.jpeg" Id="Rd7fdec135c494fc3" /><Relationship Type="http://schemas.openxmlformats.org/officeDocument/2006/relationships/notesSlide" Target="/ppt/notesSlides/notesSlide12.xml" Id="R558962f9f92343a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167a84f7a34bb0" /><Relationship Type="http://schemas.openxmlformats.org/officeDocument/2006/relationships/image" Target="/ppt/media/image3.jpeg" Id="R549abba062164f0e" /><Relationship Type="http://schemas.openxmlformats.org/officeDocument/2006/relationships/notesSlide" Target="/ppt/notesSlides/notesSlide13.xml" Id="R9d585b94d0c64bc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e9f93bb2b14779" /><Relationship Type="http://schemas.openxmlformats.org/officeDocument/2006/relationships/image" Target="/ppt/media/image4.jpeg" Id="R24d9c7c03d6440fd" /><Relationship Type="http://schemas.openxmlformats.org/officeDocument/2006/relationships/notesSlide" Target="/ppt/notesSlides/notesSlide14.xml" Id="Rbb6355639b314b2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990d0e56a84d76" /><Relationship Type="http://schemas.openxmlformats.org/officeDocument/2006/relationships/image" Target="/ppt/media/image5.jpeg" Id="R406762b1b8864fc0" /><Relationship Type="http://schemas.openxmlformats.org/officeDocument/2006/relationships/notesSlide" Target="/ppt/notesSlides/notesSlide15.xml" Id="R2c5423771b0b4c0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9e2b3f52294e78" /><Relationship Type="http://schemas.openxmlformats.org/officeDocument/2006/relationships/image" Target="/ppt/media/image6.jpeg" Id="R90803bdba5414d9a" /><Relationship Type="http://schemas.openxmlformats.org/officeDocument/2006/relationships/notesSlide" Target="/ppt/notesSlides/notesSlide16.xml" Id="Re992f3f6e38c4c0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7e6adf2eb343b2" /><Relationship Type="http://schemas.openxmlformats.org/officeDocument/2006/relationships/notesSlide" Target="/ppt/notesSlides/notesSlide17.xml" Id="R0a4592816c0f4d9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7dec84732742f0" /><Relationship Type="http://schemas.openxmlformats.org/officeDocument/2006/relationships/image" Target="/ppt/media/image7.jpeg" Id="Rf5cff3274a834e42" /><Relationship Type="http://schemas.openxmlformats.org/officeDocument/2006/relationships/notesSlide" Target="/ppt/notesSlides/notesSlide18.xml" Id="R29e021804a6044e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c6bda1367b4055" /><Relationship Type="http://schemas.openxmlformats.org/officeDocument/2006/relationships/image" Target="/ppt/media/image8.jpeg" Id="R152182ce0a9b4a1d" /><Relationship Type="http://schemas.openxmlformats.org/officeDocument/2006/relationships/notesSlide" Target="/ppt/notesSlides/notesSlide19.xml" Id="R9bd1bd6643ed483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818d0591a64259" /><Relationship Type="http://schemas.openxmlformats.org/officeDocument/2006/relationships/image" Target="/ppt/media/image9.jpeg" Id="Rca10b0f4f1aa4a76" /><Relationship Type="http://schemas.openxmlformats.org/officeDocument/2006/relationships/notesSlide" Target="/ppt/notesSlides/notesSlide20.xml" Id="Rd8d25c48794b498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5787c37d2e48fa" /><Relationship Type="http://schemas.openxmlformats.org/officeDocument/2006/relationships/image" Target="/ppt/media/image10.jpeg" Id="Rc3a31b8c1836473d" /><Relationship Type="http://schemas.openxmlformats.org/officeDocument/2006/relationships/notesSlide" Target="/ppt/notesSlides/notesSlide21.xml" Id="R2df70f27b611456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8d6c0327ce4779" /><Relationship Type="http://schemas.openxmlformats.org/officeDocument/2006/relationships/image" Target="/ppt/media/image11.jpeg" Id="R474d9f94fdbc4cdb" /><Relationship Type="http://schemas.openxmlformats.org/officeDocument/2006/relationships/notesSlide" Target="/ppt/notesSlides/notesSlide22.xml" Id="R6ee619b3f0fb4b4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4b6a0d8882422e" /><Relationship Type="http://schemas.openxmlformats.org/officeDocument/2006/relationships/image" Target="/ppt/media/image12.jpeg" Id="R3c19e1de6ce74010" /><Relationship Type="http://schemas.openxmlformats.org/officeDocument/2006/relationships/notesSlide" Target="/ppt/notesSlides/notesSlide23.xml" Id="R67e5a8b34ec041f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d5f0049a5b4357" /><Relationship Type="http://schemas.openxmlformats.org/officeDocument/2006/relationships/notesSlide" Target="/ppt/notesSlides/notesSlide24.xml" Id="R62b01068303b420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742d5e53f04bac" /><Relationship Type="http://schemas.openxmlformats.org/officeDocument/2006/relationships/image" Target="/ppt/media/image13.jpeg" Id="R6dc0ece8aa5c4bbc" /><Relationship Type="http://schemas.openxmlformats.org/officeDocument/2006/relationships/notesSlide" Target="/ppt/notesSlides/notesSlide25.xml" Id="Rcfd82a77c9954cdc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82a6e34d80482d" /><Relationship Type="http://schemas.openxmlformats.org/officeDocument/2006/relationships/notesSlide" Target="/ppt/notesSlides/notesSlide26.xml" Id="R67f08855915f4fa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33e0d0184e4173" /><Relationship Type="http://schemas.openxmlformats.org/officeDocument/2006/relationships/notesSlide" Target="/ppt/notesSlides/notesSlide27.xml" Id="R4eb05a044125405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f4df9232c9464d" /><Relationship Type="http://schemas.openxmlformats.org/officeDocument/2006/relationships/notesSlide" Target="/ppt/notesSlides/notesSlide28.xml" Id="R783915e90be24580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b87b03235b4c4f" /><Relationship Type="http://schemas.openxmlformats.org/officeDocument/2006/relationships/notesSlide" Target="/ppt/notesSlides/notesSlide29.xml" Id="R5cd800c3b755440b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3357f96a294ac4" /><Relationship Type="http://schemas.openxmlformats.org/officeDocument/2006/relationships/notesSlide" Target="/ppt/notesSlides/notesSlide30.xml" Id="R94d86fc34b1f47be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fde83efe8647ae" /><Relationship Type="http://schemas.openxmlformats.org/officeDocument/2006/relationships/notesSlide" Target="/ppt/notesSlides/notesSlide31.xml" Id="R5cd194f9ec434223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0aa12407a84cf6" /><Relationship Type="http://schemas.openxmlformats.org/officeDocument/2006/relationships/image" Target="/ppt/media/image14.jpeg" Id="R67673d708f6c4ae9" /><Relationship Type="http://schemas.openxmlformats.org/officeDocument/2006/relationships/notesSlide" Target="/ppt/notesSlides/notesSlide32.xml" Id="R0892e6b7da954e4c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6c5f40f6c9479d" /><Relationship Type="http://schemas.openxmlformats.org/officeDocument/2006/relationships/notesSlide" Target="/ppt/notesSlides/notesSlide33.xml" Id="R4ac83154b1d24825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6530e451b94fa6" /><Relationship Type="http://schemas.openxmlformats.org/officeDocument/2006/relationships/notesSlide" Target="/ppt/notesSlides/notesSlide34.xml" Id="R3ed23eb51b93473c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519321c285410f" /><Relationship Type="http://schemas.openxmlformats.org/officeDocument/2006/relationships/notesSlide" Target="/ppt/notesSlides/notesSlide35.xml" Id="R39cdc0b6c88643ee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893e85a9054c94" /><Relationship Type="http://schemas.openxmlformats.org/officeDocument/2006/relationships/notesSlide" Target="/ppt/notesSlides/notesSlide36.xml" Id="R0ff704f16959464e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61256bc72c448f" /><Relationship Type="http://schemas.openxmlformats.org/officeDocument/2006/relationships/notesSlide" Target="/ppt/notesSlides/notesSlide37.xml" Id="R8709437385a64871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af766398884e7c" /><Relationship Type="http://schemas.openxmlformats.org/officeDocument/2006/relationships/notesSlide" Target="/ppt/notesSlides/notesSlide38.xml" Id="R2ece68efade842cd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2bcdadabb14a6d" /><Relationship Type="http://schemas.openxmlformats.org/officeDocument/2006/relationships/notesSlide" Target="/ppt/notesSlides/notesSlide39.xml" Id="Rc773d23933f94a07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4ef316f1684d78" /><Relationship Type="http://schemas.openxmlformats.org/officeDocument/2006/relationships/notesSlide" Target="/ppt/notesSlides/notesSlide40.xml" Id="R8a08d78e3e7043e3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fac2fa31e846f4" /><Relationship Type="http://schemas.openxmlformats.org/officeDocument/2006/relationships/notesSlide" Target="/ppt/notesSlides/notesSlide41.xml" Id="R8c6e14760b1c46f6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1a8220eef243d3" /><Relationship Type="http://schemas.openxmlformats.org/officeDocument/2006/relationships/notesSlide" Target="/ppt/notesSlides/notesSlide42.xml" Id="R47b2a4affe7445f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GO-XZ7 HW2&#10;另一台電腦操作手冊">
            <a:extLst xmlns:a="http://schemas.openxmlformats.org/drawingml/2006/main">
              <a:ext uri="{FF2B5EF4-FFF2-40B4-BE49-F238E27FC236}">
                <a16:creationId xmlns:a16="http://schemas.microsoft.com/office/drawing/2014/main" id="{3CE22751-E833-4351-87B0-2F35C454E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500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4500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4500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4500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4500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4500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4500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4500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4500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4500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4500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500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EGO-XZ7 HW2</a:t>
            </a:r>
          </a:p>
          <a:p xmlns:a="http://schemas.openxmlformats.org/drawingml/2006/main">
            <a:pPr>
              <a:defRPr sz="4500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500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另一台電腦操作手冊</a:t>
            </a:r>
          </a:p>
        </p:txBody>
      </p:sp>
      <p:sp>
        <p:nvSpPr>
          <p:cNvPr id="3" name="Vivado 2018.3 與 Xilinx SDK 2018.3&#10;檔案搬移">
            <a:extLst xmlns:a="http://schemas.openxmlformats.org/drawingml/2006/main">
              <a:ext uri="{FF2B5EF4-FFF2-40B4-BE49-F238E27FC236}">
                <a16:creationId xmlns:a16="http://schemas.microsoft.com/office/drawing/2014/main" id="{BD882A2B-24EA-4892-A92F-D6E3E5056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0"/>
            <a:ext cx="10668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250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250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250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250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250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250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250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250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250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Vivado 2018.3 與 Xilinx SDK 2018.3</a:t>
            </a:r>
          </a:p>
          <a:p xmlns:a="http://schemas.openxmlformats.org/drawingml/2006/main">
            <a:pPr>
              <a:defRPr sz="2250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檔案搬移、畫面操作與上板確認</a:t>
            </a:r>
          </a:p>
        </p:txBody>
      </p:sp>
      <p:sp>
        <p:nvSpPr>
          <p:cNvPr id="4" name="適用 EGO-XZ7 v1.0　　依 2018.3 實際介面整理">
            <a:extLst xmlns:a="http://schemas.openxmlformats.org/drawingml/2006/main">
              <a:ext uri="{FF2B5EF4-FFF2-40B4-BE49-F238E27FC236}">
                <a16:creationId xmlns:a16="http://schemas.microsoft.com/office/drawing/2014/main" id="{DC664EEC-DF5F-4598-8EFD-AFF02693A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817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58636C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58636C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58636C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58636C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58636C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58636C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58636C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58636C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58636C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58636C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863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58636C"/>
                </a:solidFill>
                <a:latin typeface="Microsoft JhengHei"/>
                <a:ea typeface="Microsoft JhengHei"/>
                <a:cs typeface="Microsoft JhengHei"/>
              </a:rPr>
              <a:t>適用 EGO-XZ7 v1.0　　依 2018.3 實際介面整理</a:t>
            </a:r>
          </a:p>
        </p:txBody>
      </p:sp>
      <p:sp>
        <p:nvSpPr>
          <p:cNvPr id="5" name="01">
            <a:extLst xmlns:a="http://schemas.openxmlformats.org/drawingml/2006/main">
              <a:ext uri="{FF2B5EF4-FFF2-40B4-BE49-F238E27FC236}">
                <a16:creationId xmlns:a16="http://schemas.microsoft.com/office/drawing/2014/main" id="{5DEE53FA-4F9A-4A3C-8F28-EF47BB03D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436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956256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操作順序與使用方式">
            <a:extLst xmlns:a="http://schemas.openxmlformats.org/drawingml/2006/main">
              <a:ext uri="{FF2B5EF4-FFF2-40B4-BE49-F238E27FC236}">
                <a16:creationId xmlns:a16="http://schemas.microsoft.com/office/drawing/2014/main" id="{4D896C64-0157-499F-ABCB-77DC67E02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操作順序與使用方式</a:t>
            </a:r>
          </a:p>
        </p:txBody>
      </p:sp>
      <p:sp>
        <p:nvSpPr>
          <p:cNvPr id="3" name="第一次到另一台電腦">
            <a:extLst xmlns:a="http://schemas.openxmlformats.org/drawingml/2006/main">
              <a:ext uri="{FF2B5EF4-FFF2-40B4-BE49-F238E27FC236}">
                <a16:creationId xmlns:a16="http://schemas.microsoft.com/office/drawing/2014/main" id="{FF419E02-96C3-4813-8167-C96ED1396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第一次到另一台電腦</a:t>
            </a:r>
          </a:p>
        </p:txBody>
      </p:sp>
      <p:sp>
        <p:nvSpPr>
          <p:cNvPr id="4" name="依第 3–26 頁操作，完成解壓縮、連線、建立 SDK 專案與按鈕測試。">
            <a:extLst xmlns:a="http://schemas.openxmlformats.org/drawingml/2006/main">
              <a:ext uri="{FF2B5EF4-FFF2-40B4-BE49-F238E27FC236}">
                <a16:creationId xmlns:a16="http://schemas.microsoft.com/office/drawing/2014/main" id="{9856C4D9-0BCC-4394-9A13-9AA7AE97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依第 3–26 頁操作，完成解壓縮、連線、建立 SDK 專案與按鈕測試。</a:t>
            </a:r>
          </a:p>
        </p:txBody>
      </p:sp>
      <p:sp>
        <p:nvSpPr>
          <p:cNvPr id="5" name="已成功執行過，只要再次展示">
            <a:extLst xmlns:a="http://schemas.openxmlformats.org/drawingml/2006/main">
              <a:ext uri="{FF2B5EF4-FFF2-40B4-BE49-F238E27FC236}">
                <a16:creationId xmlns:a16="http://schemas.microsoft.com/office/drawing/2014/main" id="{22DDDD76-E7A8-4B4A-AA29-719F085E5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289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已成功執行過，只要再次展示</a:t>
            </a:r>
          </a:p>
        </p:txBody>
      </p:sp>
      <p:sp>
        <p:nvSpPr>
          <p:cNvPr id="6" name="看第 27 頁。若 IDE 設定卡住，用第 34 頁的預編譯下載方式。">
            <a:extLst xmlns:a="http://schemas.openxmlformats.org/drawingml/2006/main">
              <a:ext uri="{FF2B5EF4-FFF2-40B4-BE49-F238E27FC236}">
                <a16:creationId xmlns:a16="http://schemas.microsoft.com/office/drawing/2014/main" id="{3CE2DD08-7CFC-476B-AEDB-56DBF461B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看第 27 頁。若 IDE 設定卡住，用第 34 頁的預編譯下載方式。</a:t>
            </a:r>
          </a:p>
        </p:txBody>
      </p:sp>
      <p:sp>
        <p:nvSpPr>
          <p:cNvPr id="7" name="需要看工程或修改設計">
            <a:extLst xmlns:a="http://schemas.openxmlformats.org/drawingml/2006/main">
              <a:ext uri="{FF2B5EF4-FFF2-40B4-BE49-F238E27FC236}">
                <a16:creationId xmlns:a16="http://schemas.microsoft.com/office/drawing/2014/main" id="{3C49A8B1-E056-45FE-810B-86A4E8D9D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需要看工程或修改設計</a:t>
            </a:r>
          </a:p>
        </p:txBody>
      </p:sp>
      <p:sp>
        <p:nvSpPr>
          <p:cNvPr id="8" name="第 28–33 頁說明 Vivado 工程、重新產生硬體與修改 C 程式。">
            <a:extLst xmlns:a="http://schemas.openxmlformats.org/drawingml/2006/main">
              <a:ext uri="{FF2B5EF4-FFF2-40B4-BE49-F238E27FC236}">
                <a16:creationId xmlns:a16="http://schemas.microsoft.com/office/drawing/2014/main" id="{1BA93168-1033-4948-96BC-BA2215353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109728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第 28–33 頁說明 Vivado 工程、重新產生硬體與修改 C 程式。</a:t>
            </a:r>
          </a:p>
        </p:txBody>
      </p:sp>
      <p:sp>
        <p:nvSpPr>
          <p:cNvPr id="9" name="完成時：每一頁綠色文字都是該步應看到的結果。">
            <a:extLst xmlns:a="http://schemas.openxmlformats.org/drawingml/2006/main">
              <a:ext uri="{FF2B5EF4-FFF2-40B4-BE49-F238E27FC236}">
                <a16:creationId xmlns:a16="http://schemas.microsoft.com/office/drawing/2014/main" id="{863E4716-BDF1-4160-B33A-CBCF7862B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8775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rPr>
              <a:t>完成時：每一頁綠色文字都是該步應看到的結果。</a:t>
            </a:r>
          </a:p>
        </p:txBody>
      </p:sp>
      <p:sp>
        <p:nvSpPr>
          <p:cNvPr id="10" name="02">
            <a:extLst xmlns:a="http://schemas.openxmlformats.org/drawingml/2006/main">
              <a:ext uri="{FF2B5EF4-FFF2-40B4-BE49-F238E27FC236}">
                <a16:creationId xmlns:a16="http://schemas.microsoft.com/office/drawing/2014/main" id="{C211B6B3-2F7D-4BFC-86F8-282966808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436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1" name="FSM page index">
            <a:extLst xmlns:a="http://schemas.openxmlformats.org/drawingml/2006/main">
              <a:ext uri="{FF2B5EF4-FFF2-40B4-BE49-F238E27FC236}">
                <a16:creationId xmlns:a16="http://schemas.microsoft.com/office/drawing/2014/main" id="{70359F16-681F-40D3-B572-2F21059C3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48325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75" b="0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75" b="0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75" b="0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75" b="0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75" b="0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75" b="0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75" b="0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75" b="0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75" b="0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狀態機與防彈跳圖：第 41–42 頁</a:t>
            </a:r>
          </a:p>
        </p:txBody>
      </p:sp>
    </p:spTree>
    <p:extLst>
      <p:ext uri="{BB962C8B-B14F-4D97-AF65-F5344CB8AC3E}">
        <p14:creationId xmlns:p14="http://schemas.microsoft.com/office/powerpoint/2010/main" val="7625149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需要帶走的檔案">
            <a:extLst xmlns:a="http://schemas.openxmlformats.org/drawingml/2006/main">
              <a:ext uri="{FF2B5EF4-FFF2-40B4-BE49-F238E27FC236}">
                <a16:creationId xmlns:a16="http://schemas.microsoft.com/office/drawing/2014/main" id="{39C93B11-2118-4B14-BAFE-14BB28C7B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需要帶走的檔案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F7772B-1CB3-4EEC-A642-E73464B90762}"/>
              </a:ext>
            </a:extLst>
          </p:cNvPr>
          <p:cNvGraphicFramePr/>
          <p:nvPr/>
        </p:nvGraphicFramePr>
        <p:xfrm>
          <a:off xmlns:a="http://schemas.openxmlformats.org/drawingml/2006/main" x="609600" y="1504950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10000"/>
                <a:gridCol w="7162800"/>
              </a:tblGrid>
              <a:tr h="6667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63C5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攜帶項目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7DD"/>
                      </a:solidFill>
                      <a:prstDash val="solid"/>
                    </a:lnL>
                    <a:lnR w="9525">
                      <a:solidFill>
                        <a:srgbClr val="CFD7DD"/>
                      </a:solidFill>
                      <a:prstDash val="solid"/>
                    </a:lnR>
                    <a:lnT w="9525">
                      <a:solidFill>
                        <a:srgbClr val="CFD7DD"/>
                      </a:solidFill>
                      <a:prstDash val="solid"/>
                    </a:lnT>
                    <a:lnB w="9525">
                      <a:solidFill>
                        <a:srgbClr val="CFD7DD"/>
                      </a:solidFill>
                      <a:prstDash val="solid"/>
                    </a:lnB>
                    <a:solidFill>
                      <a:srgbClr val="E9F0F5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63C5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內容與用途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7DD"/>
                      </a:solidFill>
                      <a:prstDash val="solid"/>
                    </a:lnR>
                    <a:lnT w="9525">
                      <a:solidFill>
                        <a:srgbClr val="CFD7DD"/>
                      </a:solidFill>
                      <a:prstDash val="solid"/>
                    </a:lnT>
                    <a:lnB w="9525">
                      <a:solidFill>
                        <a:srgbClr val="CFD7DD"/>
                      </a:solidFill>
                      <a:prstDash val="solid"/>
                    </a:lnB>
                    <a:solidFill>
                      <a:srgbClr val="E9F0F5"/>
                    </a:solidFill>
                  </a:tcPr>
                </a:tc>
              </a:tr>
              <a:tr h="6667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EGO_XZ7_HW2_Transfer.zip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7DD"/>
                      </a:solidFill>
                      <a:prstDash val="solid"/>
                    </a:lnL>
                    <a:lnR w="9525">
                      <a:solidFill>
                        <a:srgbClr val="CFD7DD"/>
                      </a:solidFill>
                      <a:prstDash val="solid"/>
                    </a:lnR>
                    <a:lnB w="9525">
                      <a:solidFill>
                        <a:srgbClr val="CF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另一台直接下載此包，再解壓到 C:\。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7DD"/>
                      </a:solidFill>
                      <a:prstDash val="solid"/>
                    </a:lnR>
                    <a:lnB w="9525">
                      <a:solidFill>
                        <a:srgbClr val="CF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export 資料夾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7DD"/>
                      </a:solidFill>
                      <a:prstDash val="solid"/>
                    </a:lnL>
                    <a:lnR w="9525">
                      <a:solidFill>
                        <a:srgbClr val="CFD7DD"/>
                      </a:solidFill>
                      <a:prstDash val="solid"/>
                    </a:lnR>
                    <a:lnB w="9525">
                      <a:solidFill>
                        <a:srgbClr val="CF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SDK 使用的 .bit 與 .hdf 硬體檔案。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7DD"/>
                      </a:solidFill>
                      <a:prstDash val="solid"/>
                    </a:lnR>
                    <a:lnB w="9525">
                      <a:solidFill>
                        <a:srgbClr val="CF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demo 資料夾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7DD"/>
                      </a:solidFill>
                      <a:prstDash val="solid"/>
                    </a:lnL>
                    <a:lnR w="9525">
                      <a:solidFill>
                        <a:srgbClr val="CFD7DD"/>
                      </a:solidFill>
                      <a:prstDash val="solid"/>
                    </a:lnR>
                    <a:lnB w="9525">
                      <a:solidFill>
                        <a:srgbClr val="CF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原已測成功的 BIT、初始化 Tcl 與 ELF。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7DD"/>
                      </a:solidFill>
                      <a:prstDash val="solid"/>
                    </a:lnR>
                    <a:lnB w="9525">
                      <a:solidFill>
                        <a:srgbClr val="CF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scripts 與原始碼資料夾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7DD"/>
                      </a:solidFill>
                      <a:prstDash val="solid"/>
                    </a:lnL>
                    <a:lnR w="9525">
                      <a:solidFill>
                        <a:srgbClr val="CFD7DD"/>
                      </a:solidFill>
                      <a:prstDash val="solid"/>
                    </a:lnR>
                    <a:lnB w="9525">
                      <a:solidFill>
                        <a:srgbClr val="CF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重建硬體、建立 SDK、下載與後續修改。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7DD"/>
                      </a:solidFill>
                      <a:prstDash val="solid"/>
                    </a:lnR>
                    <a:lnB w="9525">
                      <a:solidFill>
                        <a:srgbClr val="CF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guide、docs、evidence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7DD"/>
                      </a:solidFill>
                      <a:prstDash val="solid"/>
                    </a:lnL>
                    <a:lnR w="9525">
                      <a:solidFill>
                        <a:srgbClr val="CFD7DD"/>
                      </a:solidFill>
                      <a:prstDash val="solid"/>
                    </a:lnR>
                    <a:lnB w="9525">
                      <a:solidFill>
                        <a:srgbClr val="CF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本操作手冊、實驗報告與成功測試紀錄。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7DD"/>
                      </a:solidFill>
                      <a:prstDash val="solid"/>
                    </a:lnR>
                    <a:lnB w="9525">
                      <a:solidFill>
                        <a:srgbClr val="CF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完成時：整包帶走，保留內部檔名與資料夾。">
            <a:extLst xmlns:a="http://schemas.openxmlformats.org/drawingml/2006/main">
              <a:ext uri="{FF2B5EF4-FFF2-40B4-BE49-F238E27FC236}">
                <a16:creationId xmlns:a16="http://schemas.microsoft.com/office/drawing/2014/main" id="{1566BFB7-7538-4397-9619-D48EE0DF9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8775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rPr>
              <a:t>完成時：整包帶走，保留內部檔名與資料夾。</a:t>
            </a:r>
          </a:p>
        </p:txBody>
      </p:sp>
      <p:sp>
        <p:nvSpPr>
          <p:cNvPr id="5" name="03">
            <a:extLst xmlns:a="http://schemas.openxmlformats.org/drawingml/2006/main">
              <a:ext uri="{FF2B5EF4-FFF2-40B4-BE49-F238E27FC236}">
                <a16:creationId xmlns:a16="http://schemas.microsoft.com/office/drawing/2014/main" id="{D4267D21-339A-4B10-9FB4-BBCF1A109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436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178777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五種檔案各自負責什麼">
            <a:extLst xmlns:a="http://schemas.openxmlformats.org/drawingml/2006/main">
              <a:ext uri="{FF2B5EF4-FFF2-40B4-BE49-F238E27FC236}">
                <a16:creationId xmlns:a16="http://schemas.microsoft.com/office/drawing/2014/main" id="{BFE17E1D-5B70-43B4-B370-901C378B0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五種檔案各自負責什麼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A216EB-3754-401A-9803-905593464496}"/>
              </a:ext>
            </a:extLst>
          </p:cNvPr>
          <p:cNvGraphicFramePr/>
          <p:nvPr/>
        </p:nvGraphicFramePr>
        <p:xfrm>
          <a:off xmlns:a="http://schemas.openxmlformats.org/drawingml/2006/main" x="609600" y="1504950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334000"/>
                <a:gridCol w="5638800"/>
              </a:tblGrid>
              <a:tr h="6667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63C5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解壓後的檔案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7DD"/>
                      </a:solidFill>
                      <a:prstDash val="solid"/>
                    </a:lnL>
                    <a:lnR w="9525">
                      <a:solidFill>
                        <a:srgbClr val="CFD7DD"/>
                      </a:solidFill>
                      <a:prstDash val="solid"/>
                    </a:lnR>
                    <a:lnT w="9525">
                      <a:solidFill>
                        <a:srgbClr val="CFD7DD"/>
                      </a:solidFill>
                      <a:prstDash val="solid"/>
                    </a:lnT>
                    <a:lnB w="9525">
                      <a:solidFill>
                        <a:srgbClr val="CFD7DD"/>
                      </a:solidFill>
                      <a:prstDash val="solid"/>
                    </a:lnB>
                    <a:solidFill>
                      <a:srgbClr val="E9F0F5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63C5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作用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7DD"/>
                      </a:solidFill>
                      <a:prstDash val="solid"/>
                    </a:lnR>
                    <a:lnT w="9525">
                      <a:solidFill>
                        <a:srgbClr val="CFD7DD"/>
                      </a:solidFill>
                      <a:prstDash val="solid"/>
                    </a:lnT>
                    <a:lnB w="9525">
                      <a:solidFill>
                        <a:srgbClr val="CFD7DD"/>
                      </a:solidFill>
                      <a:prstDash val="solid"/>
                    </a:lnB>
                    <a:solidFill>
                      <a:srgbClr val="E9F0F5"/>
                    </a:solidFill>
                  </a:tcPr>
                </a:tc>
              </a:tr>
              <a:tr h="6667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export/design_1_wrapper.bit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7DD"/>
                      </a:solidFill>
                      <a:prstDash val="solid"/>
                    </a:lnL>
                    <a:lnR w="9525">
                      <a:solidFill>
                        <a:srgbClr val="CFD7DD"/>
                      </a:solidFill>
                      <a:prstDash val="solid"/>
                    </a:lnR>
                    <a:lnB w="9525">
                      <a:solidFill>
                        <a:srgbClr val="CF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設定 PL，也就是 FPGA 裡的電路。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7DD"/>
                      </a:solidFill>
                      <a:prstDash val="solid"/>
                    </a:lnR>
                    <a:lnB w="9525">
                      <a:solidFill>
                        <a:srgbClr val="CF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export/design_1_wrapper.hdf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7DD"/>
                      </a:solidFill>
                      <a:prstDash val="solid"/>
                    </a:lnL>
                    <a:lnR w="9525">
                      <a:solidFill>
                        <a:srgbClr val="CFD7DD"/>
                      </a:solidFill>
                      <a:prstDash val="solid"/>
                    </a:lnR>
                    <a:lnB w="9525">
                      <a:solidFill>
                        <a:srgbClr val="CF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讓 SDK 知道處理器、位址與硬體設定。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7DD"/>
                      </a:solidFill>
                      <a:prstDash val="solid"/>
                    </a:lnR>
                    <a:lnB w="9525">
                      <a:solidFill>
                        <a:srgbClr val="CF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demo/ps7_init.tcl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7DD"/>
                      </a:solidFill>
                      <a:prstDash val="solid"/>
                    </a:lnL>
                    <a:lnR w="9525">
                      <a:solidFill>
                        <a:srgbClr val="CFD7DD"/>
                      </a:solidFill>
                      <a:prstDash val="solid"/>
                    </a:lnR>
                    <a:lnB w="9525">
                      <a:solidFill>
                        <a:srgbClr val="CF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固定展示組的 PS、UART 與 DDR 初始化。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7DD"/>
                      </a:solidFill>
                      <a:prstDash val="solid"/>
                    </a:lnR>
                    <a:lnB w="9525">
                      <a:solidFill>
                        <a:srgbClr val="CF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demo/hw2_demo.elf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7DD"/>
                      </a:solidFill>
                      <a:prstDash val="solid"/>
                    </a:lnL>
                    <a:lnR w="9525">
                      <a:solidFill>
                        <a:srgbClr val="CFD7DD"/>
                      </a:solidFill>
                      <a:prstDash val="solid"/>
                    </a:lnR>
                    <a:lnB w="9525">
                      <a:solidFill>
                        <a:srgbClr val="CF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ARM 執行的 C 程式編譯成品。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7DD"/>
                      </a:solidFill>
                      <a:prstDash val="solid"/>
                    </a:lnR>
                    <a:lnB w="9525">
                      <a:solidFill>
                        <a:srgbClr val="CF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firmware/hw2_demo/main.c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7DD"/>
                      </a:solidFill>
                      <a:prstDash val="solid"/>
                    </a:lnL>
                    <a:lnR w="9525">
                      <a:solidFill>
                        <a:srgbClr val="CFD7DD"/>
                      </a:solidFill>
                      <a:prstDash val="solid"/>
                    </a:lnR>
                    <a:lnB w="9525">
                      <a:solidFill>
                        <a:srgbClr val="CF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修改 LED 與按鈕行為時使用的原始碼。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7DD"/>
                      </a:solidFill>
                      <a:prstDash val="solid"/>
                    </a:lnR>
                    <a:lnB w="9525">
                      <a:solidFill>
                        <a:srgbClr val="CF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完成時：下載 BIT 後，還要初始化 PS 並執行 ELF。">
            <a:extLst xmlns:a="http://schemas.openxmlformats.org/drawingml/2006/main">
              <a:ext uri="{FF2B5EF4-FFF2-40B4-BE49-F238E27FC236}">
                <a16:creationId xmlns:a16="http://schemas.microsoft.com/office/drawing/2014/main" id="{E216C2FE-9EF6-4EC6-BCF9-F7907D3F7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8775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rPr>
              <a:t>完成時：下載 BIT 後，還要初始化 PS 並執行 ELF。</a:t>
            </a:r>
          </a:p>
        </p:txBody>
      </p:sp>
      <p:sp>
        <p:nvSpPr>
          <p:cNvPr id="5" name="04">
            <a:extLst xmlns:a="http://schemas.openxmlformats.org/drawingml/2006/main">
              <a:ext uri="{FF2B5EF4-FFF2-40B4-BE49-F238E27FC236}">
                <a16:creationId xmlns:a16="http://schemas.microsoft.com/office/drawing/2014/main" id="{59C8E2AD-2712-4FEC-A0EB-6C6CDFED6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436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1420959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另一台電腦的軟體準備">
            <a:extLst xmlns:a="http://schemas.openxmlformats.org/drawingml/2006/main">
              <a:ext uri="{FF2B5EF4-FFF2-40B4-BE49-F238E27FC236}">
                <a16:creationId xmlns:a16="http://schemas.microsoft.com/office/drawing/2014/main" id="{2420EC8F-CF05-456F-A160-CCEA0F830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另一台電腦的軟體準備</a:t>
            </a:r>
          </a:p>
        </p:txBody>
      </p:sp>
      <p:sp>
        <p:nvSpPr>
          <p:cNvPr id="3" name="1. 開始功能表檢查版本">
            <a:extLst xmlns:a="http://schemas.openxmlformats.org/drawingml/2006/main">
              <a:ext uri="{FF2B5EF4-FFF2-40B4-BE49-F238E27FC236}">
                <a16:creationId xmlns:a16="http://schemas.microsoft.com/office/drawing/2014/main" id="{CEE6BEC8-8CD0-4E98-B60A-39B468755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1. 開始功能表檢查版本</a:t>
            </a:r>
          </a:p>
        </p:txBody>
      </p:sp>
      <p:sp>
        <p:nvSpPr>
          <p:cNvPr id="4" name="應找得到 Vivado 2018.3 與 Xilinx SDK 2018.3">
            <a:extLst xmlns:a="http://schemas.openxmlformats.org/drawingml/2006/main">
              <a:ext uri="{FF2B5EF4-FFF2-40B4-BE49-F238E27FC236}">
                <a16:creationId xmlns:a16="http://schemas.microsoft.com/office/drawing/2014/main" id="{6CA92242-25D4-4647-A439-F5051B35C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應找得到 Vivado 2018.3 與 Xilinx SDK 2018.3。這份手冊使用 SDK 介面。</a:t>
            </a:r>
          </a:p>
        </p:txBody>
      </p:sp>
      <p:sp>
        <p:nvSpPr>
          <p:cNvPr id="5" name="2. 安裝缺少的元件">
            <a:extLst xmlns:a="http://schemas.openxmlformats.org/drawingml/2006/main">
              <a:ext uri="{FF2B5EF4-FFF2-40B4-BE49-F238E27FC236}">
                <a16:creationId xmlns:a16="http://schemas.microsoft.com/office/drawing/2014/main" id="{BBDC2F58-0F95-4F74-BDD8-E6B0E0F5B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289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2. 安裝缺少的元件</a:t>
            </a:r>
          </a:p>
        </p:txBody>
      </p:sp>
      <p:sp>
        <p:nvSpPr>
          <p:cNvPr id="6" name="Xilinx 2018.3 安裝程式中包含 Vivado、SDK、Zynq-">
            <a:extLst xmlns:a="http://schemas.openxmlformats.org/drawingml/2006/main">
              <a:ext uri="{FF2B5EF4-FFF2-40B4-BE49-F238E27FC236}">
                <a16:creationId xmlns:a16="http://schemas.microsoft.com/office/drawing/2014/main" id="{F518B741-B66D-42D2-95EA-DBF9D3A55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Xilinx 2018.3 安裝程式中包含 Vivado、SDK、Zynq-7000 器件支援與 Cable Drivers。</a:t>
            </a:r>
          </a:p>
        </p:txBody>
      </p:sp>
      <p:sp>
        <p:nvSpPr>
          <p:cNvPr id="7" name="3. 軟體安裝位置可以不同">
            <a:extLst xmlns:a="http://schemas.openxmlformats.org/drawingml/2006/main">
              <a:ext uri="{FF2B5EF4-FFF2-40B4-BE49-F238E27FC236}">
                <a16:creationId xmlns:a16="http://schemas.microsoft.com/office/drawing/2014/main" id="{B800538B-2617-4C75-B981-95C3546FB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3. 軟體安裝位置可以不同</a:t>
            </a:r>
          </a:p>
        </p:txBody>
      </p:sp>
      <p:sp>
        <p:nvSpPr>
          <p:cNvPr id="8" name="工程固定 C:\soc_hw2。軟體可以裝在 C:\Xilinx 或其他磁碟">
            <a:extLst xmlns:a="http://schemas.openxmlformats.org/drawingml/2006/main">
              <a:ext uri="{FF2B5EF4-FFF2-40B4-BE49-F238E27FC236}">
                <a16:creationId xmlns:a16="http://schemas.microsoft.com/office/drawing/2014/main" id="{F8A314A8-B113-4D1F-B080-2B938C3AC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109728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工程固定 C:\soc_hw2。軟體可以裝在 C:\Xilinx 或其他磁碟，後續選單操作相同。</a:t>
            </a:r>
          </a:p>
        </p:txBody>
      </p:sp>
      <p:sp>
        <p:nvSpPr>
          <p:cNvPr id="9" name="2018.3 官方下載頁（點此開啟）">
            <a:extLst xmlns:a="http://schemas.openxmlformats.org/drawingml/2006/main">
              <a:ext uri="{FF2B5EF4-FFF2-40B4-BE49-F238E27FC236}">
                <a16:creationId xmlns:a16="http://schemas.microsoft.com/office/drawing/2014/main" id="{DCDFA53E-EAD8-4CF6-BB0F-585EBC660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35F8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00" b="0">
                <a:solidFill>
                  <a:srgbClr val="235F8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00" b="0">
                <a:solidFill>
                  <a:srgbClr val="235F8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00" b="0">
                <a:solidFill>
                  <a:srgbClr val="235F8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00" b="0">
                <a:solidFill>
                  <a:srgbClr val="235F8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00" b="0">
                <a:solidFill>
                  <a:srgbClr val="235F8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00" b="0">
                <a:solidFill>
                  <a:srgbClr val="235F8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00" b="0">
                <a:solidFill>
                  <a:srgbClr val="235F8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00" b="0">
                <a:solidFill>
                  <a:srgbClr val="235F8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00" b="0">
                <a:solidFill>
                  <a:srgbClr val="235F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35F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>
                <a:hlinkClick xmlns:r="http://schemas.openxmlformats.org/officeDocument/2006/relationships" r:id="R7c9550a777894ae7"/>
              </a:rPr>
              <a:t>2018.3 官方下載頁（點此開啟）</a:t>
            </a:r>
          </a:p>
        </p:txBody>
      </p:sp>
      <p:sp>
        <p:nvSpPr>
          <p:cNvPr id="10" name="完成時：兩套軟體都能啟動。壓縮包不包含軟體安裝程式。">
            <a:extLst xmlns:a="http://schemas.openxmlformats.org/drawingml/2006/main">
              <a:ext uri="{FF2B5EF4-FFF2-40B4-BE49-F238E27FC236}">
                <a16:creationId xmlns:a16="http://schemas.microsoft.com/office/drawing/2014/main" id="{901E634C-7938-4B07-ADC1-B8E9505B2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8775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rPr>
              <a:t>完成時：兩套軟體都能啟動。壓縮包不包含軟體安裝程式。</a:t>
            </a:r>
          </a:p>
        </p:txBody>
      </p:sp>
      <p:sp>
        <p:nvSpPr>
          <p:cNvPr id="11" name="05">
            <a:extLst xmlns:a="http://schemas.openxmlformats.org/drawingml/2006/main">
              <a:ext uri="{FF2B5EF4-FFF2-40B4-BE49-F238E27FC236}">
                <a16:creationId xmlns:a16="http://schemas.microsoft.com/office/drawing/2014/main" id="{F0987D02-9EDC-4F2D-B2BD-8B723AB9A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436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203603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解壓縮後的正確位置">
            <a:extLst xmlns:a="http://schemas.openxmlformats.org/drawingml/2006/main">
              <a:ext uri="{FF2B5EF4-FFF2-40B4-BE49-F238E27FC236}">
                <a16:creationId xmlns:a16="http://schemas.microsoft.com/office/drawing/2014/main" id="{1CB250BB-04FD-409A-8989-9C5FDA641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解壓縮後的正確位置</a:t>
            </a:r>
          </a:p>
        </p:txBody>
      </p:sp>
      <p:sp>
        <p:nvSpPr>
          <p:cNvPr id="3" name="1. 在下載的 ZIP 上按右鍵">
            <a:extLst xmlns:a="http://schemas.openxmlformats.org/drawingml/2006/main">
              <a:ext uri="{FF2B5EF4-FFF2-40B4-BE49-F238E27FC236}">
                <a16:creationId xmlns:a16="http://schemas.microsoft.com/office/drawing/2014/main" id="{8C227BDC-D0F7-477C-922D-A99E0D6E4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1. 在下載的 ZIP 上按右鍵</a:t>
            </a:r>
          </a:p>
        </p:txBody>
      </p:sp>
      <p:sp>
        <p:nvSpPr>
          <p:cNvPr id="4" name="選「全部解壓縮」。目的地輸入 C:\，再按「解壓縮」。">
            <a:extLst xmlns:a="http://schemas.openxmlformats.org/drawingml/2006/main">
              <a:ext uri="{FF2B5EF4-FFF2-40B4-BE49-F238E27FC236}">
                <a16:creationId xmlns:a16="http://schemas.microsoft.com/office/drawing/2014/main" id="{F07E1F4B-E0C3-4FF7-8C84-21006FF30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選「全部解壓縮」。目的地輸入 C:\，再按「解壓縮」。</a:t>
            </a:r>
          </a:p>
        </p:txBody>
      </p:sp>
      <p:sp>
        <p:nvSpPr>
          <p:cNvPr id="5" name="2. 開啟 C:\soc_hw2">
            <a:extLst xmlns:a="http://schemas.openxmlformats.org/drawingml/2006/main">
              <a:ext uri="{FF2B5EF4-FFF2-40B4-BE49-F238E27FC236}">
                <a16:creationId xmlns:a16="http://schemas.microsoft.com/office/drawing/2014/main" id="{D09A81DF-185C-4D4E-A102-7E94817BA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2. 開啟 C:\soc_hw2</a:t>
            </a:r>
          </a:p>
        </p:txBody>
      </p:sp>
      <p:sp>
        <p:nvSpPr>
          <p:cNvPr id="6" name="應直接看見 export、demo、firmware、scripts 等資料">
            <a:extLst xmlns:a="http://schemas.openxmlformats.org/drawingml/2006/main">
              <a:ext uri="{FF2B5EF4-FFF2-40B4-BE49-F238E27FC236}">
                <a16:creationId xmlns:a16="http://schemas.microsoft.com/office/drawing/2014/main" id="{1CDC4A0F-5FF6-4CF5-871B-59797124D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7657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應直接看見 export、demo、firmware、scripts 等資料夾。</a:t>
            </a:r>
          </a:p>
        </p:txBody>
      </p:sp>
      <p:sp>
        <p:nvSpPr>
          <p:cNvPr id="7" name="3. 確認最重要的一個檔案">
            <a:extLst xmlns:a="http://schemas.openxmlformats.org/drawingml/2006/main">
              <a:ext uri="{FF2B5EF4-FFF2-40B4-BE49-F238E27FC236}">
                <a16:creationId xmlns:a16="http://schemas.microsoft.com/office/drawing/2014/main" id="{E035C39D-2B7F-4160-BCC1-7C98E20AB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3. 確認最重要的一個檔案</a:t>
            </a:r>
          </a:p>
        </p:txBody>
      </p:sp>
      <p:sp>
        <p:nvSpPr>
          <p:cNvPr id="8" name="開啟 export，確認看得到 design_1_wrapper.hdf。若">
            <a:extLst xmlns:a="http://schemas.openxmlformats.org/drawingml/2006/main">
              <a:ext uri="{FF2B5EF4-FFF2-40B4-BE49-F238E27FC236}">
                <a16:creationId xmlns:a16="http://schemas.microsoft.com/office/drawing/2014/main" id="{3713B8CE-34E7-4977-8DAD-117752A01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開啟 export，確認看得到 design_1_wrapper.hdf。若多包一層資料夾，先移正再繼續。</a:t>
            </a:r>
          </a:p>
        </p:txBody>
      </p:sp>
      <p:sp>
        <p:nvSpPr>
          <p:cNvPr id="9" name="C:\soc_hw2\export\design_1_wrapper.hdf">
            <a:extLst xmlns:a="http://schemas.openxmlformats.org/drawingml/2006/main">
              <a:ext uri="{FF2B5EF4-FFF2-40B4-BE49-F238E27FC236}">
                <a16:creationId xmlns:a16="http://schemas.microsoft.com/office/drawing/2014/main" id="{6D3EB3AC-73D0-4A9C-BA25-23DFFD1D4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53C55"/>
                </a:solidFill>
                <a:latin typeface="Consolas"/>
                <a:ea typeface="Consolas"/>
                <a:cs typeface="Consolas"/>
              </a:defRPr>
            </a:defPPr>
            <a:lvl1pPr>
              <a:defRPr sz="2100" b="0">
                <a:solidFill>
                  <a:srgbClr val="153C55"/>
                </a:solidFill>
                <a:latin typeface="Consolas"/>
                <a:ea typeface="Consolas"/>
                <a:cs typeface="Consolas"/>
              </a:defRPr>
            </a:lvl1pPr>
            <a:lvl2pPr>
              <a:defRPr sz="2100" b="0">
                <a:solidFill>
                  <a:srgbClr val="153C55"/>
                </a:solidFill>
                <a:latin typeface="Consolas"/>
                <a:ea typeface="Consolas"/>
                <a:cs typeface="Consolas"/>
              </a:defRPr>
            </a:lvl2pPr>
            <a:lvl3pPr>
              <a:defRPr sz="2100" b="0">
                <a:solidFill>
                  <a:srgbClr val="153C55"/>
                </a:solidFill>
                <a:latin typeface="Consolas"/>
                <a:ea typeface="Consolas"/>
                <a:cs typeface="Consolas"/>
              </a:defRPr>
            </a:lvl3pPr>
            <a:lvl4pPr>
              <a:defRPr sz="2100" b="0">
                <a:solidFill>
                  <a:srgbClr val="153C55"/>
                </a:solidFill>
                <a:latin typeface="Consolas"/>
                <a:ea typeface="Consolas"/>
                <a:cs typeface="Consolas"/>
              </a:defRPr>
            </a:lvl4pPr>
            <a:lvl5pPr>
              <a:defRPr sz="2100" b="0">
                <a:solidFill>
                  <a:srgbClr val="153C55"/>
                </a:solidFill>
                <a:latin typeface="Consolas"/>
                <a:ea typeface="Consolas"/>
                <a:cs typeface="Consolas"/>
              </a:defRPr>
            </a:lvl5pPr>
            <a:lvl6pPr>
              <a:defRPr sz="2100" b="0">
                <a:solidFill>
                  <a:srgbClr val="153C55"/>
                </a:solidFill>
                <a:latin typeface="Consolas"/>
                <a:ea typeface="Consolas"/>
                <a:cs typeface="Consolas"/>
              </a:defRPr>
            </a:lvl6pPr>
            <a:lvl7pPr>
              <a:defRPr sz="2100" b="0">
                <a:solidFill>
                  <a:srgbClr val="153C55"/>
                </a:solidFill>
                <a:latin typeface="Consolas"/>
                <a:ea typeface="Consolas"/>
                <a:cs typeface="Consolas"/>
              </a:defRPr>
            </a:lvl7pPr>
            <a:lvl8pPr>
              <a:defRPr sz="2100" b="0">
                <a:solidFill>
                  <a:srgbClr val="153C55"/>
                </a:solidFill>
                <a:latin typeface="Consolas"/>
                <a:ea typeface="Consolas"/>
                <a:cs typeface="Consolas"/>
              </a:defRPr>
            </a:lvl8pPr>
            <a:lvl9pPr>
              <a:defRPr sz="2100" b="0">
                <a:solidFill>
                  <a:srgbClr val="153C55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3C55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153C55"/>
                </a:solidFill>
                <a:latin typeface="Consolas"/>
                <a:ea typeface="Consolas"/>
                <a:cs typeface="Consolas"/>
              </a:rPr>
              <a:t>C:\soc_hw2\export\design_1_wrapper.hdf</a:t>
            </a:r>
          </a:p>
        </p:txBody>
      </p:sp>
      <p:sp>
        <p:nvSpPr>
          <p:cNvPr id="10" name="完成時：路徑只有一層 soc_hw2。">
            <a:extLst xmlns:a="http://schemas.openxmlformats.org/drawingml/2006/main">
              <a:ext uri="{FF2B5EF4-FFF2-40B4-BE49-F238E27FC236}">
                <a16:creationId xmlns:a16="http://schemas.microsoft.com/office/drawing/2014/main" id="{03FCD160-14A7-4ED9-8264-421E0063F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8775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rPr>
              <a:t>完成時：路徑只有一層 soc_hw2。</a:t>
            </a:r>
          </a:p>
        </p:txBody>
      </p:sp>
      <p:sp>
        <p:nvSpPr>
          <p:cNvPr id="11" name="06">
            <a:extLst xmlns:a="http://schemas.openxmlformats.org/drawingml/2006/main">
              <a:ext uri="{FF2B5EF4-FFF2-40B4-BE49-F238E27FC236}">
                <a16:creationId xmlns:a16="http://schemas.microsoft.com/office/drawing/2014/main" id="{EDC79E9B-E3E8-4A62-9FFD-E7B27DB82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436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815879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USB 驅動安裝位置">
            <a:extLst xmlns:a="http://schemas.openxmlformats.org/drawingml/2006/main">
              <a:ext uri="{FF2B5EF4-FFF2-40B4-BE49-F238E27FC236}">
                <a16:creationId xmlns:a16="http://schemas.microsoft.com/office/drawing/2014/main" id="{3B5F17F4-17E6-41CA-8D27-E61C79999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USB 驅動安裝位置</a:t>
            </a:r>
          </a:p>
        </p:txBody>
      </p:sp>
      <p:sp>
        <p:nvSpPr>
          <p:cNvPr id="3" name="1. 找到這台的 Vivado 安裝資料夾">
            <a:extLst xmlns:a="http://schemas.openxmlformats.org/drawingml/2006/main">
              <a:ext uri="{FF2B5EF4-FFF2-40B4-BE49-F238E27FC236}">
                <a16:creationId xmlns:a16="http://schemas.microsoft.com/office/drawing/2014/main" id="{72621676-6C2F-4225-A23B-44EA05EC4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1. 找到這台的 Vivado 安裝資料夾</a:t>
            </a:r>
          </a:p>
        </p:txBody>
      </p:sp>
      <p:sp>
        <p:nvSpPr>
          <p:cNvPr id="4" name="以常見的 C:\Xilinx\Vivado\2018.3 為例。本機原安裝位">
            <a:extLst xmlns:a="http://schemas.openxmlformats.org/drawingml/2006/main">
              <a:ext uri="{FF2B5EF4-FFF2-40B4-BE49-F238E27FC236}">
                <a16:creationId xmlns:a16="http://schemas.microsoft.com/office/drawing/2014/main" id="{C65242E2-4FCF-42A9-AABC-37428B89B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以常見的 C:\Xilinx\Vivado\2018.3 為例。本機原安裝位置是 D:\VIVADO\Vivado\2018.3。</a:t>
            </a:r>
          </a:p>
        </p:txBody>
      </p:sp>
      <p:sp>
        <p:nvSpPr>
          <p:cNvPr id="5" name="2. 開啟下方相對路徑">
            <a:extLst xmlns:a="http://schemas.openxmlformats.org/drawingml/2006/main">
              <a:ext uri="{FF2B5EF4-FFF2-40B4-BE49-F238E27FC236}">
                <a16:creationId xmlns:a16="http://schemas.microsoft.com/office/drawing/2014/main" id="{DFCC8EA2-BAC0-42F4-ADD3-35F7B456F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2. 開啟下方相對路徑</a:t>
            </a:r>
          </a:p>
        </p:txBody>
      </p:sp>
      <p:sp>
        <p:nvSpPr>
          <p:cNvPr id="6" name="對 install_drivers_wrapper.bat 按右鍵，選「以系">
            <a:extLst xmlns:a="http://schemas.openxmlformats.org/drawingml/2006/main">
              <a:ext uri="{FF2B5EF4-FFF2-40B4-BE49-F238E27FC236}">
                <a16:creationId xmlns:a16="http://schemas.microsoft.com/office/drawing/2014/main" id="{70909404-6B76-41C6-A88A-042187BC0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7657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對 install_drivers_wrapper.bat 按右鍵，選「以系統管理員身分執行」。完成後重新插拔 USB。</a:t>
            </a:r>
          </a:p>
        </p:txBody>
      </p:sp>
      <p:sp>
        <p:nvSpPr>
          <p:cNvPr id="7" name="data\xicom\cable_drivers\nt64\&#10;install">
            <a:extLst xmlns:a="http://schemas.openxmlformats.org/drawingml/2006/main">
              <a:ext uri="{FF2B5EF4-FFF2-40B4-BE49-F238E27FC236}">
                <a16:creationId xmlns:a16="http://schemas.microsoft.com/office/drawing/2014/main" id="{5A0484A1-D886-4342-A7DA-80C0D7BE4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53C55"/>
                </a:solidFill>
                <a:latin typeface="Consolas"/>
                <a:ea typeface="Consolas"/>
                <a:cs typeface="Consolas"/>
              </a:defRPr>
            </a:defPPr>
            <a:lvl1pPr>
              <a:defRPr sz="2025" b="0">
                <a:solidFill>
                  <a:srgbClr val="153C55"/>
                </a:solidFill>
                <a:latin typeface="Consolas"/>
                <a:ea typeface="Consolas"/>
                <a:cs typeface="Consolas"/>
              </a:defRPr>
            </a:lvl1pPr>
            <a:lvl2pPr>
              <a:defRPr sz="2025" b="0">
                <a:solidFill>
                  <a:srgbClr val="153C55"/>
                </a:solidFill>
                <a:latin typeface="Consolas"/>
                <a:ea typeface="Consolas"/>
                <a:cs typeface="Consolas"/>
              </a:defRPr>
            </a:lvl2pPr>
            <a:lvl3pPr>
              <a:defRPr sz="2025" b="0">
                <a:solidFill>
                  <a:srgbClr val="153C55"/>
                </a:solidFill>
                <a:latin typeface="Consolas"/>
                <a:ea typeface="Consolas"/>
                <a:cs typeface="Consolas"/>
              </a:defRPr>
            </a:lvl3pPr>
            <a:lvl4pPr>
              <a:defRPr sz="2025" b="0">
                <a:solidFill>
                  <a:srgbClr val="153C55"/>
                </a:solidFill>
                <a:latin typeface="Consolas"/>
                <a:ea typeface="Consolas"/>
                <a:cs typeface="Consolas"/>
              </a:defRPr>
            </a:lvl4pPr>
            <a:lvl5pPr>
              <a:defRPr sz="2025" b="0">
                <a:solidFill>
                  <a:srgbClr val="153C55"/>
                </a:solidFill>
                <a:latin typeface="Consolas"/>
                <a:ea typeface="Consolas"/>
                <a:cs typeface="Consolas"/>
              </a:defRPr>
            </a:lvl5pPr>
            <a:lvl6pPr>
              <a:defRPr sz="2025" b="0">
                <a:solidFill>
                  <a:srgbClr val="153C55"/>
                </a:solidFill>
                <a:latin typeface="Consolas"/>
                <a:ea typeface="Consolas"/>
                <a:cs typeface="Consolas"/>
              </a:defRPr>
            </a:lvl6pPr>
            <a:lvl7pPr>
              <a:defRPr sz="2025" b="0">
                <a:solidFill>
                  <a:srgbClr val="153C55"/>
                </a:solidFill>
                <a:latin typeface="Consolas"/>
                <a:ea typeface="Consolas"/>
                <a:cs typeface="Consolas"/>
              </a:defRPr>
            </a:lvl7pPr>
            <a:lvl8pPr>
              <a:defRPr sz="2025" b="0">
                <a:solidFill>
                  <a:srgbClr val="153C55"/>
                </a:solidFill>
                <a:latin typeface="Consolas"/>
                <a:ea typeface="Consolas"/>
                <a:cs typeface="Consolas"/>
              </a:defRPr>
            </a:lvl8pPr>
            <a:lvl9pPr>
              <a:defRPr sz="2025" b="0">
                <a:solidFill>
                  <a:srgbClr val="153C55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53C5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53C55"/>
                </a:solidFill>
                <a:latin typeface="Consolas"/>
                <a:ea typeface="Consolas"/>
                <a:cs typeface="Consolas"/>
              </a:rPr>
              <a:t>data\xicom\cable_drivers\nt64\</a:t>
            </a:r>
          </a:p>
          <a:p xmlns:a="http://schemas.openxmlformats.org/drawingml/2006/main">
            <a:pPr>
              <a:defRPr sz="2025" b="0">
                <a:solidFill>
                  <a:srgbClr val="153C5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53C55"/>
                </a:solidFill>
                <a:latin typeface="Consolas"/>
                <a:ea typeface="Consolas"/>
                <a:cs typeface="Consolas"/>
              </a:rPr>
              <a:t>install_drivers_wrapper.bat</a:t>
            </a:r>
          </a:p>
        </p:txBody>
      </p:sp>
      <p:sp>
        <p:nvSpPr>
          <p:cNvPr id="8" name="若 UART 仍列為未知裝置，另安裝對應 FTDI／板卡 UART 驅動。">
            <a:extLst xmlns:a="http://schemas.openxmlformats.org/drawingml/2006/main">
              <a:ext uri="{FF2B5EF4-FFF2-40B4-BE49-F238E27FC236}">
                <a16:creationId xmlns:a16="http://schemas.microsoft.com/office/drawing/2014/main" id="{FDB3B902-8073-4206-B485-3755A35BE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若 UART 仍列為未知裝置，另安裝對應 FTDI／板卡 UART 驅動。</a:t>
            </a:r>
          </a:p>
        </p:txBody>
      </p:sp>
      <p:sp>
        <p:nvSpPr>
          <p:cNvPr id="9" name="完成時：裝置管理員可辨識板子的 USB 裝置。">
            <a:extLst xmlns:a="http://schemas.openxmlformats.org/drawingml/2006/main">
              <a:ext uri="{FF2B5EF4-FFF2-40B4-BE49-F238E27FC236}">
                <a16:creationId xmlns:a16="http://schemas.microsoft.com/office/drawing/2014/main" id="{76D2C51A-34F9-4429-8B4B-29AB9F8AF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8775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rPr>
              <a:t>完成時：裝置管理員可辨識板子的 USB 裝置。</a:t>
            </a:r>
          </a:p>
        </p:txBody>
      </p:sp>
      <p:sp>
        <p:nvSpPr>
          <p:cNvPr id="10" name="07">
            <a:extLst xmlns:a="http://schemas.openxmlformats.org/drawingml/2006/main">
              <a:ext uri="{FF2B5EF4-FFF2-40B4-BE49-F238E27FC236}">
                <a16:creationId xmlns:a16="http://schemas.microsoft.com/office/drawing/2014/main" id="{18B43CDD-5A69-4576-95CD-72C43573A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436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899290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板子供電與 COM 編號">
            <a:extLst xmlns:a="http://schemas.openxmlformats.org/drawingml/2006/main">
              <a:ext uri="{FF2B5EF4-FFF2-40B4-BE49-F238E27FC236}">
                <a16:creationId xmlns:a16="http://schemas.microsoft.com/office/drawing/2014/main" id="{28F1F50E-893F-4726-8CA4-15D56F099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板子供電與 COM 編號</a:t>
            </a:r>
          </a:p>
        </p:txBody>
      </p:sp>
      <p:sp>
        <p:nvSpPr>
          <p:cNvPr id="3" name="1. 接上 EGO-XZ7">
            <a:extLst xmlns:a="http://schemas.openxmlformats.org/drawingml/2006/main">
              <a:ext uri="{FF2B5EF4-FFF2-40B4-BE49-F238E27FC236}">
                <a16:creationId xmlns:a16="http://schemas.microsoft.com/office/drawing/2014/main" id="{FE0FF970-1602-4153-A4D7-440DC256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1. 接上 EGO-XZ7</a:t>
            </a:r>
          </a:p>
        </p:txBody>
      </p:sp>
      <p:sp>
        <p:nvSpPr>
          <p:cNvPr id="4" name="接板子的 JTAG／UART USB 連線與原本使用的電源，開啟電源。使用可">
            <a:extLst xmlns:a="http://schemas.openxmlformats.org/drawingml/2006/main">
              <a:ext uri="{FF2B5EF4-FFF2-40B4-BE49-F238E27FC236}">
                <a16:creationId xmlns:a16="http://schemas.microsoft.com/office/drawing/2014/main" id="{4D10A6CA-1E7B-4640-AC2B-0845B3626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接板子的 JTAG／UART USB 連線與原本使用的電源，開啟電源。使用可傳資料的 USB 線。</a:t>
            </a:r>
          </a:p>
        </p:txBody>
      </p:sp>
      <p:sp>
        <p:nvSpPr>
          <p:cNvPr id="5" name="2. 開啟 Windows 裝置管理員">
            <a:extLst xmlns:a="http://schemas.openxmlformats.org/drawingml/2006/main">
              <a:ext uri="{FF2B5EF4-FFF2-40B4-BE49-F238E27FC236}">
                <a16:creationId xmlns:a16="http://schemas.microsoft.com/office/drawing/2014/main" id="{CCECC065-BE6F-4942-B0D4-4670257E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289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2. 開啟 Windows 裝置管理員</a:t>
            </a:r>
          </a:p>
        </p:txBody>
      </p:sp>
      <p:sp>
        <p:nvSpPr>
          <p:cNvPr id="6" name="對開始按鈕按右鍵，選「裝置管理員」，展開「連接埠 (COM 和 LPT)」。">
            <a:extLst xmlns:a="http://schemas.openxmlformats.org/drawingml/2006/main">
              <a:ext uri="{FF2B5EF4-FFF2-40B4-BE49-F238E27FC236}">
                <a16:creationId xmlns:a16="http://schemas.microsoft.com/office/drawing/2014/main" id="{9792564F-1E8C-4CB6-9C75-8F0DEDA02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對開始按鈕按右鍵，選「裝置管理員」，展開「連接埠 (COM 和 LPT)」。</a:t>
            </a:r>
          </a:p>
        </p:txBody>
      </p:sp>
      <p:sp>
        <p:nvSpPr>
          <p:cNvPr id="7" name="3. 記下這次的 COM 編號">
            <a:extLst xmlns:a="http://schemas.openxmlformats.org/drawingml/2006/main">
              <a:ext uri="{FF2B5EF4-FFF2-40B4-BE49-F238E27FC236}">
                <a16:creationId xmlns:a16="http://schemas.microsoft.com/office/drawing/2014/main" id="{064B9C8F-BEAB-4C8A-A5B8-D97FA6A54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3. 記下這次的 COM 編號</a:t>
            </a:r>
          </a:p>
        </p:txBody>
      </p:sp>
      <p:sp>
        <p:nvSpPr>
          <p:cNvPr id="8" name="觀察拔除、插回 USB 後新增的序列埠，例如 USB Serial Port">
            <a:extLst xmlns:a="http://schemas.openxmlformats.org/drawingml/2006/main">
              <a:ext uri="{FF2B5EF4-FFF2-40B4-BE49-F238E27FC236}">
                <a16:creationId xmlns:a16="http://schemas.microsoft.com/office/drawing/2014/main" id="{DE548855-751D-4025-B898-07C219310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109728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觀察拔除、插回 USB 後新增的序列埠，例如 USB Serial Port (COM5)。後面以這個編號連線。</a:t>
            </a:r>
          </a:p>
        </p:txBody>
      </p:sp>
      <p:sp>
        <p:nvSpPr>
          <p:cNvPr id="9" name="完成時：記下新電腦的 COM 號。本機原先是 COM3。">
            <a:extLst xmlns:a="http://schemas.openxmlformats.org/drawingml/2006/main">
              <a:ext uri="{FF2B5EF4-FFF2-40B4-BE49-F238E27FC236}">
                <a16:creationId xmlns:a16="http://schemas.microsoft.com/office/drawing/2014/main" id="{1BBE5E28-2049-4E3F-A932-F85B9A33E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8775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rPr>
              <a:t>完成時：記下新電腦的 COM 號。本機原先是 COM3。</a:t>
            </a:r>
          </a:p>
        </p:txBody>
      </p:sp>
      <p:sp>
        <p:nvSpPr>
          <p:cNvPr id="10" name="08">
            <a:extLst xmlns:a="http://schemas.openxmlformats.org/drawingml/2006/main">
              <a:ext uri="{FF2B5EF4-FFF2-40B4-BE49-F238E27FC236}">
                <a16:creationId xmlns:a16="http://schemas.microsoft.com/office/drawing/2014/main" id="{012C9FCF-4B41-41DE-9B02-32CA1C663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436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564783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ivado 的 JTAG 連線檢查">
            <a:extLst xmlns:a="http://schemas.openxmlformats.org/drawingml/2006/main">
              <a:ext uri="{FF2B5EF4-FFF2-40B4-BE49-F238E27FC236}">
                <a16:creationId xmlns:a16="http://schemas.microsoft.com/office/drawing/2014/main" id="{72DCA832-2E66-4AD9-8791-1C86BC4DB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Vivado 的 JTAG 連線檢查</a:t>
            </a:r>
          </a:p>
        </p:txBody>
      </p:sp>
      <p:sp>
        <p:nvSpPr>
          <p:cNvPr id="3" name="1. 啟動 Vivado 2018.3">
            <a:extLst xmlns:a="http://schemas.openxmlformats.org/drawingml/2006/main">
              <a:ext uri="{FF2B5EF4-FFF2-40B4-BE49-F238E27FC236}">
                <a16:creationId xmlns:a16="http://schemas.microsoft.com/office/drawing/2014/main" id="{BF99894B-9B9F-4946-910C-AD902E994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1. 啟動 Vivado 2018.3</a:t>
            </a:r>
          </a:p>
        </p:txBody>
      </p:sp>
      <p:sp>
        <p:nvSpPr>
          <p:cNvPr id="4" name="開始畫面點 Open Hardware Manager。已開工程時，可在左側">
            <a:extLst xmlns:a="http://schemas.openxmlformats.org/drawingml/2006/main">
              <a:ext uri="{FF2B5EF4-FFF2-40B4-BE49-F238E27FC236}">
                <a16:creationId xmlns:a16="http://schemas.microsoft.com/office/drawing/2014/main" id="{A2BF028A-61A4-4647-8979-07E8F9D85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開始畫面點 Open Hardware Manager。已開工程時，可在左側 Flow Navigator 點它。</a:t>
            </a:r>
          </a:p>
        </p:txBody>
      </p:sp>
      <p:sp>
        <p:nvSpPr>
          <p:cNvPr id="5" name="2. 連線到板子">
            <a:extLst xmlns:a="http://schemas.openxmlformats.org/drawingml/2006/main">
              <a:ext uri="{FF2B5EF4-FFF2-40B4-BE49-F238E27FC236}">
                <a16:creationId xmlns:a16="http://schemas.microsoft.com/office/drawing/2014/main" id="{8B0B6B10-0A33-42D2-BDE1-66EFFA17E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289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2. 連線到板子</a:t>
            </a:r>
          </a:p>
        </p:txBody>
      </p:sp>
      <p:sp>
        <p:nvSpPr>
          <p:cNvPr id="6" name="上方綠色提示列點 Open target，再選 Auto Connect。">
            <a:extLst xmlns:a="http://schemas.openxmlformats.org/drawingml/2006/main">
              <a:ext uri="{FF2B5EF4-FFF2-40B4-BE49-F238E27FC236}">
                <a16:creationId xmlns:a16="http://schemas.microsoft.com/office/drawing/2014/main" id="{F7EA437E-4F36-4AEC-B4F8-4A85340A6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上方綠色提示列點 Open target，再選 Auto Connect。</a:t>
            </a:r>
          </a:p>
        </p:txBody>
      </p:sp>
      <p:sp>
        <p:nvSpPr>
          <p:cNvPr id="7" name="3. 檢查裝置名稱">
            <a:extLst xmlns:a="http://schemas.openxmlformats.org/drawingml/2006/main">
              <a:ext uri="{FF2B5EF4-FFF2-40B4-BE49-F238E27FC236}">
                <a16:creationId xmlns:a16="http://schemas.microsoft.com/office/drawing/2014/main" id="{080DCFEC-D4A1-43C3-8E32-0FA982D8C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3. 檢查裝置名稱</a:t>
            </a:r>
          </a:p>
        </p:txBody>
      </p:sp>
      <p:sp>
        <p:nvSpPr>
          <p:cNvPr id="8" name="Hardware 視窗應看到 xc7z020。連線成功後關閉 Vivado，">
            <a:extLst xmlns:a="http://schemas.openxmlformats.org/drawingml/2006/main">
              <a:ext uri="{FF2B5EF4-FFF2-40B4-BE49-F238E27FC236}">
                <a16:creationId xmlns:a16="http://schemas.microsoft.com/office/drawing/2014/main" id="{BFB7271C-ADE3-43AE-9313-B508AC067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109728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Hardware 視窗應看到 xc7z020。連線成功後關閉 Vivado，接著用 SDK 完成下載。</a:t>
            </a:r>
          </a:p>
        </p:txBody>
      </p:sp>
      <p:sp>
        <p:nvSpPr>
          <p:cNvPr id="9" name="完成時：看見 xc7z020，表示 JTAG 可連線。">
            <a:extLst xmlns:a="http://schemas.openxmlformats.org/drawingml/2006/main">
              <a:ext uri="{FF2B5EF4-FFF2-40B4-BE49-F238E27FC236}">
                <a16:creationId xmlns:a16="http://schemas.microsoft.com/office/drawing/2014/main" id="{5EC7E477-AFF1-43B3-A686-E84BD3250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8775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rPr>
              <a:t>完成時：看見 xc7z020，表示 JTAG 可連線。</a:t>
            </a:r>
          </a:p>
        </p:txBody>
      </p:sp>
      <p:sp>
        <p:nvSpPr>
          <p:cNvPr id="10" name="09">
            <a:extLst xmlns:a="http://schemas.openxmlformats.org/drawingml/2006/main">
              <a:ext uri="{FF2B5EF4-FFF2-40B4-BE49-F238E27FC236}">
                <a16:creationId xmlns:a16="http://schemas.microsoft.com/office/drawing/2014/main" id="{15A86B25-13B3-4D1A-9E43-F79EF6040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436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90182349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Xilinx SDK 的啟動方式">
            <a:extLst xmlns:a="http://schemas.openxmlformats.org/drawingml/2006/main">
              <a:ext uri="{FF2B5EF4-FFF2-40B4-BE49-F238E27FC236}">
                <a16:creationId xmlns:a16="http://schemas.microsoft.com/office/drawing/2014/main" id="{48DE9EC8-0E07-4C4D-8DC4-6F609720A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Xilinx SDK 的啟動方式</a:t>
            </a:r>
          </a:p>
        </p:txBody>
      </p:sp>
      <p:sp>
        <p:nvSpPr>
          <p:cNvPr id="3" name="1. 從開始功能表開啟">
            <a:extLst xmlns:a="http://schemas.openxmlformats.org/drawingml/2006/main">
              <a:ext uri="{FF2B5EF4-FFF2-40B4-BE49-F238E27FC236}">
                <a16:creationId xmlns:a16="http://schemas.microsoft.com/office/drawing/2014/main" id="{039045F8-BB40-4D20-B06A-8C12555CF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1. 從開始功能表開啟</a:t>
            </a:r>
          </a:p>
        </p:txBody>
      </p:sp>
      <p:sp>
        <p:nvSpPr>
          <p:cNvPr id="4" name="選 Xilinx Design Tools，再開 Xilinx SDK 20">
            <a:extLst xmlns:a="http://schemas.openxmlformats.org/drawingml/2006/main">
              <a:ext uri="{FF2B5EF4-FFF2-40B4-BE49-F238E27FC236}">
                <a16:creationId xmlns:a16="http://schemas.microsoft.com/office/drawing/2014/main" id="{DBE8E87B-EFA5-4BE7-9C44-6523E7255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選 Xilinx Design Tools，再開 Xilinx SDK 2018.3。</a:t>
            </a:r>
          </a:p>
        </p:txBody>
      </p:sp>
      <p:sp>
        <p:nvSpPr>
          <p:cNvPr id="5" name="2. 若找不到開始選單捷徑">
            <a:extLst xmlns:a="http://schemas.openxmlformats.org/drawingml/2006/main">
              <a:ext uri="{FF2B5EF4-FFF2-40B4-BE49-F238E27FC236}">
                <a16:creationId xmlns:a16="http://schemas.microsoft.com/office/drawing/2014/main" id="{58D9395C-E507-4BD9-A8D0-32DB7DF0E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289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2. 若找不到開始選單捷徑</a:t>
            </a:r>
          </a:p>
        </p:txBody>
      </p:sp>
      <p:sp>
        <p:nvSpPr>
          <p:cNvPr id="6" name="到 SDK 安裝目錄的 2018.3\bin，雙擊 xsdk.bat。此路徑">
            <a:extLst xmlns:a="http://schemas.openxmlformats.org/drawingml/2006/main">
              <a:ext uri="{FF2B5EF4-FFF2-40B4-BE49-F238E27FC236}">
                <a16:creationId xmlns:a16="http://schemas.microsoft.com/office/drawing/2014/main" id="{45A2448E-B808-42CD-87F4-EDED6EB64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到 SDK 安裝目錄的 2018.3\bin，雙擊 xsdk.bat。此路徑屬於軟體安裝位置。</a:t>
            </a:r>
          </a:p>
        </p:txBody>
      </p:sp>
      <p:sp>
        <p:nvSpPr>
          <p:cNvPr id="7" name="3. 等待工作區選擇視窗">
            <a:extLst xmlns:a="http://schemas.openxmlformats.org/drawingml/2006/main">
              <a:ext uri="{FF2B5EF4-FFF2-40B4-BE49-F238E27FC236}">
                <a16:creationId xmlns:a16="http://schemas.microsoft.com/office/drawing/2014/main" id="{CE34E997-31B7-47EC-852F-E602E89FA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3. 等待工作區選擇視窗</a:t>
            </a:r>
          </a:p>
        </p:txBody>
      </p:sp>
      <p:sp>
        <p:nvSpPr>
          <p:cNvPr id="8" name="第一次開啟可能需等待。看到 Workspace Launcher 後繼續下一">
            <a:extLst xmlns:a="http://schemas.openxmlformats.org/drawingml/2006/main">
              <a:ext uri="{FF2B5EF4-FFF2-40B4-BE49-F238E27FC236}">
                <a16:creationId xmlns:a16="http://schemas.microsoft.com/office/drawing/2014/main" id="{5E4BCDE9-4306-4F02-9900-368A23984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109728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第一次開啟可能需等待。看到 Workspace Launcher 後繼續下一頁。</a:t>
            </a:r>
          </a:p>
        </p:txBody>
      </p:sp>
      <p:sp>
        <p:nvSpPr>
          <p:cNvPr id="9" name="完成時：開啟的是 Xilinx SDK 2018.3。">
            <a:extLst xmlns:a="http://schemas.openxmlformats.org/drawingml/2006/main">
              <a:ext uri="{FF2B5EF4-FFF2-40B4-BE49-F238E27FC236}">
                <a16:creationId xmlns:a16="http://schemas.microsoft.com/office/drawing/2014/main" id="{0AFFC1D5-8B06-4663-BA1B-165505C38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8775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rPr>
              <a:t>完成時：開啟的是 Xilinx SDK 2018.3。</a:t>
            </a:r>
          </a:p>
        </p:txBody>
      </p:sp>
      <p:sp>
        <p:nvSpPr>
          <p:cNvPr id="10" name="10">
            <a:extLst xmlns:a="http://schemas.openxmlformats.org/drawingml/2006/main">
              <a:ext uri="{FF2B5EF4-FFF2-40B4-BE49-F238E27FC236}">
                <a16:creationId xmlns:a16="http://schemas.microsoft.com/office/drawing/2014/main" id="{30E6998B-CAC0-4DFF-AF6C-687F03D51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436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7586252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DK 的新工作區">
            <a:extLst xmlns:a="http://schemas.openxmlformats.org/drawingml/2006/main">
              <a:ext uri="{FF2B5EF4-FFF2-40B4-BE49-F238E27FC236}">
                <a16:creationId xmlns:a16="http://schemas.microsoft.com/office/drawing/2014/main" id="{BD1DE62F-E46C-48AB-837C-8583941AF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SDK 的新工作區</a:t>
            </a:r>
          </a:p>
        </p:txBody>
      </p:sp>
      <p:sp>
        <p:nvSpPr>
          <p:cNvPr id="3" name="1. 填入 Workspace">
            <a:extLst xmlns:a="http://schemas.openxmlformats.org/drawingml/2006/main">
              <a:ext uri="{FF2B5EF4-FFF2-40B4-BE49-F238E27FC236}">
                <a16:creationId xmlns:a16="http://schemas.microsoft.com/office/drawing/2014/main" id="{9F433E4A-0322-4C38-A9DA-B79F1C9DD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531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1. 填入 Workspace</a:t>
            </a:r>
          </a:p>
        </p:txBody>
      </p:sp>
      <p:sp>
        <p:nvSpPr>
          <p:cNvPr id="4" name="輸入 C:\soc_hw2\sdk，再按 OK。資料夾尚不存在時，SDK 會">
            <a:extLst xmlns:a="http://schemas.openxmlformats.org/drawingml/2006/main">
              <a:ext uri="{FF2B5EF4-FFF2-40B4-BE49-F238E27FC236}">
                <a16:creationId xmlns:a16="http://schemas.microsoft.com/office/drawing/2014/main" id="{A601AF59-0C78-4E65-9AD3-C9225DB50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53149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輸入 C:\soc_hw2\sdk，再按 OK。資料夾尚不存在時，SDK 會建立它。</a:t>
            </a:r>
          </a:p>
        </p:txBody>
      </p:sp>
      <p:sp>
        <p:nvSpPr>
          <p:cNvPr id="5" name="2. 關閉 Welcome 畫面">
            <a:extLst xmlns:a="http://schemas.openxmlformats.org/drawingml/2006/main">
              <a:ext uri="{FF2B5EF4-FFF2-40B4-BE49-F238E27FC236}">
                <a16:creationId xmlns:a16="http://schemas.microsoft.com/office/drawing/2014/main" id="{2DB08C38-2C68-412A-B438-8EEFCB087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28925"/>
            <a:ext cx="531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2. 關閉 Welcome 畫面</a:t>
            </a:r>
          </a:p>
        </p:txBody>
      </p:sp>
      <p:sp>
        <p:nvSpPr>
          <p:cNvPr id="6" name="若看到 Welcome，按分頁上的叉號，回到 Project Explore">
            <a:extLst xmlns:a="http://schemas.openxmlformats.org/drawingml/2006/main">
              <a:ext uri="{FF2B5EF4-FFF2-40B4-BE49-F238E27FC236}">
                <a16:creationId xmlns:a16="http://schemas.microsoft.com/office/drawing/2014/main" id="{33362533-15C3-42C5-BF97-373480F3B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53149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若看到 Welcome，按分頁上的叉號，回到 Project Explorer 與 Console。</a:t>
            </a:r>
          </a:p>
        </p:txBody>
      </p:sp>
      <p:sp>
        <p:nvSpPr>
          <p:cNvPr id="7" name="3. 保持工作區乾淨">
            <a:extLst xmlns:a="http://schemas.openxmlformats.org/drawingml/2006/main">
              <a:ext uri="{FF2B5EF4-FFF2-40B4-BE49-F238E27FC236}">
                <a16:creationId xmlns:a16="http://schemas.microsoft.com/office/drawing/2014/main" id="{F7B9C906-A918-41B5-A95B-8F9C79ACD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531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3. 保持工作區乾淨</a:t>
            </a:r>
          </a:p>
        </p:txBody>
      </p:sp>
      <p:sp>
        <p:nvSpPr>
          <p:cNvPr id="8" name="此包沒有舊 .metadata。請在這個新的 workspace 建立下列專">
            <a:extLst xmlns:a="http://schemas.openxmlformats.org/drawingml/2006/main">
              <a:ext uri="{FF2B5EF4-FFF2-40B4-BE49-F238E27FC236}">
                <a16:creationId xmlns:a16="http://schemas.microsoft.com/office/drawing/2014/main" id="{E06C0D08-1776-4DA1-89DD-1D380DAB2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531495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此包沒有舊 .metadata。請在這個新的 workspace 建立下列專案，不必匯入舊 workspace。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4A34AA-EACE-4D64-801A-95B2F7D655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fd1c77de20421c"/>
          <a:stretch xmlns:a="http://schemas.openxmlformats.org/drawingml/2006/main"/>
        </p:blipFill>
        <p:spPr>
          <a:xfrm xmlns:a="http://schemas.openxmlformats.org/drawingml/2006/main">
            <a:off x="6343650" y="2341717"/>
            <a:ext cx="5238750" cy="2365067"/>
          </a:xfrm>
          <a:prstGeom xmlns:a="http://schemas.openxmlformats.org/drawingml/2006/main" prst="rect">
            <a:avLst/>
          </a:prstGeom>
        </p:spPr>
      </p:pic>
      <p:sp>
        <p:nvSpPr>
          <p:cNvPr id="10" name="實際 2018.3 介面。截圖中的 D 槽為本機範例，操作時填左側 C 槽路">
            <a:extLst xmlns:a="http://schemas.openxmlformats.org/drawingml/2006/main">
              <a:ext uri="{FF2B5EF4-FFF2-40B4-BE49-F238E27FC236}">
                <a16:creationId xmlns:a16="http://schemas.microsoft.com/office/drawing/2014/main" id="{48FE4977-BF5A-4F90-AD10-063649141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657850"/>
            <a:ext cx="5200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rPr>
              <a:t>實際 2018.3 介面。截圖中的 D 槽為本機範例，操作時填左側 C 槽路徑。</a:t>
            </a:r>
          </a:p>
        </p:txBody>
      </p:sp>
      <p:sp>
        <p:nvSpPr>
          <p:cNvPr id="11" name="完成時：進入 SDK，左側 Project Explorer 可建立新專案。">
            <a:extLst xmlns:a="http://schemas.openxmlformats.org/drawingml/2006/main">
              <a:ext uri="{FF2B5EF4-FFF2-40B4-BE49-F238E27FC236}">
                <a16:creationId xmlns:a16="http://schemas.microsoft.com/office/drawing/2014/main" id="{FB55EB5A-5A1E-494F-97DE-AD5DBEBE0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8775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rPr>
              <a:t>完成時：進入 SDK，左側 Project Explorer 可建立新專案。</a:t>
            </a:r>
          </a:p>
        </p:txBody>
      </p:sp>
      <p:sp>
        <p:nvSpPr>
          <p:cNvPr id="12" name="11">
            <a:extLst xmlns:a="http://schemas.openxmlformats.org/drawingml/2006/main">
              <a:ext uri="{FF2B5EF4-FFF2-40B4-BE49-F238E27FC236}">
                <a16:creationId xmlns:a16="http://schemas.microsoft.com/office/drawing/2014/main" id="{89CAF64C-BD8A-406A-BA0A-0409BCD39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436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95726948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硬體平台的新增入口">
            <a:extLst xmlns:a="http://schemas.openxmlformats.org/drawingml/2006/main">
              <a:ext uri="{FF2B5EF4-FFF2-40B4-BE49-F238E27FC236}">
                <a16:creationId xmlns:a16="http://schemas.microsoft.com/office/drawing/2014/main" id="{1B157780-E68C-418F-8803-869E2247E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硬體平台的新增入口</a:t>
            </a:r>
          </a:p>
        </p:txBody>
      </p:sp>
      <p:sp>
        <p:nvSpPr>
          <p:cNvPr id="3" name="1. 開啟新專案精靈">
            <a:extLst xmlns:a="http://schemas.openxmlformats.org/drawingml/2006/main">
              <a:ext uri="{FF2B5EF4-FFF2-40B4-BE49-F238E27FC236}">
                <a16:creationId xmlns:a16="http://schemas.microsoft.com/office/drawing/2014/main" id="{47DF9C27-2C62-4A09-8192-D7E3388D9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531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1. 開啟新專案精靈</a:t>
            </a:r>
          </a:p>
        </p:txBody>
      </p:sp>
      <p:sp>
        <p:nvSpPr>
          <p:cNvPr id="4" name="主選單 File，選 New，再選 Project...。若看不到 Proj">
            <a:extLst xmlns:a="http://schemas.openxmlformats.org/drawingml/2006/main">
              <a:ext uri="{FF2B5EF4-FFF2-40B4-BE49-F238E27FC236}">
                <a16:creationId xmlns:a16="http://schemas.microsoft.com/office/drawing/2014/main" id="{7C1B2C6B-2033-4B8C-AC23-0290F591C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53149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主選單 File，選 New，再選 Project...。若看不到 Project...，可選 Other...。</a:t>
            </a:r>
          </a:p>
        </p:txBody>
      </p:sp>
      <p:sp>
        <p:nvSpPr>
          <p:cNvPr id="5" name="2. 選擇硬體平台類型">
            <a:extLst xmlns:a="http://schemas.openxmlformats.org/drawingml/2006/main">
              <a:ext uri="{FF2B5EF4-FFF2-40B4-BE49-F238E27FC236}">
                <a16:creationId xmlns:a16="http://schemas.microsoft.com/office/drawing/2014/main" id="{21750B70-4E6D-4E50-9DCF-96F143D28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28925"/>
            <a:ext cx="531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2. 選擇硬體平台類型</a:t>
            </a:r>
          </a:p>
        </p:txBody>
      </p:sp>
      <p:sp>
        <p:nvSpPr>
          <p:cNvPr id="6" name="展開 Xilinx，選 Hardware Platform Specific">
            <a:extLst xmlns:a="http://schemas.openxmlformats.org/drawingml/2006/main">
              <a:ext uri="{FF2B5EF4-FFF2-40B4-BE49-F238E27FC236}">
                <a16:creationId xmlns:a16="http://schemas.microsoft.com/office/drawing/2014/main" id="{0F75CE23-9FC0-4958-882C-CBF6EED57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531495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展開 Xilinx，選 Hardware Platform Specification，再按 Next。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1718BC-396A-493C-A7E6-D64ADA6500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fdec135c494fc3"/>
          <a:stretch xmlns:a="http://schemas.openxmlformats.org/drawingml/2006/main"/>
        </p:blipFill>
        <p:spPr>
          <a:xfrm xmlns:a="http://schemas.openxmlformats.org/drawingml/2006/main">
            <a:off x="6791016" y="1428750"/>
            <a:ext cx="4344018" cy="4191000"/>
          </a:xfrm>
          <a:prstGeom xmlns:a="http://schemas.openxmlformats.org/drawingml/2006/main" prst="rect">
            <a:avLst/>
          </a:prstGeom>
        </p:spPr>
      </p:pic>
      <p:sp>
        <p:nvSpPr>
          <p:cNvPr id="8" name="實際 2018.3 介面。截圖中的 D 槽為本機範例，操作時填左側 C 槽路">
            <a:extLst xmlns:a="http://schemas.openxmlformats.org/drawingml/2006/main">
              <a:ext uri="{FF2B5EF4-FFF2-40B4-BE49-F238E27FC236}">
                <a16:creationId xmlns:a16="http://schemas.microsoft.com/office/drawing/2014/main" id="{EA534E95-1398-403A-BEAC-40022A783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657850"/>
            <a:ext cx="5200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rPr>
              <a:t>實際 2018.3 介面。截圖中的 D 槽為本機範例，操作時填左側 C 槽路徑。</a:t>
            </a:r>
          </a:p>
        </p:txBody>
      </p:sp>
      <p:sp>
        <p:nvSpPr>
          <p:cNvPr id="9" name="完成時：下一頁顯示硬體平台名稱與 HDF 選擇欄位。">
            <a:extLst xmlns:a="http://schemas.openxmlformats.org/drawingml/2006/main">
              <a:ext uri="{FF2B5EF4-FFF2-40B4-BE49-F238E27FC236}">
                <a16:creationId xmlns:a16="http://schemas.microsoft.com/office/drawing/2014/main" id="{BBC55A96-52B3-431B-9072-0AB423075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8775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rPr>
              <a:t>完成時：下一頁顯示硬體平台名稱與 HDF 選擇欄位。</a:t>
            </a:r>
          </a:p>
        </p:txBody>
      </p:sp>
      <p:sp>
        <p:nvSpPr>
          <p:cNvPr id="10" name="12">
            <a:extLst xmlns:a="http://schemas.openxmlformats.org/drawingml/2006/main">
              <a:ext uri="{FF2B5EF4-FFF2-40B4-BE49-F238E27FC236}">
                <a16:creationId xmlns:a16="http://schemas.microsoft.com/office/drawing/2014/main" id="{3600201D-D901-4D34-B03F-CB541E1D4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436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70797051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硬體平台名稱與 HDF">
            <a:extLst xmlns:a="http://schemas.openxmlformats.org/drawingml/2006/main">
              <a:ext uri="{FF2B5EF4-FFF2-40B4-BE49-F238E27FC236}">
                <a16:creationId xmlns:a16="http://schemas.microsoft.com/office/drawing/2014/main" id="{AEBBCFCA-EF55-4934-8C9A-D79F39349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硬體平台名稱與 HDF</a:t>
            </a:r>
          </a:p>
        </p:txBody>
      </p:sp>
      <p:sp>
        <p:nvSpPr>
          <p:cNvPr id="3" name="1. Project name">
            <a:extLst xmlns:a="http://schemas.openxmlformats.org/drawingml/2006/main">
              <a:ext uri="{FF2B5EF4-FFF2-40B4-BE49-F238E27FC236}">
                <a16:creationId xmlns:a16="http://schemas.microsoft.com/office/drawing/2014/main" id="{F47978FF-3C16-470E-86A9-D834D2A41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531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1. Project name</a:t>
            </a:r>
          </a:p>
        </p:txBody>
      </p:sp>
      <p:sp>
        <p:nvSpPr>
          <p:cNvPr id="4" name="填 hw_platform，保留 Use default location。">
            <a:extLst xmlns:a="http://schemas.openxmlformats.org/drawingml/2006/main">
              <a:ext uri="{FF2B5EF4-FFF2-40B4-BE49-F238E27FC236}">
                <a16:creationId xmlns:a16="http://schemas.microsoft.com/office/drawing/2014/main" id="{43EC63B3-8475-4A3E-A105-6655EB486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53149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填 hw_platform，保留 Use default location。</a:t>
            </a:r>
          </a:p>
        </p:txBody>
      </p:sp>
      <p:sp>
        <p:nvSpPr>
          <p:cNvPr id="5" name="2. Target Hardware Specification">
            <a:extLst xmlns:a="http://schemas.openxmlformats.org/drawingml/2006/main">
              <a:ext uri="{FF2B5EF4-FFF2-40B4-BE49-F238E27FC236}">
                <a16:creationId xmlns:a16="http://schemas.microsoft.com/office/drawing/2014/main" id="{46B43473-39F7-48E4-BFFA-51AE06172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28925"/>
            <a:ext cx="531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2. Target Hardware Specification</a:t>
            </a:r>
          </a:p>
        </p:txBody>
      </p:sp>
      <p:sp>
        <p:nvSpPr>
          <p:cNvPr id="6" name="按 Browse，選 C:\soc_hw2\export\design_1_">
            <a:extLst xmlns:a="http://schemas.openxmlformats.org/drawingml/2006/main">
              <a:ext uri="{FF2B5EF4-FFF2-40B4-BE49-F238E27FC236}">
                <a16:creationId xmlns:a16="http://schemas.microsoft.com/office/drawing/2014/main" id="{31DF6FAD-2793-4752-AE9B-B90706F69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53149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按 Browse，選 C:\soc_hw2\export\design_1_wrapper.hdf。</a:t>
            </a:r>
          </a:p>
        </p:txBody>
      </p:sp>
      <p:sp>
        <p:nvSpPr>
          <p:cNvPr id="7" name="3. 完成匯入">
            <a:extLst xmlns:a="http://schemas.openxmlformats.org/drawingml/2006/main">
              <a:ext uri="{FF2B5EF4-FFF2-40B4-BE49-F238E27FC236}">
                <a16:creationId xmlns:a16="http://schemas.microsoft.com/office/drawing/2014/main" id="{FB0E7C85-E834-49A2-9029-1D4745DCB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531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3. 完成匯入</a:t>
            </a:r>
          </a:p>
        </p:txBody>
      </p:sp>
      <p:sp>
        <p:nvSpPr>
          <p:cNvPr id="8" name="按 Finish。等 SDK 完成讀取，再展開左側 hw_platform。">
            <a:extLst xmlns:a="http://schemas.openxmlformats.org/drawingml/2006/main">
              <a:ext uri="{FF2B5EF4-FFF2-40B4-BE49-F238E27FC236}">
                <a16:creationId xmlns:a16="http://schemas.microsoft.com/office/drawing/2014/main" id="{CCC6AE4A-1347-4BE0-992E-368AB72C7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531495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按 Finish。等 SDK 完成讀取，再展開左側 hw_platform。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B5609E-ED04-44F1-8793-FBDAD5B13C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9abba062164f0e"/>
          <a:stretch xmlns:a="http://schemas.openxmlformats.org/drawingml/2006/main"/>
        </p:blipFill>
        <p:spPr>
          <a:xfrm xmlns:a="http://schemas.openxmlformats.org/drawingml/2006/main">
            <a:off x="6343650" y="1603375"/>
            <a:ext cx="5238750" cy="3841750"/>
          </a:xfrm>
          <a:prstGeom xmlns:a="http://schemas.openxmlformats.org/drawingml/2006/main" prst="rect">
            <a:avLst/>
          </a:prstGeom>
        </p:spPr>
      </p:pic>
      <p:sp>
        <p:nvSpPr>
          <p:cNvPr id="10" name="實際 2018.3 介面。截圖中的 D 槽為本機範例，操作時填左側 C 槽路">
            <a:extLst xmlns:a="http://schemas.openxmlformats.org/drawingml/2006/main">
              <a:ext uri="{FF2B5EF4-FFF2-40B4-BE49-F238E27FC236}">
                <a16:creationId xmlns:a16="http://schemas.microsoft.com/office/drawing/2014/main" id="{65D5959D-B34C-4DAA-8A3F-3BB8C44DD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657850"/>
            <a:ext cx="5200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rPr>
              <a:t>實際 2018.3 介面。截圖中的 D 槽為本機範例，操作時填左側 C 槽路徑。</a:t>
            </a:r>
          </a:p>
        </p:txBody>
      </p:sp>
      <p:sp>
        <p:nvSpPr>
          <p:cNvPr id="11" name="完成時：hw_platform 內有 system.hdf、ps7_init">
            <a:extLst xmlns:a="http://schemas.openxmlformats.org/drawingml/2006/main">
              <a:ext uri="{FF2B5EF4-FFF2-40B4-BE49-F238E27FC236}">
                <a16:creationId xmlns:a16="http://schemas.microsoft.com/office/drawing/2014/main" id="{27186E40-2D42-4C49-82CD-07B4C0F60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8775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rPr>
              <a:t>完成時：hw_platform 內有 system.hdf、ps7_init.tcl 等檔案。</a:t>
            </a:r>
          </a:p>
        </p:txBody>
      </p:sp>
      <p:sp>
        <p:nvSpPr>
          <p:cNvPr id="12" name="13">
            <a:extLst xmlns:a="http://schemas.openxmlformats.org/drawingml/2006/main">
              <a:ext uri="{FF2B5EF4-FFF2-40B4-BE49-F238E27FC236}">
                <a16:creationId xmlns:a16="http://schemas.microsoft.com/office/drawing/2014/main" id="{8619D816-0040-4880-8951-C73C988CD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436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49076493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 應用程式專案">
            <a:extLst xmlns:a="http://schemas.openxmlformats.org/drawingml/2006/main">
              <a:ext uri="{FF2B5EF4-FFF2-40B4-BE49-F238E27FC236}">
                <a16:creationId xmlns:a16="http://schemas.microsoft.com/office/drawing/2014/main" id="{28623998-AED1-4205-8D59-EE0ED1D80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C 應用程式專案</a:t>
            </a:r>
          </a:p>
        </p:txBody>
      </p:sp>
      <p:sp>
        <p:nvSpPr>
          <p:cNvPr id="3" name="1. 開啟 Application Project">
            <a:extLst xmlns:a="http://schemas.openxmlformats.org/drawingml/2006/main">
              <a:ext uri="{FF2B5EF4-FFF2-40B4-BE49-F238E27FC236}">
                <a16:creationId xmlns:a16="http://schemas.microsoft.com/office/drawing/2014/main" id="{C43FDAE1-0CAC-4F79-9BBC-AA2767E0C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531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1. 開啟 Application Project</a:t>
            </a:r>
          </a:p>
        </p:txBody>
      </p:sp>
      <p:sp>
        <p:nvSpPr>
          <p:cNvPr id="4" name="選 File、New、Application Project。若選單未列出，">
            <a:extLst xmlns:a="http://schemas.openxmlformats.org/drawingml/2006/main">
              <a:ext uri="{FF2B5EF4-FFF2-40B4-BE49-F238E27FC236}">
                <a16:creationId xmlns:a16="http://schemas.microsoft.com/office/drawing/2014/main" id="{7A51CC84-235B-4F06-A846-517BCD27F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53149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選 File、New、Application Project。若選單未列出，用 Project... 的 Xilinx 分類。</a:t>
            </a:r>
          </a:p>
        </p:txBody>
      </p:sp>
      <p:sp>
        <p:nvSpPr>
          <p:cNvPr id="5" name="2. 填名稱與目標">
            <a:extLst xmlns:a="http://schemas.openxmlformats.org/drawingml/2006/main">
              <a:ext uri="{FF2B5EF4-FFF2-40B4-BE49-F238E27FC236}">
                <a16:creationId xmlns:a16="http://schemas.microsoft.com/office/drawing/2014/main" id="{576FA5A4-5CD2-44C8-A8AD-990E5ACA2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531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2. 填名稱與目標</a:t>
            </a:r>
          </a:p>
        </p:txBody>
      </p:sp>
      <p:sp>
        <p:nvSpPr>
          <p:cNvPr id="6" name="Project name = hw2_demo，Language = C。&#10;">
            <a:extLst xmlns:a="http://schemas.openxmlformats.org/drawingml/2006/main">
              <a:ext uri="{FF2B5EF4-FFF2-40B4-BE49-F238E27FC236}">
                <a16:creationId xmlns:a16="http://schemas.microsoft.com/office/drawing/2014/main" id="{0365CAD4-8A7E-4004-8D7A-CD25679E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53149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Project name = hw2_demo，Language = C。</a:t>
            </a:r>
          </a:p>
          <a:p xmlns:a="http://schemas.openxmlformats.org/drawingml/2006/main">
            <a:pPr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Hardware Platform = hw_platform。</a:t>
            </a:r>
          </a:p>
          <a:p xmlns:a="http://schemas.openxmlformats.org/drawingml/2006/main">
            <a:pPr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Processor = ps7_cortexa9_0。</a:t>
            </a:r>
          </a:p>
        </p:txBody>
      </p:sp>
      <p:sp>
        <p:nvSpPr>
          <p:cNvPr id="7" name="3. 選 standalone">
            <a:extLst xmlns:a="http://schemas.openxmlformats.org/drawingml/2006/main">
              <a:ext uri="{FF2B5EF4-FFF2-40B4-BE49-F238E27FC236}">
                <a16:creationId xmlns:a16="http://schemas.microsoft.com/office/drawing/2014/main" id="{56D44B65-16DD-4C2E-95A1-204B3C0C1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71975"/>
            <a:ext cx="531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3. 選 standalone</a:t>
            </a:r>
          </a:p>
        </p:txBody>
      </p:sp>
      <p:sp>
        <p:nvSpPr>
          <p:cNvPr id="8" name="OS Platform = standalone。&#10;Board Suppor">
            <a:extLst xmlns:a="http://schemas.openxmlformats.org/drawingml/2006/main">
              <a:ext uri="{FF2B5EF4-FFF2-40B4-BE49-F238E27FC236}">
                <a16:creationId xmlns:a16="http://schemas.microsoft.com/office/drawing/2014/main" id="{339E20CD-885E-44EC-920D-E42B48CF5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531495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OS Platform = standalone。</a:t>
            </a:r>
          </a:p>
          <a:p xmlns:a="http://schemas.openxmlformats.org/drawingml/2006/main">
            <a:pPr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Board Support Package 選 Create New，名稱 standalone_bsp，再按 Next。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A7DA83-4B16-46B4-B185-8B8F9B17F9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d9c7c03d6440fd"/>
          <a:stretch xmlns:a="http://schemas.openxmlformats.org/drawingml/2006/main"/>
        </p:blipFill>
        <p:spPr>
          <a:xfrm xmlns:a="http://schemas.openxmlformats.org/drawingml/2006/main">
            <a:off x="7404363" y="1428750"/>
            <a:ext cx="3117323" cy="4191000"/>
          </a:xfrm>
          <a:prstGeom xmlns:a="http://schemas.openxmlformats.org/drawingml/2006/main" prst="rect">
            <a:avLst/>
          </a:prstGeom>
        </p:spPr>
      </p:pic>
      <p:sp>
        <p:nvSpPr>
          <p:cNvPr id="10" name="實際 2018.3 介面。截圖中的 D 槽為本機範例，操作時填左側 C 槽路">
            <a:extLst xmlns:a="http://schemas.openxmlformats.org/drawingml/2006/main">
              <a:ext uri="{FF2B5EF4-FFF2-40B4-BE49-F238E27FC236}">
                <a16:creationId xmlns:a16="http://schemas.microsoft.com/office/drawing/2014/main" id="{D9304328-A94A-46D6-8920-BCD1B7E43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657850"/>
            <a:ext cx="5200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rPr>
              <a:t>實際 2018.3 介面。截圖中的 D 槽為本機範例，操作時填左側 C 槽路徑。</a:t>
            </a:r>
          </a:p>
        </p:txBody>
      </p:sp>
      <p:sp>
        <p:nvSpPr>
          <p:cNvPr id="11" name="完成時：應用程式與 BSP 都使用同一個 hw_platform。">
            <a:extLst xmlns:a="http://schemas.openxmlformats.org/drawingml/2006/main">
              <a:ext uri="{FF2B5EF4-FFF2-40B4-BE49-F238E27FC236}">
                <a16:creationId xmlns:a16="http://schemas.microsoft.com/office/drawing/2014/main" id="{25EBD7EF-AA1C-410F-B15F-2857BCD2E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8775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rPr>
              <a:t>完成時：應用程式與 BSP 都使用同一個 hw_platform。</a:t>
            </a:r>
          </a:p>
        </p:txBody>
      </p:sp>
      <p:sp>
        <p:nvSpPr>
          <p:cNvPr id="12" name="14">
            <a:extLst xmlns:a="http://schemas.openxmlformats.org/drawingml/2006/main">
              <a:ext uri="{FF2B5EF4-FFF2-40B4-BE49-F238E27FC236}">
                <a16:creationId xmlns:a16="http://schemas.microsoft.com/office/drawing/2014/main" id="{ABBBD80D-5E55-4DBA-9F13-38F046DCF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436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03847502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mpty Application 範本">
            <a:extLst xmlns:a="http://schemas.openxmlformats.org/drawingml/2006/main">
              <a:ext uri="{FF2B5EF4-FFF2-40B4-BE49-F238E27FC236}">
                <a16:creationId xmlns:a16="http://schemas.microsoft.com/office/drawing/2014/main" id="{43BBA126-54BE-495E-80AC-1E798559A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Empty Application 範本</a:t>
            </a:r>
          </a:p>
        </p:txBody>
      </p:sp>
      <p:sp>
        <p:nvSpPr>
          <p:cNvPr id="3" name="1. 選範本">
            <a:extLst xmlns:a="http://schemas.openxmlformats.org/drawingml/2006/main">
              <a:ext uri="{FF2B5EF4-FFF2-40B4-BE49-F238E27FC236}">
                <a16:creationId xmlns:a16="http://schemas.microsoft.com/office/drawing/2014/main" id="{B0AE9AF1-07B7-4AFB-AB09-5CE560F28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531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1. 選範本</a:t>
            </a:r>
          </a:p>
        </p:txBody>
      </p:sp>
      <p:sp>
        <p:nvSpPr>
          <p:cNvPr id="4" name="在 Available Templates 選 Empty Applicat">
            <a:extLst xmlns:a="http://schemas.openxmlformats.org/drawingml/2006/main">
              <a:ext uri="{FF2B5EF4-FFF2-40B4-BE49-F238E27FC236}">
                <a16:creationId xmlns:a16="http://schemas.microsoft.com/office/drawing/2014/main" id="{2FCAF505-67B7-485F-BDBC-77498367F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53149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在 Available Templates 選 Empty Application。</a:t>
            </a:r>
          </a:p>
        </p:txBody>
      </p:sp>
      <p:sp>
        <p:nvSpPr>
          <p:cNvPr id="5" name="2. 建立專案">
            <a:extLst xmlns:a="http://schemas.openxmlformats.org/drawingml/2006/main">
              <a:ext uri="{FF2B5EF4-FFF2-40B4-BE49-F238E27FC236}">
                <a16:creationId xmlns:a16="http://schemas.microsoft.com/office/drawing/2014/main" id="{45795B17-D53D-420A-A9B6-6384C09AD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28925"/>
            <a:ext cx="531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2. 建立專案</a:t>
            </a:r>
          </a:p>
        </p:txBody>
      </p:sp>
      <p:sp>
        <p:nvSpPr>
          <p:cNvPr id="6" name="按 Finish，等待 SDK 建立 hw2_demo 與 standalo">
            <a:extLst xmlns:a="http://schemas.openxmlformats.org/drawingml/2006/main">
              <a:ext uri="{FF2B5EF4-FFF2-40B4-BE49-F238E27FC236}">
                <a16:creationId xmlns:a16="http://schemas.microsoft.com/office/drawing/2014/main" id="{2897E662-444E-4E84-B2E3-444AFB3B2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53149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按 Finish，等待 SDK 建立 hw2_demo 與 standalone_bsp。</a:t>
            </a:r>
          </a:p>
        </p:txBody>
      </p:sp>
      <p:sp>
        <p:nvSpPr>
          <p:cNvPr id="7" name="3. 確認左側專案">
            <a:extLst xmlns:a="http://schemas.openxmlformats.org/drawingml/2006/main">
              <a:ext uri="{FF2B5EF4-FFF2-40B4-BE49-F238E27FC236}">
                <a16:creationId xmlns:a16="http://schemas.microsoft.com/office/drawing/2014/main" id="{50A15FD8-7042-4FF0-AA6C-27C8BC0D5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531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3. 確認左側專案</a:t>
            </a:r>
          </a:p>
        </p:txBody>
      </p:sp>
      <p:sp>
        <p:nvSpPr>
          <p:cNvPr id="8" name="Project Explorer 應有 hw_platform、standa">
            <a:extLst xmlns:a="http://schemas.openxmlformats.org/drawingml/2006/main">
              <a:ext uri="{FF2B5EF4-FFF2-40B4-BE49-F238E27FC236}">
                <a16:creationId xmlns:a16="http://schemas.microsoft.com/office/drawing/2014/main" id="{26A8FC36-56DF-4D63-8D68-A84DB49D5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531495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Project Explorer 應有 hw_platform、standalone_bsp、hw2_demo。空白應用程式暫時沒有 main.c。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741518-11E4-457D-AB54-68536B389E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6762b1b8864fc0"/>
          <a:stretch xmlns:a="http://schemas.openxmlformats.org/drawingml/2006/main"/>
        </p:blipFill>
        <p:spPr>
          <a:xfrm xmlns:a="http://schemas.openxmlformats.org/drawingml/2006/main">
            <a:off x="7404363" y="1428750"/>
            <a:ext cx="3117323" cy="4191000"/>
          </a:xfrm>
          <a:prstGeom xmlns:a="http://schemas.openxmlformats.org/drawingml/2006/main" prst="rect">
            <a:avLst/>
          </a:prstGeom>
        </p:spPr>
      </p:pic>
      <p:sp>
        <p:nvSpPr>
          <p:cNvPr id="10" name="實際 2018.3 介面。截圖中的 D 槽為本機範例，操作時填左側 C 槽路">
            <a:extLst xmlns:a="http://schemas.openxmlformats.org/drawingml/2006/main">
              <a:ext uri="{FF2B5EF4-FFF2-40B4-BE49-F238E27FC236}">
                <a16:creationId xmlns:a16="http://schemas.microsoft.com/office/drawing/2014/main" id="{591B1D89-C2D6-430F-A0FE-BE71655A7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657850"/>
            <a:ext cx="5200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rPr>
              <a:t>實際 2018.3 介面。截圖中的 D 槽為本機範例，操作時填左側 C 槽路徑。</a:t>
            </a:r>
          </a:p>
        </p:txBody>
      </p:sp>
      <p:sp>
        <p:nvSpPr>
          <p:cNvPr id="11" name="完成時：三個專案名稱與左側文字一致。">
            <a:extLst xmlns:a="http://schemas.openxmlformats.org/drawingml/2006/main">
              <a:ext uri="{FF2B5EF4-FFF2-40B4-BE49-F238E27FC236}">
                <a16:creationId xmlns:a16="http://schemas.microsoft.com/office/drawing/2014/main" id="{A9B3B9CF-195E-478E-8429-1C882B6D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8775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rPr>
              <a:t>完成時：三個專案名稱與左側文字一致。</a:t>
            </a:r>
          </a:p>
        </p:txBody>
      </p:sp>
      <p:sp>
        <p:nvSpPr>
          <p:cNvPr id="12" name="15">
            <a:extLst xmlns:a="http://schemas.openxmlformats.org/drawingml/2006/main">
              <a:ext uri="{FF2B5EF4-FFF2-40B4-BE49-F238E27FC236}">
                <a16:creationId xmlns:a16="http://schemas.microsoft.com/office/drawing/2014/main" id="{A12D9C70-0739-4884-8C91-00C9902A7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436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72633350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main.c 原始碼匯入">
            <a:extLst xmlns:a="http://schemas.openxmlformats.org/drawingml/2006/main">
              <a:ext uri="{FF2B5EF4-FFF2-40B4-BE49-F238E27FC236}">
                <a16:creationId xmlns:a16="http://schemas.microsoft.com/office/drawing/2014/main" id="{D4B4714B-719B-46DF-A25C-E343B9941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main.c 原始碼匯入</a:t>
            </a:r>
          </a:p>
        </p:txBody>
      </p:sp>
      <p:sp>
        <p:nvSpPr>
          <p:cNvPr id="3" name="1. 指定放入的位置">
            <a:extLst xmlns:a="http://schemas.openxmlformats.org/drawingml/2006/main">
              <a:ext uri="{FF2B5EF4-FFF2-40B4-BE49-F238E27FC236}">
                <a16:creationId xmlns:a16="http://schemas.microsoft.com/office/drawing/2014/main" id="{21ED9763-EF67-432B-97E6-C5A15288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531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1. 指定放入的位置</a:t>
            </a:r>
          </a:p>
        </p:txBody>
      </p:sp>
      <p:sp>
        <p:nvSpPr>
          <p:cNvPr id="4" name="展開 hw2_demo，對 src 按右鍵選 Import...">
            <a:extLst xmlns:a="http://schemas.openxmlformats.org/drawingml/2006/main">
              <a:ext uri="{FF2B5EF4-FFF2-40B4-BE49-F238E27FC236}">
                <a16:creationId xmlns:a16="http://schemas.microsoft.com/office/drawing/2014/main" id="{C060E29A-0E6D-4198-8BF9-87252BE50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5314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展開 hw2_demo，對 src 按右鍵選 Import...</a:t>
            </a:r>
          </a:p>
        </p:txBody>
      </p:sp>
      <p:sp>
        <p:nvSpPr>
          <p:cNvPr id="5" name="2. 選檔案匯入方式">
            <a:extLst xmlns:a="http://schemas.openxmlformats.org/drawingml/2006/main">
              <a:ext uri="{FF2B5EF4-FFF2-40B4-BE49-F238E27FC236}">
                <a16:creationId xmlns:a16="http://schemas.microsoft.com/office/drawing/2014/main" id="{DEB3123D-3FB8-4713-9C96-EEC72B0B5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76525"/>
            <a:ext cx="531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2. 選檔案匯入方式</a:t>
            </a:r>
          </a:p>
        </p:txBody>
      </p:sp>
      <p:sp>
        <p:nvSpPr>
          <p:cNvPr id="6" name="展開 General，選 File System，再按 Next。">
            <a:extLst xmlns:a="http://schemas.openxmlformats.org/drawingml/2006/main">
              <a:ext uri="{FF2B5EF4-FFF2-40B4-BE49-F238E27FC236}">
                <a16:creationId xmlns:a16="http://schemas.microsoft.com/office/drawing/2014/main" id="{EFCC6138-0673-4213-A291-4692B8F95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5314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展開 General，選 File System，再按 Next。</a:t>
            </a:r>
          </a:p>
        </p:txBody>
      </p:sp>
      <p:sp>
        <p:nvSpPr>
          <p:cNvPr id="7" name="3. 選來源資料夾">
            <a:extLst xmlns:a="http://schemas.openxmlformats.org/drawingml/2006/main">
              <a:ext uri="{FF2B5EF4-FFF2-40B4-BE49-F238E27FC236}">
                <a16:creationId xmlns:a16="http://schemas.microsoft.com/office/drawing/2014/main" id="{8F8E968A-E860-4871-B926-7B47EF079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6675"/>
            <a:ext cx="531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3. 選來源資料夾</a:t>
            </a:r>
          </a:p>
        </p:txBody>
      </p:sp>
      <p:sp>
        <p:nvSpPr>
          <p:cNvPr id="8" name="From directory 選 C:\soc_hw2\firmware\h">
            <a:extLst xmlns:a="http://schemas.openxmlformats.org/drawingml/2006/main">
              <a:ext uri="{FF2B5EF4-FFF2-40B4-BE49-F238E27FC236}">
                <a16:creationId xmlns:a16="http://schemas.microsoft.com/office/drawing/2014/main" id="{63CCC619-C58B-42F7-B6BD-B9BBDBF91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53149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From directory 選 C:\soc_hw2\firmware\hw2_demo。只勾 main.c，Into folder 填 hw2_demo/src。Create top-level folder 不勾，再按 Finish。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33C796-1DFA-4785-A795-7346666964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803bdba5414d9a"/>
          <a:stretch xmlns:a="http://schemas.openxmlformats.org/drawingml/2006/main"/>
        </p:blipFill>
        <p:spPr>
          <a:xfrm xmlns:a="http://schemas.openxmlformats.org/drawingml/2006/main">
            <a:off x="6991017" y="1428750"/>
            <a:ext cx="3944017" cy="4191000"/>
          </a:xfrm>
          <a:prstGeom xmlns:a="http://schemas.openxmlformats.org/drawingml/2006/main" prst="rect">
            <a:avLst/>
          </a:prstGeom>
        </p:spPr>
      </p:pic>
      <p:sp>
        <p:nvSpPr>
          <p:cNvPr id="10" name="實際 2018.3 介面。截圖中的 D 槽為本機範例，操作時填左側 C 槽路">
            <a:extLst xmlns:a="http://schemas.openxmlformats.org/drawingml/2006/main">
              <a:ext uri="{FF2B5EF4-FFF2-40B4-BE49-F238E27FC236}">
                <a16:creationId xmlns:a16="http://schemas.microsoft.com/office/drawing/2014/main" id="{35ECDD82-1E28-4833-98D4-BB2020DDA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657850"/>
            <a:ext cx="5200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rPr>
              <a:t>實際 2018.3 介面。截圖中的 D 槽為本機範例，操作時填左側 C 槽路徑。</a:t>
            </a:r>
          </a:p>
        </p:txBody>
      </p:sp>
      <p:sp>
        <p:nvSpPr>
          <p:cNvPr id="11" name="完成時：左側 hw2_demo/src 出現 main.c。">
            <a:extLst xmlns:a="http://schemas.openxmlformats.org/drawingml/2006/main">
              <a:ext uri="{FF2B5EF4-FFF2-40B4-BE49-F238E27FC236}">
                <a16:creationId xmlns:a16="http://schemas.microsoft.com/office/drawing/2014/main" id="{77AD9226-77D2-4A56-973F-38F0D349B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8775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rPr>
              <a:t>完成時：左側 hw2_demo/src 出現 main.c。</a:t>
            </a:r>
          </a:p>
        </p:txBody>
      </p:sp>
      <p:sp>
        <p:nvSpPr>
          <p:cNvPr id="12" name="16">
            <a:extLst xmlns:a="http://schemas.openxmlformats.org/drawingml/2006/main">
              <a:ext uri="{FF2B5EF4-FFF2-40B4-BE49-F238E27FC236}">
                <a16:creationId xmlns:a16="http://schemas.microsoft.com/office/drawing/2014/main" id="{49DD64E1-B195-4FFE-BFEE-E886146C4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436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96895566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DK 編譯與 ELF 位置">
            <a:extLst xmlns:a="http://schemas.openxmlformats.org/drawingml/2006/main">
              <a:ext uri="{FF2B5EF4-FFF2-40B4-BE49-F238E27FC236}">
                <a16:creationId xmlns:a16="http://schemas.microsoft.com/office/drawing/2014/main" id="{15951C4E-DB8C-44C7-A880-A3C1E5613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SDK 編譯與 ELF 位置</a:t>
            </a:r>
          </a:p>
        </p:txBody>
      </p:sp>
      <p:sp>
        <p:nvSpPr>
          <p:cNvPr id="3" name="1. 確認使用 Debug 組態">
            <a:extLst xmlns:a="http://schemas.openxmlformats.org/drawingml/2006/main">
              <a:ext uri="{FF2B5EF4-FFF2-40B4-BE49-F238E27FC236}">
                <a16:creationId xmlns:a16="http://schemas.microsoft.com/office/drawing/2014/main" id="{5E3895F5-E973-4F89-89BD-344C87D2E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1. 確認使用 Debug 組態</a:t>
            </a:r>
          </a:p>
        </p:txBody>
      </p:sp>
      <p:sp>
        <p:nvSpPr>
          <p:cNvPr id="4" name="對 hw2_demo 按右鍵，選 Build Configurations、">
            <a:extLst xmlns:a="http://schemas.openxmlformats.org/drawingml/2006/main">
              <a:ext uri="{FF2B5EF4-FFF2-40B4-BE49-F238E27FC236}">
                <a16:creationId xmlns:a16="http://schemas.microsoft.com/office/drawing/2014/main" id="{14F3E55F-8E3C-4560-917C-872597544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對 hw2_demo 按右鍵，選 Build Configurations、Set Active、Debug。</a:t>
            </a:r>
          </a:p>
        </p:txBody>
      </p:sp>
      <p:sp>
        <p:nvSpPr>
          <p:cNvPr id="5" name="2. 編譯應用程式">
            <a:extLst xmlns:a="http://schemas.openxmlformats.org/drawingml/2006/main">
              <a:ext uri="{FF2B5EF4-FFF2-40B4-BE49-F238E27FC236}">
                <a16:creationId xmlns:a16="http://schemas.microsoft.com/office/drawing/2014/main" id="{3AFA13D4-B10E-4273-AB7B-00852BF66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289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2. 編譯應用程式</a:t>
            </a:r>
          </a:p>
        </p:txBody>
      </p:sp>
      <p:sp>
        <p:nvSpPr>
          <p:cNvPr id="6" name="對 hw2_demo 按右鍵，選 Build Project。若有 Buil">
            <a:extLst xmlns:a="http://schemas.openxmlformats.org/drawingml/2006/main">
              <a:ext uri="{FF2B5EF4-FFF2-40B4-BE49-F238E27FC236}">
                <a16:creationId xmlns:a16="http://schemas.microsoft.com/office/drawing/2014/main" id="{226A190C-C758-4719-A73C-EBD30035D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對 hw2_demo 按右鍵，選 Build Project。若有 Build All，也可從 Project 選單執行。</a:t>
            </a:r>
          </a:p>
        </p:txBody>
      </p:sp>
      <p:sp>
        <p:nvSpPr>
          <p:cNvPr id="7" name="3. 查看 Console 與輸出檔">
            <a:extLst xmlns:a="http://schemas.openxmlformats.org/drawingml/2006/main">
              <a:ext uri="{FF2B5EF4-FFF2-40B4-BE49-F238E27FC236}">
                <a16:creationId xmlns:a16="http://schemas.microsoft.com/office/drawing/2014/main" id="{C03D9D3A-A684-4F23-ACB1-D21CBD33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3. 查看 Console 與輸出檔</a:t>
            </a:r>
          </a:p>
        </p:txBody>
      </p:sp>
      <p:sp>
        <p:nvSpPr>
          <p:cNvPr id="8" name="等待編譯結束。展開 hw2_demo/Debug，應有 hw2_demo.e">
            <a:extLst xmlns:a="http://schemas.openxmlformats.org/drawingml/2006/main">
              <a:ext uri="{FF2B5EF4-FFF2-40B4-BE49-F238E27FC236}">
                <a16:creationId xmlns:a16="http://schemas.microsoft.com/office/drawing/2014/main" id="{E8D63AFE-6F85-4D8F-ABA1-8E577554F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109728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等待編譯結束。展開 hw2_demo/Debug，應有 hw2_demo.elf。若有 errors，先處理後再下載。</a:t>
            </a:r>
          </a:p>
        </p:txBody>
      </p:sp>
      <p:sp>
        <p:nvSpPr>
          <p:cNvPr id="9" name="完成時：編譯完成，產生 sdk/hw2_demo/Debug/hw2_dem">
            <a:extLst xmlns:a="http://schemas.openxmlformats.org/drawingml/2006/main">
              <a:ext uri="{FF2B5EF4-FFF2-40B4-BE49-F238E27FC236}">
                <a16:creationId xmlns:a16="http://schemas.microsoft.com/office/drawing/2014/main" id="{496AC6FE-E23C-45E3-AFAE-DC131C8F2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8775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rPr>
              <a:t>完成時：編譯完成，產生 sdk/hw2_demo/Debug/hw2_demo.elf。</a:t>
            </a:r>
          </a:p>
        </p:txBody>
      </p:sp>
      <p:sp>
        <p:nvSpPr>
          <p:cNvPr id="10" name="17">
            <a:extLst xmlns:a="http://schemas.openxmlformats.org/drawingml/2006/main">
              <a:ext uri="{FF2B5EF4-FFF2-40B4-BE49-F238E27FC236}">
                <a16:creationId xmlns:a16="http://schemas.microsoft.com/office/drawing/2014/main" id="{C71C5BC4-61C0-47B3-9681-1B3D7E11A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436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30117351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DK 的 Program FPGA">
            <a:extLst xmlns:a="http://schemas.openxmlformats.org/drawingml/2006/main">
              <a:ext uri="{FF2B5EF4-FFF2-40B4-BE49-F238E27FC236}">
                <a16:creationId xmlns:a16="http://schemas.microsoft.com/office/drawing/2014/main" id="{BC137F15-4120-426B-90B2-D93DF7E9B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SDK 的 Program FPGA</a:t>
            </a:r>
          </a:p>
        </p:txBody>
      </p:sp>
      <p:sp>
        <p:nvSpPr>
          <p:cNvPr id="3" name="1. 開啟 FPGA 下載視窗">
            <a:extLst xmlns:a="http://schemas.openxmlformats.org/drawingml/2006/main">
              <a:ext uri="{FF2B5EF4-FFF2-40B4-BE49-F238E27FC236}">
                <a16:creationId xmlns:a16="http://schemas.microsoft.com/office/drawing/2014/main" id="{3BD3DF8A-29A2-4D38-92A4-75BE96A1A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531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1. 開啟 FPGA 下載視窗</a:t>
            </a:r>
          </a:p>
        </p:txBody>
      </p:sp>
      <p:sp>
        <p:nvSpPr>
          <p:cNvPr id="4" name="主選單 Xilinx，選 Program FPGA。本機 2018.3 的選">
            <a:extLst xmlns:a="http://schemas.openxmlformats.org/drawingml/2006/main">
              <a:ext uri="{FF2B5EF4-FFF2-40B4-BE49-F238E27FC236}">
                <a16:creationId xmlns:a16="http://schemas.microsoft.com/office/drawing/2014/main" id="{8C9CDFAD-90EA-4BCF-B45F-8B577C00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53149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主選單 Xilinx，選 Program FPGA。本機 2018.3 的選單名稱是 Xilinx。</a:t>
            </a:r>
          </a:p>
        </p:txBody>
      </p:sp>
      <p:sp>
        <p:nvSpPr>
          <p:cNvPr id="5" name="2. 確認 Bitstream">
            <a:extLst xmlns:a="http://schemas.openxmlformats.org/drawingml/2006/main">
              <a:ext uri="{FF2B5EF4-FFF2-40B4-BE49-F238E27FC236}">
                <a16:creationId xmlns:a16="http://schemas.microsoft.com/office/drawing/2014/main" id="{1D21F1B5-E57B-4B76-B8B2-0EF8AF66C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28925"/>
            <a:ext cx="531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2. 確認 Bitstream</a:t>
            </a:r>
          </a:p>
        </p:txBody>
      </p:sp>
      <p:sp>
        <p:nvSpPr>
          <p:cNvPr id="6" name="選 hw_platform，Bitstream 指向 C:\soc_hw2\">
            <a:extLst xmlns:a="http://schemas.openxmlformats.org/drawingml/2006/main">
              <a:ext uri="{FF2B5EF4-FFF2-40B4-BE49-F238E27FC236}">
                <a16:creationId xmlns:a16="http://schemas.microsoft.com/office/drawing/2014/main" id="{9F68B81D-B0F3-4014-8BD7-60E3C94E9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53149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選 hw_platform，Bitstream 指向 C:\soc_hw2\export\design_1_wrapper.bit，或同一 HDF 匯入後的平台內對應 BIT。</a:t>
            </a:r>
          </a:p>
        </p:txBody>
      </p:sp>
      <p:sp>
        <p:nvSpPr>
          <p:cNvPr id="7" name="3. 下載 PL 電路">
            <a:extLst xmlns:a="http://schemas.openxmlformats.org/drawingml/2006/main">
              <a:ext uri="{FF2B5EF4-FFF2-40B4-BE49-F238E27FC236}">
                <a16:creationId xmlns:a16="http://schemas.microsoft.com/office/drawing/2014/main" id="{E0C79D5C-73FD-4681-9482-A6C382D18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531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3. 下載 PL 電路</a:t>
            </a:r>
          </a:p>
        </p:txBody>
      </p:sp>
      <p:sp>
        <p:nvSpPr>
          <p:cNvPr id="8" name="目標應是這片 xc7z020，按 Program，等待成功。接下來仍需啟動 ">
            <a:extLst xmlns:a="http://schemas.openxmlformats.org/drawingml/2006/main">
              <a:ext uri="{FF2B5EF4-FFF2-40B4-BE49-F238E27FC236}">
                <a16:creationId xmlns:a16="http://schemas.microsoft.com/office/drawing/2014/main" id="{924BD893-9A13-4964-A8C8-B1616F5FA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531495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目標應是這片 xc7z020，按 Program，等待成功。接下來仍需啟動 ARM 程式。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338A9A-459D-4390-8FCD-A4236BF29FB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cff3274a834e42"/>
          <a:stretch xmlns:a="http://schemas.openxmlformats.org/drawingml/2006/main"/>
        </p:blipFill>
        <p:spPr>
          <a:xfrm xmlns:a="http://schemas.openxmlformats.org/drawingml/2006/main">
            <a:off x="7065352" y="1428750"/>
            <a:ext cx="3795346" cy="4191000"/>
          </a:xfrm>
          <a:prstGeom xmlns:a="http://schemas.openxmlformats.org/drawingml/2006/main" prst="rect">
            <a:avLst/>
          </a:prstGeom>
        </p:spPr>
      </p:pic>
      <p:sp>
        <p:nvSpPr>
          <p:cNvPr id="10" name="實際 Program FPGA 視窗。先確認平台與 BIT，再按 Progr">
            <a:extLst xmlns:a="http://schemas.openxmlformats.org/drawingml/2006/main">
              <a:ext uri="{FF2B5EF4-FFF2-40B4-BE49-F238E27FC236}">
                <a16:creationId xmlns:a16="http://schemas.microsoft.com/office/drawing/2014/main" id="{0B85AC04-7178-47B9-BD21-F9FB2B397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657850"/>
            <a:ext cx="5200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rPr>
              <a:t>實際 Program FPGA 視窗。先確認平台與 BIT，再按 Program。</a:t>
            </a:r>
          </a:p>
        </p:txBody>
      </p:sp>
      <p:sp>
        <p:nvSpPr>
          <p:cNvPr id="11" name="完成時：Program FPGA 完成且沒有錯誤。">
            <a:extLst xmlns:a="http://schemas.openxmlformats.org/drawingml/2006/main">
              <a:ext uri="{FF2B5EF4-FFF2-40B4-BE49-F238E27FC236}">
                <a16:creationId xmlns:a16="http://schemas.microsoft.com/office/drawing/2014/main" id="{80FE049C-7901-418A-BFE0-A0D0A9C28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8775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rPr>
              <a:t>完成時：Program FPGA 完成且沒有錯誤。</a:t>
            </a:r>
          </a:p>
        </p:txBody>
      </p:sp>
      <p:sp>
        <p:nvSpPr>
          <p:cNvPr id="12" name="18">
            <a:extLst xmlns:a="http://schemas.openxmlformats.org/drawingml/2006/main">
              <a:ext uri="{FF2B5EF4-FFF2-40B4-BE49-F238E27FC236}">
                <a16:creationId xmlns:a16="http://schemas.microsoft.com/office/drawing/2014/main" id="{0F63203B-2875-4ADD-A977-B5C16705F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436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30625675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DK Terminal 的開啟入口">
            <a:extLst xmlns:a="http://schemas.openxmlformats.org/drawingml/2006/main">
              <a:ext uri="{FF2B5EF4-FFF2-40B4-BE49-F238E27FC236}">
                <a16:creationId xmlns:a16="http://schemas.microsoft.com/office/drawing/2014/main" id="{22E12F64-B593-475B-8FC3-421B1F1CE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SDK Terminal 的開啟入口</a:t>
            </a:r>
          </a:p>
        </p:txBody>
      </p:sp>
      <p:sp>
        <p:nvSpPr>
          <p:cNvPr id="3" name="1. 顯示 SDK Terminal">
            <a:extLst xmlns:a="http://schemas.openxmlformats.org/drawingml/2006/main">
              <a:ext uri="{FF2B5EF4-FFF2-40B4-BE49-F238E27FC236}">
                <a16:creationId xmlns:a16="http://schemas.microsoft.com/office/drawing/2014/main" id="{B249CA79-C0FA-4E05-AAD9-E182DB7E6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531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1. 顯示 SDK Terminal</a:t>
            </a:r>
          </a:p>
        </p:txBody>
      </p:sp>
      <p:sp>
        <p:nvSpPr>
          <p:cNvPr id="4" name="選 Window、Show View、Other...，搜尋 SDK Ter">
            <a:extLst xmlns:a="http://schemas.openxmlformats.org/drawingml/2006/main">
              <a:ext uri="{FF2B5EF4-FFF2-40B4-BE49-F238E27FC236}">
                <a16:creationId xmlns:a16="http://schemas.microsoft.com/office/drawing/2014/main" id="{84B1C25F-5C8E-407F-A28F-913D0C730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53149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選 Window、Show View、Other...，搜尋 SDK Terminal，選它後按 OK。</a:t>
            </a:r>
          </a:p>
        </p:txBody>
      </p:sp>
      <p:sp>
        <p:nvSpPr>
          <p:cNvPr id="5" name="2. 開啟序列埠連線">
            <a:extLst xmlns:a="http://schemas.openxmlformats.org/drawingml/2006/main">
              <a:ext uri="{FF2B5EF4-FFF2-40B4-BE49-F238E27FC236}">
                <a16:creationId xmlns:a16="http://schemas.microsoft.com/office/drawing/2014/main" id="{DD54E691-A2BD-495B-BD76-A694D448F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28925"/>
            <a:ext cx="531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2. 開啟序列埠連線</a:t>
            </a:r>
          </a:p>
        </p:txBody>
      </p:sp>
      <p:sp>
        <p:nvSpPr>
          <p:cNvPr id="6" name="在 SDK Terminal 分頁右上角按加號或 Connect to Se">
            <a:extLst xmlns:a="http://schemas.openxmlformats.org/drawingml/2006/main">
              <a:ext uri="{FF2B5EF4-FFF2-40B4-BE49-F238E27FC236}">
                <a16:creationId xmlns:a16="http://schemas.microsoft.com/office/drawing/2014/main" id="{26BE31F2-8AEC-4DF2-8B43-33D4139CC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53149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在 SDK Terminal 分頁右上角按加號或 Connect to Serial Port 圖示。</a:t>
            </a:r>
          </a:p>
        </p:txBody>
      </p:sp>
      <p:sp>
        <p:nvSpPr>
          <p:cNvPr id="7" name="3. 準備填 COM 參數">
            <a:extLst xmlns:a="http://schemas.openxmlformats.org/drawingml/2006/main">
              <a:ext uri="{FF2B5EF4-FFF2-40B4-BE49-F238E27FC236}">
                <a16:creationId xmlns:a16="http://schemas.microsoft.com/office/drawing/2014/main" id="{E3073569-086E-4884-8E95-2CB9A3C46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531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3. 準備填 COM 參數</a:t>
            </a:r>
          </a:p>
        </p:txBody>
      </p:sp>
      <p:sp>
        <p:nvSpPr>
          <p:cNvPr id="8" name="下一頁使用裝置管理員剛剛記下的 COM 號，不直接沿用原電腦的 COM3。">
            <a:extLst xmlns:a="http://schemas.openxmlformats.org/drawingml/2006/main">
              <a:ext uri="{FF2B5EF4-FFF2-40B4-BE49-F238E27FC236}">
                <a16:creationId xmlns:a16="http://schemas.microsoft.com/office/drawing/2014/main" id="{AFE7E593-AC53-4F83-B062-27C10710E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531495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下一頁使用裝置管理員剛剛記下的 COM 號，不直接沿用原電腦的 COM3。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CB5280-2319-4173-AC83-CA7E646AB4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2182ce0a9b4a1d"/>
          <a:srcRect xmlns:a="http://schemas.openxmlformats.org/drawingml/2006/main" l="25500" t="74900" r="37400" b="3400"/>
          <a:stretch xmlns:a="http://schemas.openxmlformats.org/drawingml/2006/main"/>
        </p:blipFill>
        <p:spPr>
          <a:xfrm xmlns:a="http://schemas.openxmlformats.org/drawingml/2006/main">
            <a:off x="6343650" y="2371725"/>
            <a:ext cx="5238750" cy="2305050"/>
          </a:xfrm>
          <a:prstGeom xmlns:a="http://schemas.openxmlformats.org/drawingml/2006/main" prst="rect">
            <a:avLst/>
          </a:prstGeom>
        </p:spPr>
      </p:pic>
      <p:sp>
        <p:nvSpPr>
          <p:cNvPr id="10" name="SDK Terminal 的實際畫面放大。右上角綠色 + 用來新增序列埠。">
            <a:extLst xmlns:a="http://schemas.openxmlformats.org/drawingml/2006/main">
              <a:ext uri="{FF2B5EF4-FFF2-40B4-BE49-F238E27FC236}">
                <a16:creationId xmlns:a16="http://schemas.microsoft.com/office/drawing/2014/main" id="{6AD74412-1CDB-40E4-BD39-5AA857643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657850"/>
            <a:ext cx="5200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rPr>
              <a:t>SDK Terminal 的實際畫面放大。右上角綠色 + 用來新增序列埠。</a:t>
            </a:r>
          </a:p>
        </p:txBody>
      </p:sp>
      <p:sp>
        <p:nvSpPr>
          <p:cNvPr id="11" name="完成時：開啟 Connect to Serial Port 設定視窗。">
            <a:extLst xmlns:a="http://schemas.openxmlformats.org/drawingml/2006/main">
              <a:ext uri="{FF2B5EF4-FFF2-40B4-BE49-F238E27FC236}">
                <a16:creationId xmlns:a16="http://schemas.microsoft.com/office/drawing/2014/main" id="{028691AD-B2A6-4507-93B1-D114C7B11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8775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rPr>
              <a:t>完成時：開啟 Connect to Serial Port 設定視窗。</a:t>
            </a:r>
          </a:p>
        </p:txBody>
      </p:sp>
      <p:sp>
        <p:nvSpPr>
          <p:cNvPr id="12" name="19">
            <a:extLst xmlns:a="http://schemas.openxmlformats.org/drawingml/2006/main">
              <a:ext uri="{FF2B5EF4-FFF2-40B4-BE49-F238E27FC236}">
                <a16:creationId xmlns:a16="http://schemas.microsoft.com/office/drawing/2014/main" id="{D9BE647F-3ADA-4610-B115-6EFE01717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436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72026709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UART 的序列埠參數">
            <a:extLst xmlns:a="http://schemas.openxmlformats.org/drawingml/2006/main">
              <a:ext uri="{FF2B5EF4-FFF2-40B4-BE49-F238E27FC236}">
                <a16:creationId xmlns:a16="http://schemas.microsoft.com/office/drawing/2014/main" id="{C6A81938-8020-4376-B3E9-FB3D447CA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UART 的序列埠參數</a:t>
            </a:r>
          </a:p>
        </p:txBody>
      </p:sp>
      <p:sp>
        <p:nvSpPr>
          <p:cNvPr id="3" name="1. Port">
            <a:extLst xmlns:a="http://schemas.openxmlformats.org/drawingml/2006/main">
              <a:ext uri="{FF2B5EF4-FFF2-40B4-BE49-F238E27FC236}">
                <a16:creationId xmlns:a16="http://schemas.microsoft.com/office/drawing/2014/main" id="{4CB35494-7CA1-4D8E-B374-06404A512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531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1. Port</a:t>
            </a:r>
          </a:p>
        </p:txBody>
      </p:sp>
      <p:sp>
        <p:nvSpPr>
          <p:cNvPr id="4" name="選剛剛記下的 COM 編號，例如 COM5。">
            <a:extLst xmlns:a="http://schemas.openxmlformats.org/drawingml/2006/main">
              <a:ext uri="{FF2B5EF4-FFF2-40B4-BE49-F238E27FC236}">
                <a16:creationId xmlns:a16="http://schemas.microsoft.com/office/drawing/2014/main" id="{5E482DBE-C401-4145-B1FF-5FC98B882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53149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選剛剛記下的 COM 編號，例如 COM5。</a:t>
            </a:r>
          </a:p>
        </p:txBody>
      </p:sp>
      <p:sp>
        <p:nvSpPr>
          <p:cNvPr id="5" name="2. 其他欄位">
            <a:extLst xmlns:a="http://schemas.openxmlformats.org/drawingml/2006/main">
              <a:ext uri="{FF2B5EF4-FFF2-40B4-BE49-F238E27FC236}">
                <a16:creationId xmlns:a16="http://schemas.microsoft.com/office/drawing/2014/main" id="{1A47D849-3439-4970-B2B8-E79A648B2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28925"/>
            <a:ext cx="531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2. 其他欄位</a:t>
            </a:r>
          </a:p>
        </p:txBody>
      </p:sp>
      <p:sp>
        <p:nvSpPr>
          <p:cNvPr id="6" name="Baud Rate 填 115200，Data Bits 選 8，Parit">
            <a:extLst xmlns:a="http://schemas.openxmlformats.org/drawingml/2006/main">
              <a:ext uri="{FF2B5EF4-FFF2-40B4-BE49-F238E27FC236}">
                <a16:creationId xmlns:a16="http://schemas.microsoft.com/office/drawing/2014/main" id="{8CBDAA43-9B22-4669-8848-2DDE51BC3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53149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Baud Rate 填 115200，Data Bits 選 8，Parity 選 None，Stop Bits 選 1，Flow Control 選 None。</a:t>
            </a:r>
          </a:p>
        </p:txBody>
      </p:sp>
      <p:sp>
        <p:nvSpPr>
          <p:cNvPr id="7" name="3. 按 OK 連線">
            <a:extLst xmlns:a="http://schemas.openxmlformats.org/drawingml/2006/main">
              <a:ext uri="{FF2B5EF4-FFF2-40B4-BE49-F238E27FC236}">
                <a16:creationId xmlns:a16="http://schemas.microsoft.com/office/drawing/2014/main" id="{63CBBD9A-2F8C-44F0-A0E7-15AE98009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531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3. 按 OK 連線</a:t>
            </a:r>
          </a:p>
        </p:txBody>
      </p:sp>
      <p:sp>
        <p:nvSpPr>
          <p:cNvPr id="8" name="先連線再啟動程式，才能看見第一行 Ready 訊息。若埠忙碌，關閉其他占用它">
            <a:extLst xmlns:a="http://schemas.openxmlformats.org/drawingml/2006/main">
              <a:ext uri="{FF2B5EF4-FFF2-40B4-BE49-F238E27FC236}">
                <a16:creationId xmlns:a16="http://schemas.microsoft.com/office/drawing/2014/main" id="{F1247C8D-F4FE-47C2-A0C2-94A4CEE39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531495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先連線再啟動程式，才能看見第一行 Ready 訊息。若埠忙碌，關閉其他占用它的終端機。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AC056B-4CD0-4E4E-B131-2F8D5EAAC7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10b0f4f1aa4a76"/>
          <a:stretch xmlns:a="http://schemas.openxmlformats.org/drawingml/2006/main"/>
        </p:blipFill>
        <p:spPr>
          <a:xfrm xmlns:a="http://schemas.openxmlformats.org/drawingml/2006/main">
            <a:off x="7532948" y="1428750"/>
            <a:ext cx="2860153" cy="4191000"/>
          </a:xfrm>
          <a:prstGeom xmlns:a="http://schemas.openxmlformats.org/drawingml/2006/main" prst="rect">
            <a:avLst/>
          </a:prstGeom>
        </p:spPr>
      </p:pic>
      <p:sp>
        <p:nvSpPr>
          <p:cNvPr id="10" name="COM 號選新電腦實際顯示的序列埠，其他參數照圖。">
            <a:extLst xmlns:a="http://schemas.openxmlformats.org/drawingml/2006/main">
              <a:ext uri="{FF2B5EF4-FFF2-40B4-BE49-F238E27FC236}">
                <a16:creationId xmlns:a16="http://schemas.microsoft.com/office/drawing/2014/main" id="{E17A9435-C118-444A-99B2-A4C3D394A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657850"/>
            <a:ext cx="5200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rPr>
              <a:t>COM 號選新電腦實際顯示的序列埠，其他參數照圖。</a:t>
            </a:r>
          </a:p>
        </p:txBody>
      </p:sp>
      <p:sp>
        <p:nvSpPr>
          <p:cNvPr id="11" name="完成時：SDK Terminal 顯示已連線。現在空白也屬正常。">
            <a:extLst xmlns:a="http://schemas.openxmlformats.org/drawingml/2006/main">
              <a:ext uri="{FF2B5EF4-FFF2-40B4-BE49-F238E27FC236}">
                <a16:creationId xmlns:a16="http://schemas.microsoft.com/office/drawing/2014/main" id="{B6FEFA68-1FC9-46BF-8BB6-99C9261AD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8775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rPr>
              <a:t>完成時：SDK Terminal 顯示已連線。現在空白也屬正常。</a:t>
            </a:r>
          </a:p>
        </p:txBody>
      </p:sp>
      <p:sp>
        <p:nvSpPr>
          <p:cNvPr id="12" name="20">
            <a:extLst xmlns:a="http://schemas.openxmlformats.org/drawingml/2006/main">
              <a:ext uri="{FF2B5EF4-FFF2-40B4-BE49-F238E27FC236}">
                <a16:creationId xmlns:a16="http://schemas.microsoft.com/office/drawing/2014/main" id="{43FBAB2B-DD20-4618-920B-6FC76CAFD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436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53201658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ystem Debugger 的啟動設定">
            <a:extLst xmlns:a="http://schemas.openxmlformats.org/drawingml/2006/main">
              <a:ext uri="{FF2B5EF4-FFF2-40B4-BE49-F238E27FC236}">
                <a16:creationId xmlns:a16="http://schemas.microsoft.com/office/drawing/2014/main" id="{392992E2-0982-45B2-88E2-EFA1F06B1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System Debugger 的啟動設定</a:t>
            </a:r>
          </a:p>
        </p:txBody>
      </p:sp>
      <p:sp>
        <p:nvSpPr>
          <p:cNvPr id="3" name="1. 選取 hw2_demo">
            <a:extLst xmlns:a="http://schemas.openxmlformats.org/drawingml/2006/main">
              <a:ext uri="{FF2B5EF4-FFF2-40B4-BE49-F238E27FC236}">
                <a16:creationId xmlns:a16="http://schemas.microsoft.com/office/drawing/2014/main" id="{F1D9781A-67A8-47BF-9771-9C3C41C35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531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1. 選取 hw2_demo</a:t>
            </a:r>
          </a:p>
        </p:txBody>
      </p:sp>
      <p:sp>
        <p:nvSpPr>
          <p:cNvPr id="4" name="對專案按右鍵，選 Debug As、Debug Configurations">
            <a:extLst xmlns:a="http://schemas.openxmlformats.org/drawingml/2006/main">
              <a:ext uri="{FF2B5EF4-FFF2-40B4-BE49-F238E27FC236}">
                <a16:creationId xmlns:a16="http://schemas.microsoft.com/office/drawing/2014/main" id="{41F5EBC4-8130-49D1-A5EC-C86837592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53149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對專案按右鍵，選 Debug As、Debug Configurations...。</a:t>
            </a:r>
          </a:p>
        </p:txBody>
      </p:sp>
      <p:sp>
        <p:nvSpPr>
          <p:cNvPr id="5" name="2. 建立設定">
            <a:extLst xmlns:a="http://schemas.openxmlformats.org/drawingml/2006/main">
              <a:ext uri="{FF2B5EF4-FFF2-40B4-BE49-F238E27FC236}">
                <a16:creationId xmlns:a16="http://schemas.microsoft.com/office/drawing/2014/main" id="{DE87EF3A-4596-4CDF-9910-7E3C90A26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28925"/>
            <a:ext cx="531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2. 建立設定</a:t>
            </a:r>
          </a:p>
        </p:txBody>
      </p:sp>
      <p:sp>
        <p:nvSpPr>
          <p:cNvPr id="6" name="雙擊左側 Xilinx C/C++ application (System ">
            <a:extLst xmlns:a="http://schemas.openxmlformats.org/drawingml/2006/main">
              <a:ext uri="{FF2B5EF4-FFF2-40B4-BE49-F238E27FC236}">
                <a16:creationId xmlns:a16="http://schemas.microsoft.com/office/drawing/2014/main" id="{C3470F1D-9248-4AF6-A2D0-4B5C4E0C4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53149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雙擊左側 Xilinx C/C++ application (System Debugger)，SDK 會自動帶入目前專案。</a:t>
            </a:r>
          </a:p>
        </p:txBody>
      </p:sp>
      <p:sp>
        <p:nvSpPr>
          <p:cNvPr id="7" name="3. 確認產生的設定">
            <a:extLst xmlns:a="http://schemas.openxmlformats.org/drawingml/2006/main">
              <a:ext uri="{FF2B5EF4-FFF2-40B4-BE49-F238E27FC236}">
                <a16:creationId xmlns:a16="http://schemas.microsoft.com/office/drawing/2014/main" id="{2A5FF6B3-2235-4E02-A37A-09A5A089B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531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3. 確認產生的設定</a:t>
            </a:r>
          </a:p>
        </p:txBody>
      </p:sp>
      <p:sp>
        <p:nvSpPr>
          <p:cNvPr id="8" name="保留自動產生的名稱即可。先檢查後面兩頁的 Target Setup 與 Ap">
            <a:extLst xmlns:a="http://schemas.openxmlformats.org/drawingml/2006/main">
              <a:ext uri="{FF2B5EF4-FFF2-40B4-BE49-F238E27FC236}">
                <a16:creationId xmlns:a16="http://schemas.microsoft.com/office/drawing/2014/main" id="{4C3C6DFC-FF0A-4FD2-9562-8FF5D4CE0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531495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保留自動產生的名稱即可。先檢查後面兩頁的 Target Setup 與 Application，再按 Debug。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B92922-B184-4833-9AC1-3D29A91EB2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a31b8c1836473d"/>
          <a:srcRect xmlns:a="http://schemas.openxmlformats.org/drawingml/2006/main" l="38500" t="74800" r="22800" b="5200"/>
          <a:stretch xmlns:a="http://schemas.openxmlformats.org/drawingml/2006/main"/>
        </p:blipFill>
        <p:spPr>
          <a:xfrm xmlns:a="http://schemas.openxmlformats.org/drawingml/2006/main">
            <a:off x="6343650" y="2495550"/>
            <a:ext cx="5238750" cy="2057400"/>
          </a:xfrm>
          <a:prstGeom xmlns:a="http://schemas.openxmlformats.org/drawingml/2006/main" prst="rect">
            <a:avLst/>
          </a:prstGeom>
        </p:spPr>
      </p:pic>
      <p:sp>
        <p:nvSpPr>
          <p:cNvPr id="10" name="實際右鍵選單：最下方 Debug Configurations...。">
            <a:extLst xmlns:a="http://schemas.openxmlformats.org/drawingml/2006/main">
              <a:ext uri="{FF2B5EF4-FFF2-40B4-BE49-F238E27FC236}">
                <a16:creationId xmlns:a16="http://schemas.microsoft.com/office/drawing/2014/main" id="{888B3AA7-4A45-40CF-BFEF-0EC83D012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657850"/>
            <a:ext cx="5200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rPr>
              <a:t>實際右鍵選單：最下方 Debug Configurations...。</a:t>
            </a:r>
          </a:p>
        </p:txBody>
      </p:sp>
      <p:sp>
        <p:nvSpPr>
          <p:cNvPr id="11" name="完成時：左側出現 System Debugger using Debug_h">
            <a:extLst xmlns:a="http://schemas.openxmlformats.org/drawingml/2006/main">
              <a:ext uri="{FF2B5EF4-FFF2-40B4-BE49-F238E27FC236}">
                <a16:creationId xmlns:a16="http://schemas.microsoft.com/office/drawing/2014/main" id="{12C64A66-7140-4527-BD70-96C8B70DF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8775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rPr>
              <a:t>完成時：左側出現 System Debugger using Debug_hw2_demo.elf on Local。</a:t>
            </a:r>
          </a:p>
        </p:txBody>
      </p:sp>
      <p:sp>
        <p:nvSpPr>
          <p:cNvPr id="12" name="21">
            <a:extLst xmlns:a="http://schemas.openxmlformats.org/drawingml/2006/main">
              <a:ext uri="{FF2B5EF4-FFF2-40B4-BE49-F238E27FC236}">
                <a16:creationId xmlns:a16="http://schemas.microsoft.com/office/drawing/2014/main" id="{AE95FB47-7D18-4B27-8C8E-89DD90880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436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52980348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ebugger 的 Target Setup">
            <a:extLst xmlns:a="http://schemas.openxmlformats.org/drawingml/2006/main">
              <a:ext uri="{FF2B5EF4-FFF2-40B4-BE49-F238E27FC236}">
                <a16:creationId xmlns:a16="http://schemas.microsoft.com/office/drawing/2014/main" id="{FB98DAAC-C9CC-4A41-A97B-B8ED1E65B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Debugger 的 Target Setup</a:t>
            </a:r>
          </a:p>
        </p:txBody>
      </p:sp>
      <p:sp>
        <p:nvSpPr>
          <p:cNvPr id="3" name="1. 選硬體啟動模式">
            <a:extLst xmlns:a="http://schemas.openxmlformats.org/drawingml/2006/main">
              <a:ext uri="{FF2B5EF4-FFF2-40B4-BE49-F238E27FC236}">
                <a16:creationId xmlns:a16="http://schemas.microsoft.com/office/drawing/2014/main" id="{B5334803-6728-4BB5-85CD-4B8DEA73D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531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1. 選硬體啟動模式</a:t>
            </a:r>
          </a:p>
        </p:txBody>
      </p:sp>
      <p:sp>
        <p:nvSpPr>
          <p:cNvPr id="4" name="Debug Type 選 Standalone Application De">
            <a:extLst xmlns:a="http://schemas.openxmlformats.org/drawingml/2006/main">
              <a:ext uri="{FF2B5EF4-FFF2-40B4-BE49-F238E27FC236}">
                <a16:creationId xmlns:a16="http://schemas.microsoft.com/office/drawing/2014/main" id="{2509B13C-DAB1-497C-B528-C142811FA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53149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Debug Type 選 Standalone Application Debug，Connection 選 Local，Hardware Platform 選 hw_platform。</a:t>
            </a:r>
          </a:p>
        </p:txBody>
      </p:sp>
      <p:sp>
        <p:nvSpPr>
          <p:cNvPr id="5" name="2. 勾選四個初始化選項">
            <a:extLst xmlns:a="http://schemas.openxmlformats.org/drawingml/2006/main">
              <a:ext uri="{FF2B5EF4-FFF2-40B4-BE49-F238E27FC236}">
                <a16:creationId xmlns:a16="http://schemas.microsoft.com/office/drawing/2014/main" id="{7547B6B4-C7D3-4775-98CA-19628326F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28925"/>
            <a:ext cx="531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2. 勾選四個初始化選項</a:t>
            </a:r>
          </a:p>
        </p:txBody>
      </p:sp>
      <p:sp>
        <p:nvSpPr>
          <p:cNvPr id="6" name="Reset entire system、Program FPGA、Run p">
            <a:extLst xmlns:a="http://schemas.openxmlformats.org/drawingml/2006/main">
              <a:ext uri="{FF2B5EF4-FFF2-40B4-BE49-F238E27FC236}">
                <a16:creationId xmlns:a16="http://schemas.microsoft.com/office/drawing/2014/main" id="{9C2E5E0A-8C2C-4DD1-8246-5D0A5EDED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53149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Reset entire system、Program FPGA、Run ps7_init、Run ps7_post_config。</a:t>
            </a:r>
          </a:p>
        </p:txBody>
      </p:sp>
      <p:sp>
        <p:nvSpPr>
          <p:cNvPr id="7" name="3. 確認檔案">
            <a:extLst xmlns:a="http://schemas.openxmlformats.org/drawingml/2006/main">
              <a:ext uri="{FF2B5EF4-FFF2-40B4-BE49-F238E27FC236}">
                <a16:creationId xmlns:a16="http://schemas.microsoft.com/office/drawing/2014/main" id="{AFDF7452-EF32-4166-8B06-F91ABBCB0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531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3. 確認檔案</a:t>
            </a:r>
          </a:p>
        </p:txBody>
      </p:sp>
      <p:sp>
        <p:nvSpPr>
          <p:cNvPr id="8" name="Bitstream File 是 design_1_wrapper.bit，">
            <a:extLst xmlns:a="http://schemas.openxmlformats.org/drawingml/2006/main">
              <a:ext uri="{FF2B5EF4-FFF2-40B4-BE49-F238E27FC236}">
                <a16:creationId xmlns:a16="http://schemas.microsoft.com/office/drawing/2014/main" id="{57BEC5FE-9950-4D29-9674-E1477A0DA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531495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Bitstream File 是 design_1_wrapper.bit，Initialization File 是 hw_platform 的 ps7_init.tcl。FPGA／PS Device 保留 Auto Detect。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0A57F6-ED4F-4F5A-9F76-EB36444D804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4d9f94fdbc4cdb"/>
          <a:srcRect xmlns:a="http://schemas.openxmlformats.org/drawingml/2006/main" l="25200" t="61800" r="61900" b="23900"/>
          <a:stretch xmlns:a="http://schemas.openxmlformats.org/drawingml/2006/main"/>
        </p:blipFill>
        <p:spPr>
          <a:xfrm xmlns:a="http://schemas.openxmlformats.org/drawingml/2006/main">
            <a:off x="6343650" y="2185988"/>
            <a:ext cx="5238750" cy="2676525"/>
          </a:xfrm>
          <a:prstGeom xmlns:a="http://schemas.openxmlformats.org/drawingml/2006/main" prst="rect">
            <a:avLst/>
          </a:prstGeom>
        </p:spPr>
      </p:pic>
      <p:sp>
        <p:nvSpPr>
          <p:cNvPr id="10" name="實際選項放大：四項全部勾選。">
            <a:extLst xmlns:a="http://schemas.openxmlformats.org/drawingml/2006/main">
              <a:ext uri="{FF2B5EF4-FFF2-40B4-BE49-F238E27FC236}">
                <a16:creationId xmlns:a16="http://schemas.microsoft.com/office/drawing/2014/main" id="{9D98F78C-26A7-484C-829E-C230384AC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657850"/>
            <a:ext cx="5200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rPr>
              <a:t>實際選項放大：四項全部勾選。</a:t>
            </a:r>
          </a:p>
        </p:txBody>
      </p:sp>
      <p:sp>
        <p:nvSpPr>
          <p:cNvPr id="11" name="完成時：四項全部勾選，Enable Cross-Triggering 保持未">
            <a:extLst xmlns:a="http://schemas.openxmlformats.org/drawingml/2006/main">
              <a:ext uri="{FF2B5EF4-FFF2-40B4-BE49-F238E27FC236}">
                <a16:creationId xmlns:a16="http://schemas.microsoft.com/office/drawing/2014/main" id="{A72537EA-3631-4353-8A43-464FDA4A9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8775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rPr>
              <a:t>完成時：四項全部勾選，Enable Cross-Triggering 保持未勾。</a:t>
            </a:r>
          </a:p>
        </p:txBody>
      </p:sp>
      <p:sp>
        <p:nvSpPr>
          <p:cNvPr id="12" name="22">
            <a:extLst xmlns:a="http://schemas.openxmlformats.org/drawingml/2006/main">
              <a:ext uri="{FF2B5EF4-FFF2-40B4-BE49-F238E27FC236}">
                <a16:creationId xmlns:a16="http://schemas.microsoft.com/office/drawing/2014/main" id="{CF557544-53C2-4699-8293-C815DF7D4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436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70823548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ebugger 的應用程式下載">
            <a:extLst xmlns:a="http://schemas.openxmlformats.org/drawingml/2006/main">
              <a:ext uri="{FF2B5EF4-FFF2-40B4-BE49-F238E27FC236}">
                <a16:creationId xmlns:a16="http://schemas.microsoft.com/office/drawing/2014/main" id="{C35A964D-145B-4B28-903A-35B353DAD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Debugger 的應用程式下載</a:t>
            </a:r>
          </a:p>
        </p:txBody>
      </p:sp>
      <p:sp>
        <p:nvSpPr>
          <p:cNvPr id="3" name="1. 打開 Application 分頁">
            <a:extLst xmlns:a="http://schemas.openxmlformats.org/drawingml/2006/main">
              <a:ext uri="{FF2B5EF4-FFF2-40B4-BE49-F238E27FC236}">
                <a16:creationId xmlns:a16="http://schemas.microsoft.com/office/drawing/2014/main" id="{B4B4A810-9EB6-4F2C-9BBA-6F54CEC8F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531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1. 打開 Application 分頁</a:t>
            </a:r>
          </a:p>
        </p:txBody>
      </p:sp>
      <p:sp>
        <p:nvSpPr>
          <p:cNvPr id="4" name="Summary 只勾 ps7_cortexa9_0 這列的 Download">
            <a:extLst xmlns:a="http://schemas.openxmlformats.org/drawingml/2006/main">
              <a:ext uri="{FF2B5EF4-FFF2-40B4-BE49-F238E27FC236}">
                <a16:creationId xmlns:a16="http://schemas.microsoft.com/office/drawing/2014/main" id="{7262BEA1-70B0-4D84-93D3-25B5D4D32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53149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Summary 只勾 ps7_cortexa9_0 這列的 Download。ps7_cortexa9_1 保持未勾。</a:t>
            </a:r>
          </a:p>
        </p:txBody>
      </p:sp>
      <p:sp>
        <p:nvSpPr>
          <p:cNvPr id="5" name="2. 確認專案與 ELF">
            <a:extLst xmlns:a="http://schemas.openxmlformats.org/drawingml/2006/main">
              <a:ext uri="{FF2B5EF4-FFF2-40B4-BE49-F238E27FC236}">
                <a16:creationId xmlns:a16="http://schemas.microsoft.com/office/drawing/2014/main" id="{18D44B82-F330-4F61-96C8-6BD1C8700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28925"/>
            <a:ext cx="531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2. 確認專案與 ELF</a:t>
            </a:r>
          </a:p>
        </p:txBody>
      </p:sp>
      <p:sp>
        <p:nvSpPr>
          <p:cNvPr id="6" name="Project Name 是 hw2_demo，Application 是 ">
            <a:extLst xmlns:a="http://schemas.openxmlformats.org/drawingml/2006/main">
              <a:ext uri="{FF2B5EF4-FFF2-40B4-BE49-F238E27FC236}">
                <a16:creationId xmlns:a16="http://schemas.microsoft.com/office/drawing/2014/main" id="{1C148452-EDBC-443E-B5BD-E7025D709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53149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Project Name 是 hw2_demo，Application 是 Debug/hw2_demo.elf。保留上方 Stop at 'main'。</a:t>
            </a:r>
          </a:p>
        </p:txBody>
      </p:sp>
      <p:sp>
        <p:nvSpPr>
          <p:cNvPr id="7" name="3. 儲存並啟動">
            <a:extLst xmlns:a="http://schemas.openxmlformats.org/drawingml/2006/main">
              <a:ext uri="{FF2B5EF4-FFF2-40B4-BE49-F238E27FC236}">
                <a16:creationId xmlns:a16="http://schemas.microsoft.com/office/drawing/2014/main" id="{0B67EA3B-C694-4DB5-9BBC-B237745E7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531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3. 儲存並啟動</a:t>
            </a:r>
          </a:p>
        </p:txBody>
      </p:sp>
      <p:sp>
        <p:nvSpPr>
          <p:cNvPr id="8" name="按 Apply，再按 Debug。若詢問是否切換 Debug perspec">
            <a:extLst xmlns:a="http://schemas.openxmlformats.org/drawingml/2006/main">
              <a:ext uri="{FF2B5EF4-FFF2-40B4-BE49-F238E27FC236}">
                <a16:creationId xmlns:a16="http://schemas.microsoft.com/office/drawing/2014/main" id="{8F039787-B55F-4D46-92E1-DDF76B667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531495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按 Apply，再按 Debug。若詢問是否切換 Debug perspective，按 Yes。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C3018B-E494-4F18-A657-D4B0E283F0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19e1de6ce74010"/>
          <a:srcRect xmlns:a="http://schemas.openxmlformats.org/drawingml/2006/main" l="25300" t="30100" r="60700" b="59800"/>
          <a:stretch xmlns:a="http://schemas.openxmlformats.org/drawingml/2006/main"/>
        </p:blipFill>
        <p:spPr>
          <a:xfrm xmlns:a="http://schemas.openxmlformats.org/drawingml/2006/main">
            <a:off x="6343650" y="2647950"/>
            <a:ext cx="5238750" cy="1752600"/>
          </a:xfrm>
          <a:prstGeom xmlns:a="http://schemas.openxmlformats.org/drawingml/2006/main" prst="rect">
            <a:avLst/>
          </a:prstGeom>
        </p:spPr>
      </p:pic>
      <p:sp>
        <p:nvSpPr>
          <p:cNvPr id="10" name="實際 Summary 放大：只下載到 ps7_cortexa9_0。">
            <a:extLst xmlns:a="http://schemas.openxmlformats.org/drawingml/2006/main">
              <a:ext uri="{FF2B5EF4-FFF2-40B4-BE49-F238E27FC236}">
                <a16:creationId xmlns:a16="http://schemas.microsoft.com/office/drawing/2014/main" id="{56D18900-43EB-4ED2-9CAE-26A29BABA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657850"/>
            <a:ext cx="5200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rPr>
              <a:t>實際 Summary 放大：只下載到 ps7_cortexa9_0。</a:t>
            </a:r>
          </a:p>
        </p:txBody>
      </p:sp>
      <p:sp>
        <p:nvSpPr>
          <p:cNvPr id="11" name="完成時：Debug 視窗出現 ARM Cortex-A9 #0。">
            <a:extLst xmlns:a="http://schemas.openxmlformats.org/drawingml/2006/main">
              <a:ext uri="{FF2B5EF4-FFF2-40B4-BE49-F238E27FC236}">
                <a16:creationId xmlns:a16="http://schemas.microsoft.com/office/drawing/2014/main" id="{3EA173CA-C60C-4618-8776-55C5314E6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8775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rPr>
              <a:t>完成時：Debug 視窗出現 ARM Cortex-A9 #0。</a:t>
            </a:r>
          </a:p>
        </p:txBody>
      </p:sp>
      <p:sp>
        <p:nvSpPr>
          <p:cNvPr id="12" name="23">
            <a:extLst xmlns:a="http://schemas.openxmlformats.org/drawingml/2006/main">
              <a:ext uri="{FF2B5EF4-FFF2-40B4-BE49-F238E27FC236}">
                <a16:creationId xmlns:a16="http://schemas.microsoft.com/office/drawing/2014/main" id="{0A072F12-98F7-44FD-A254-36CC83D3D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436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22290520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程式停在 main 時的操作">
            <a:extLst xmlns:a="http://schemas.openxmlformats.org/drawingml/2006/main">
              <a:ext uri="{FF2B5EF4-FFF2-40B4-BE49-F238E27FC236}">
                <a16:creationId xmlns:a16="http://schemas.microsoft.com/office/drawing/2014/main" id="{375D7E94-5CEE-490C-B9C6-FCED62CB5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程式停在 main 時的操作</a:t>
            </a:r>
          </a:p>
        </p:txBody>
      </p:sp>
      <p:sp>
        <p:nvSpPr>
          <p:cNvPr id="3" name="1. 檢查處理器狀態">
            <a:extLst xmlns:a="http://schemas.openxmlformats.org/drawingml/2006/main">
              <a:ext uri="{FF2B5EF4-FFF2-40B4-BE49-F238E27FC236}">
                <a16:creationId xmlns:a16="http://schemas.microsoft.com/office/drawing/2014/main" id="{798547A8-FDAE-4865-B608-4A1B9737D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1. 檢查處理器狀態</a:t>
            </a:r>
          </a:p>
        </p:txBody>
      </p:sp>
      <p:sp>
        <p:nvSpPr>
          <p:cNvPr id="4" name="若 Debug 視窗顯示 Suspended，且編輯器停在 main，這是除">
            <a:extLst xmlns:a="http://schemas.openxmlformats.org/drawingml/2006/main">
              <a:ext uri="{FF2B5EF4-FFF2-40B4-BE49-F238E27FC236}">
                <a16:creationId xmlns:a16="http://schemas.microsoft.com/office/drawing/2014/main" id="{992AB1CB-2EED-4508-8C63-C76CBC921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若 Debug 視窗顯示 Suspended，且編輯器停在 main，這是除錯器暫停。</a:t>
            </a:r>
          </a:p>
        </p:txBody>
      </p:sp>
      <p:sp>
        <p:nvSpPr>
          <p:cNvPr id="5" name="2. 繼續執行">
            <a:extLst xmlns:a="http://schemas.openxmlformats.org/drawingml/2006/main">
              <a:ext uri="{FF2B5EF4-FFF2-40B4-BE49-F238E27FC236}">
                <a16:creationId xmlns:a16="http://schemas.microsoft.com/office/drawing/2014/main" id="{F900BED3-B01F-4163-947C-E781937F9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289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2. 繼續執行</a:t>
            </a:r>
          </a:p>
        </p:txBody>
      </p:sp>
      <p:sp>
        <p:nvSpPr>
          <p:cNvPr id="6" name="選 ARM Cortex-A9 #0，按上方 Resume 綠色圖示，或鍵盤">
            <a:extLst xmlns:a="http://schemas.openxmlformats.org/drawingml/2006/main">
              <a:ext uri="{FF2B5EF4-FFF2-40B4-BE49-F238E27FC236}">
                <a16:creationId xmlns:a16="http://schemas.microsoft.com/office/drawing/2014/main" id="{9944E8F1-89FB-4DE0-8AD2-15CFEDDCB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選 ARM Cortex-A9 #0，按上方 Resume 綠色圖示，或鍵盤 F8。</a:t>
            </a:r>
          </a:p>
        </p:txBody>
      </p:sp>
      <p:sp>
        <p:nvSpPr>
          <p:cNvPr id="7" name="3. 觀察板子與 Terminal">
            <a:extLst xmlns:a="http://schemas.openxmlformats.org/drawingml/2006/main">
              <a:ext uri="{FF2B5EF4-FFF2-40B4-BE49-F238E27FC236}">
                <a16:creationId xmlns:a16="http://schemas.microsoft.com/office/drawing/2014/main" id="{8E55062F-D062-4200-8B49-0F9EE881F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3. 觀察板子與 Terminal</a:t>
            </a:r>
          </a:p>
        </p:txBody>
      </p:sp>
      <p:sp>
        <p:nvSpPr>
          <p:cNvPr id="8" name="LED 應從 1 開始，每 0.5 秒加 1。SDK Terminal 應出">
            <a:extLst xmlns:a="http://schemas.openxmlformats.org/drawingml/2006/main">
              <a:ext uri="{FF2B5EF4-FFF2-40B4-BE49-F238E27FC236}">
                <a16:creationId xmlns:a16="http://schemas.microsoft.com/office/drawing/2014/main" id="{5CC758E7-BE97-47B3-9E60-4202BCAE7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109728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LED 應從 1 開始，每 0.5 秒加 1。SDK Terminal 應出現 Ready 訊息。</a:t>
            </a:r>
          </a:p>
        </p:txBody>
      </p:sp>
      <p:sp>
        <p:nvSpPr>
          <p:cNvPr id="9" name="完成時：LED 持續變化，CPU #0 為 Running。">
            <a:extLst xmlns:a="http://schemas.openxmlformats.org/drawingml/2006/main">
              <a:ext uri="{FF2B5EF4-FFF2-40B4-BE49-F238E27FC236}">
                <a16:creationId xmlns:a16="http://schemas.microsoft.com/office/drawing/2014/main" id="{44E13642-AC93-4B6C-A499-D34D3D13D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8775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rPr>
              <a:t>完成時：LED 持續變化，CPU #0 為 Running。</a:t>
            </a:r>
          </a:p>
        </p:txBody>
      </p:sp>
      <p:sp>
        <p:nvSpPr>
          <p:cNvPr id="10" name="24">
            <a:extLst xmlns:a="http://schemas.openxmlformats.org/drawingml/2006/main">
              <a:ext uri="{FF2B5EF4-FFF2-40B4-BE49-F238E27FC236}">
                <a16:creationId xmlns:a16="http://schemas.microsoft.com/office/drawing/2014/main" id="{CB6061F1-6D6F-46A5-8F47-A0D801A76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436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3826467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6 按鈕的實際位置">
            <a:extLst xmlns:a="http://schemas.openxmlformats.org/drawingml/2006/main">
              <a:ext uri="{FF2B5EF4-FFF2-40B4-BE49-F238E27FC236}">
                <a16:creationId xmlns:a16="http://schemas.microsoft.com/office/drawing/2014/main" id="{657A16B4-0B86-44F0-B34B-91422DB7D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S6 按鈕的實際位置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4B94C4-918A-4055-BB13-D472B20295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c0ece8aa5c4bbc"/>
          <a:stretch xmlns:a="http://schemas.openxmlformats.org/drawingml/2006/main"/>
        </p:blipFill>
        <p:spPr>
          <a:xfrm xmlns:a="http://schemas.openxmlformats.org/drawingml/2006/main">
            <a:off x="6517400" y="1428750"/>
            <a:ext cx="4872199" cy="4667250"/>
          </a:xfrm>
          <a:prstGeom xmlns:a="http://schemas.openxmlformats.org/drawingml/2006/main" prst="rect">
            <a:avLst/>
          </a:prstGeom>
        </p:spPr>
      </p:pic>
      <p:sp>
        <p:nvSpPr>
          <p:cNvPr id="4" name="1. 找到 A10 貼紙">
            <a:extLst xmlns:a="http://schemas.openxmlformats.org/drawingml/2006/main">
              <a:ext uri="{FF2B5EF4-FFF2-40B4-BE49-F238E27FC236}">
                <a16:creationId xmlns:a16="http://schemas.microsoft.com/office/drawing/2014/main" id="{8C3194FA-701C-409B-BD27-17DB3B7FF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5391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1. 找到 A10 貼紙</a:t>
            </a:r>
          </a:p>
        </p:txBody>
      </p:sp>
      <p:sp>
        <p:nvSpPr>
          <p:cNvPr id="5" name="照片的 A10 貼紙左側有一組十字排列的白色按鈕。">
            <a:extLst xmlns:a="http://schemas.openxmlformats.org/drawingml/2006/main">
              <a:ext uri="{FF2B5EF4-FFF2-40B4-BE49-F238E27FC236}">
                <a16:creationId xmlns:a16="http://schemas.microsoft.com/office/drawing/2014/main" id="{A108D1F9-B582-4DCE-A3AE-F66FECB1A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53911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照片的 A10 貼紙左側有一組十字排列的白色按鈕。</a:t>
            </a:r>
          </a:p>
        </p:txBody>
      </p:sp>
      <p:sp>
        <p:nvSpPr>
          <p:cNvPr id="6" name="2. 按中央 S6">
            <a:extLst xmlns:a="http://schemas.openxmlformats.org/drawingml/2006/main">
              <a:ext uri="{FF2B5EF4-FFF2-40B4-BE49-F238E27FC236}">
                <a16:creationId xmlns:a16="http://schemas.microsoft.com/office/drawing/2014/main" id="{4A382F2C-F3BD-47B1-B36D-BB37173BA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5391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2. 按中央 S6</a:t>
            </a:r>
          </a:p>
        </p:txBody>
      </p:sp>
      <p:sp>
        <p:nvSpPr>
          <p:cNvPr id="7" name="十字正中央是 S6。按一下再放開，觀察板子最下方那排 LED。">
            <a:extLst xmlns:a="http://schemas.openxmlformats.org/drawingml/2006/main">
              <a:ext uri="{FF2B5EF4-FFF2-40B4-BE49-F238E27FC236}">
                <a16:creationId xmlns:a16="http://schemas.microsoft.com/office/drawing/2014/main" id="{93BF4674-F151-4115-9EF9-7BA4278D5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53911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十字正中央是 S6。按一下再放開，觀察板子最下方那排 LED。</a:t>
            </a:r>
          </a:p>
        </p:txBody>
      </p:sp>
      <p:sp>
        <p:nvSpPr>
          <p:cNvPr id="8" name="3. 確認動作">
            <a:extLst xmlns:a="http://schemas.openxmlformats.org/drawingml/2006/main">
              <a:ext uri="{FF2B5EF4-FFF2-40B4-BE49-F238E27FC236}">
                <a16:creationId xmlns:a16="http://schemas.microsoft.com/office/drawing/2014/main" id="{E43F46CE-40ED-485D-88C7-0C7C28E5B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5391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3. 確認動作</a:t>
            </a:r>
          </a:p>
        </p:txBody>
      </p:sp>
      <p:sp>
        <p:nvSpPr>
          <p:cNvPr id="9" name="LED 應熄滅約兩秒，再從 1 重新計數。可再按一次重複確認。">
            <a:extLst xmlns:a="http://schemas.openxmlformats.org/drawingml/2006/main">
              <a:ext uri="{FF2B5EF4-FFF2-40B4-BE49-F238E27FC236}">
                <a16:creationId xmlns:a16="http://schemas.microsoft.com/office/drawing/2014/main" id="{BB0E1D8A-1A89-44A8-B6CF-C8B0B258A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53911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LED 應熄滅約兩秒，再從 1 重新計數。可再按一次重複確認。</a:t>
            </a:r>
          </a:p>
        </p:txBody>
      </p:sp>
      <p:sp>
        <p:nvSpPr>
          <p:cNvPr id="10" name="完成時：S6 有效後，LED 熄滅約兩秒，再從 1 計數。">
            <a:extLst xmlns:a="http://schemas.openxmlformats.org/drawingml/2006/main">
              <a:ext uri="{FF2B5EF4-FFF2-40B4-BE49-F238E27FC236}">
                <a16:creationId xmlns:a16="http://schemas.microsoft.com/office/drawing/2014/main" id="{3B15036E-5542-44CA-B049-5F653C28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8775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rPr>
              <a:t>完成時：S6 有效後，LED 熄滅約兩秒，再從 1 計數。</a:t>
            </a:r>
          </a:p>
        </p:txBody>
      </p:sp>
      <p:sp>
        <p:nvSpPr>
          <p:cNvPr id="11" name="25">
            <a:extLst xmlns:a="http://schemas.openxmlformats.org/drawingml/2006/main">
              <a:ext uri="{FF2B5EF4-FFF2-40B4-BE49-F238E27FC236}">
                <a16:creationId xmlns:a16="http://schemas.microsoft.com/office/drawing/2014/main" id="{73528ACB-EB74-42CE-AF73-7E8198101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436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51429062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正確的 UART 訊息">
            <a:extLst xmlns:a="http://schemas.openxmlformats.org/drawingml/2006/main">
              <a:ext uri="{FF2B5EF4-FFF2-40B4-BE49-F238E27FC236}">
                <a16:creationId xmlns:a16="http://schemas.microsoft.com/office/drawing/2014/main" id="{315A32AD-22FF-4AC3-B2BA-9CC729DD6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正確的 UART 訊息</a:t>
            </a:r>
          </a:p>
        </p:txBody>
      </p:sp>
      <p:sp>
        <p:nvSpPr>
          <p:cNvPr id="3" name="這是本次成功上板留下的實際紀錄。另一台正常執行時，應出現同類型訊息。">
            <a:extLst xmlns:a="http://schemas.openxmlformats.org/drawingml/2006/main">
              <a:ext uri="{FF2B5EF4-FFF2-40B4-BE49-F238E27FC236}">
                <a16:creationId xmlns:a16="http://schemas.microsoft.com/office/drawing/2014/main" id="{5A277E05-C890-4845-812F-03B65D725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這是本次成功上板留下的實際紀錄。另一台正常執行時，應出現同類型訊息。</a:t>
            </a:r>
          </a:p>
        </p:txBody>
      </p:sp>
      <p:sp>
        <p:nvSpPr>
          <p:cNvPr id="4" name="Ready: GPIO IRQ 61; LED=1; count every">
            <a:extLst xmlns:a="http://schemas.openxmlformats.org/drawingml/2006/main">
              <a:ext uri="{FF2B5EF4-FFF2-40B4-BE49-F238E27FC236}">
                <a16:creationId xmlns:a16="http://schemas.microsoft.com/office/drawing/2014/main" id="{C2E982EE-3258-4DF6-BFDA-E3DF790B4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105727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183E50"/>
                </a:solidFill>
                <a:latin typeface="Consolas"/>
                <a:ea typeface="Consolas"/>
                <a:cs typeface="Consolas"/>
              </a:defRPr>
            </a:defPPr>
            <a:lvl1pPr>
              <a:defRPr sz="1875" b="0">
                <a:solidFill>
                  <a:srgbClr val="183E50"/>
                </a:solidFill>
                <a:latin typeface="Consolas"/>
                <a:ea typeface="Consolas"/>
                <a:cs typeface="Consolas"/>
              </a:defRPr>
            </a:lvl1pPr>
            <a:lvl2pPr>
              <a:defRPr sz="1875" b="0">
                <a:solidFill>
                  <a:srgbClr val="183E50"/>
                </a:solidFill>
                <a:latin typeface="Consolas"/>
                <a:ea typeface="Consolas"/>
                <a:cs typeface="Consolas"/>
              </a:defRPr>
            </a:lvl2pPr>
            <a:lvl3pPr>
              <a:defRPr sz="1875" b="0">
                <a:solidFill>
                  <a:srgbClr val="183E50"/>
                </a:solidFill>
                <a:latin typeface="Consolas"/>
                <a:ea typeface="Consolas"/>
                <a:cs typeface="Consolas"/>
              </a:defRPr>
            </a:lvl3pPr>
            <a:lvl4pPr>
              <a:defRPr sz="1875" b="0">
                <a:solidFill>
                  <a:srgbClr val="183E50"/>
                </a:solidFill>
                <a:latin typeface="Consolas"/>
                <a:ea typeface="Consolas"/>
                <a:cs typeface="Consolas"/>
              </a:defRPr>
            </a:lvl4pPr>
            <a:lvl5pPr>
              <a:defRPr sz="1875" b="0">
                <a:solidFill>
                  <a:srgbClr val="183E50"/>
                </a:solidFill>
                <a:latin typeface="Consolas"/>
                <a:ea typeface="Consolas"/>
                <a:cs typeface="Consolas"/>
              </a:defRPr>
            </a:lvl5pPr>
            <a:lvl6pPr>
              <a:defRPr sz="1875" b="0">
                <a:solidFill>
                  <a:srgbClr val="183E50"/>
                </a:solidFill>
                <a:latin typeface="Consolas"/>
                <a:ea typeface="Consolas"/>
                <a:cs typeface="Consolas"/>
              </a:defRPr>
            </a:lvl6pPr>
            <a:lvl7pPr>
              <a:defRPr sz="1875" b="0">
                <a:solidFill>
                  <a:srgbClr val="183E50"/>
                </a:solidFill>
                <a:latin typeface="Consolas"/>
                <a:ea typeface="Consolas"/>
                <a:cs typeface="Consolas"/>
              </a:defRPr>
            </a:lvl7pPr>
            <a:lvl8pPr>
              <a:defRPr sz="1875" b="0">
                <a:solidFill>
                  <a:srgbClr val="183E50"/>
                </a:solidFill>
                <a:latin typeface="Consolas"/>
                <a:ea typeface="Consolas"/>
                <a:cs typeface="Consolas"/>
              </a:defRPr>
            </a:lvl8pPr>
            <a:lvl9pPr>
              <a:defRPr sz="1875" b="0">
                <a:solidFill>
                  <a:srgbClr val="183E50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E5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E50"/>
                </a:solidFill>
                <a:latin typeface="Consolas"/>
                <a:ea typeface="Consolas"/>
                <a:cs typeface="Consolas"/>
              </a:rPr>
              <a:t>Ready: GPIO IRQ 61; LED=1; count every 500 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83E5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E50"/>
                </a:solidFill>
                <a:latin typeface="Consolas"/>
                <a:ea typeface="Consolas"/>
                <a:cs typeface="Consolas"/>
              </a:rPr>
              <a:t>BUTTON=0x01: LED=0, pause 2 s (IRQ events 1).</a:t>
            </a:r>
          </a:p>
          <a:p xmlns:a="http://schemas.openxmlformats.org/drawingml/2006/main">
            <a:pPr>
              <a:defRPr sz="1875" b="0">
                <a:solidFill>
                  <a:srgbClr val="183E5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E50"/>
                </a:solidFill>
                <a:latin typeface="Consolas"/>
                <a:ea typeface="Consolas"/>
                <a:cs typeface="Consolas"/>
              </a:rPr>
              <a:t>Resume: LED=1</a:t>
            </a:r>
          </a:p>
        </p:txBody>
      </p:sp>
      <p:sp>
        <p:nvSpPr>
          <p:cNvPr id="5" name="0x01 表示 S6。IRQ events 是事件序號，放開或彈跳也可能增加">
            <a:extLst xmlns:a="http://schemas.openxmlformats.org/drawingml/2006/main">
              <a:ext uri="{FF2B5EF4-FFF2-40B4-BE49-F238E27FC236}">
                <a16:creationId xmlns:a16="http://schemas.microsoft.com/office/drawing/2014/main" id="{1BF5298E-2CA1-4409-9834-6C7A4E32F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0x01 表示 S6。IRQ events 是事件序號，放開或彈跳也可能增加，所以不必每次都等於按下次數。</a:t>
            </a:r>
          </a:p>
        </p:txBody>
      </p:sp>
      <p:sp>
        <p:nvSpPr>
          <p:cNvPr id="6" name="完成時：Ready、BUTTON、Resume 都出現，且燈號與訊息相符。">
            <a:extLst xmlns:a="http://schemas.openxmlformats.org/drawingml/2006/main">
              <a:ext uri="{FF2B5EF4-FFF2-40B4-BE49-F238E27FC236}">
                <a16:creationId xmlns:a16="http://schemas.microsoft.com/office/drawing/2014/main" id="{E45F70B2-A0B8-40E3-8B99-27A5F7905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8775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rPr>
              <a:t>完成時：Ready、BUTTON、Resume 都出現，且燈號與訊息相符。</a:t>
            </a:r>
          </a:p>
        </p:txBody>
      </p:sp>
      <p:sp>
        <p:nvSpPr>
          <p:cNvPr id="7" name="26">
            <a:extLst xmlns:a="http://schemas.openxmlformats.org/drawingml/2006/main">
              <a:ext uri="{FF2B5EF4-FFF2-40B4-BE49-F238E27FC236}">
                <a16:creationId xmlns:a16="http://schemas.microsoft.com/office/drawing/2014/main" id="{02DC9CA6-7AEF-458E-BC0E-7BE67FD7B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436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82195750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下次展示與重新上電">
            <a:extLst xmlns:a="http://schemas.openxmlformats.org/drawingml/2006/main">
              <a:ext uri="{FF2B5EF4-FFF2-40B4-BE49-F238E27FC236}">
                <a16:creationId xmlns:a16="http://schemas.microsoft.com/office/drawing/2014/main" id="{57EC72B8-705F-4191-BFC8-FDB57F435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下次展示與重新上電</a:t>
            </a:r>
          </a:p>
        </p:txBody>
      </p:sp>
      <p:sp>
        <p:nvSpPr>
          <p:cNvPr id="3" name="電腦與 workspace 都沒變">
            <a:extLst xmlns:a="http://schemas.openxmlformats.org/drawingml/2006/main">
              <a:ext uri="{FF2B5EF4-FFF2-40B4-BE49-F238E27FC236}">
                <a16:creationId xmlns:a16="http://schemas.microsoft.com/office/drawing/2014/main" id="{AD88CCC5-6F61-4207-BB20-5548AEC0B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電腦與 workspace 都沒變</a:t>
            </a:r>
          </a:p>
        </p:txBody>
      </p:sp>
      <p:sp>
        <p:nvSpPr>
          <p:cNvPr id="4" name="先接電源與 USB，再開 SDK 的 C:\soc_hw2\sdk。確認 C">
            <a:extLst xmlns:a="http://schemas.openxmlformats.org/drawingml/2006/main">
              <a:ext uri="{FF2B5EF4-FFF2-40B4-BE49-F238E27FC236}">
                <a16:creationId xmlns:a16="http://schemas.microsoft.com/office/drawing/2014/main" id="{DD29598B-7A46-424C-BACB-8FF6F728F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先接電源與 USB，再開 SDK 的 C:\soc_hw2\sdk。確認 COM 編號與 Terminal 已連線。</a:t>
            </a:r>
          </a:p>
        </p:txBody>
      </p:sp>
      <p:sp>
        <p:nvSpPr>
          <p:cNvPr id="5" name="板子斷電過">
            <a:extLst xmlns:a="http://schemas.openxmlformats.org/drawingml/2006/main">
              <a:ext uri="{FF2B5EF4-FFF2-40B4-BE49-F238E27FC236}">
                <a16:creationId xmlns:a16="http://schemas.microsoft.com/office/drawing/2014/main" id="{61ADB10B-3A5E-4BD9-BFE4-36F5A447B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289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板子斷電過</a:t>
            </a:r>
          </a:p>
        </p:txBody>
      </p:sp>
      <p:sp>
        <p:nvSpPr>
          <p:cNvPr id="6" name="重新執行先前的硬體 Debug 設定。若停在 main，按 Resume／F">
            <a:extLst xmlns:a="http://schemas.openxmlformats.org/drawingml/2006/main">
              <a:ext uri="{FF2B5EF4-FFF2-40B4-BE49-F238E27FC236}">
                <a16:creationId xmlns:a16="http://schemas.microsoft.com/office/drawing/2014/main" id="{ACE73762-1C34-4DA6-B0E1-5A8C85CF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重新執行先前的硬體 Debug 設定。若停在 main，按 Resume／F8。也可用第 34 頁的預編譯方式。</a:t>
            </a:r>
          </a:p>
        </p:txBody>
      </p:sp>
      <p:sp>
        <p:nvSpPr>
          <p:cNvPr id="7" name="展示完成">
            <a:extLst xmlns:a="http://schemas.openxmlformats.org/drawingml/2006/main">
              <a:ext uri="{FF2B5EF4-FFF2-40B4-BE49-F238E27FC236}">
                <a16:creationId xmlns:a16="http://schemas.microsoft.com/office/drawing/2014/main" id="{60711312-5760-4641-914A-BB5FAB494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展示完成</a:t>
            </a:r>
          </a:p>
        </p:txBody>
      </p:sp>
      <p:sp>
        <p:nvSpPr>
          <p:cNvPr id="8" name="關閉 Terminal 連線後再拔除 USB。這次採 JTAG 暫存下載，斷">
            <a:extLst xmlns:a="http://schemas.openxmlformats.org/drawingml/2006/main">
              <a:ext uri="{FF2B5EF4-FFF2-40B4-BE49-F238E27FC236}">
                <a16:creationId xmlns:a16="http://schemas.microsoft.com/office/drawing/2014/main" id="{B76FD3E4-942A-4588-A388-09CAF6691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109728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關閉 Terminal 連線後再拔除 USB。這次採 JTAG 暫存下載，斷電後需重新下載。</a:t>
            </a:r>
          </a:p>
        </p:txBody>
      </p:sp>
      <p:sp>
        <p:nvSpPr>
          <p:cNvPr id="9" name="完成時：不需每次重建 workspace 或重跑硬體合成。">
            <a:extLst xmlns:a="http://schemas.openxmlformats.org/drawingml/2006/main">
              <a:ext uri="{FF2B5EF4-FFF2-40B4-BE49-F238E27FC236}">
                <a16:creationId xmlns:a16="http://schemas.microsoft.com/office/drawing/2014/main" id="{D1C0BB21-1A22-4FCD-A539-312F17D96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8775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rPr>
              <a:t>完成時：不需每次重建 workspace 或重跑硬體合成。</a:t>
            </a:r>
          </a:p>
        </p:txBody>
      </p:sp>
      <p:sp>
        <p:nvSpPr>
          <p:cNvPr id="10" name="27">
            <a:extLst xmlns:a="http://schemas.openxmlformats.org/drawingml/2006/main">
              <a:ext uri="{FF2B5EF4-FFF2-40B4-BE49-F238E27FC236}">
                <a16:creationId xmlns:a16="http://schemas.microsoft.com/office/drawing/2014/main" id="{8F57EABF-F2E5-42C2-A00D-1FB4E784F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436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24967960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ivado 硬體工程的重建入口">
            <a:extLst xmlns:a="http://schemas.openxmlformats.org/drawingml/2006/main">
              <a:ext uri="{FF2B5EF4-FFF2-40B4-BE49-F238E27FC236}">
                <a16:creationId xmlns:a16="http://schemas.microsoft.com/office/drawing/2014/main" id="{E454DBBA-466D-407B-A25A-D3AFEC048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Vivado 硬體工程的重建入口</a:t>
            </a:r>
          </a:p>
        </p:txBody>
      </p:sp>
      <p:sp>
        <p:nvSpPr>
          <p:cNvPr id="3" name="1. 啟動 Vivado 2018.3">
            <a:extLst xmlns:a="http://schemas.openxmlformats.org/drawingml/2006/main">
              <a:ext uri="{FF2B5EF4-FFF2-40B4-BE49-F238E27FC236}">
                <a16:creationId xmlns:a16="http://schemas.microsoft.com/office/drawing/2014/main" id="{F7FEBE86-BCAF-4A0A-8154-C1B5C2262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1. 啟動 Vivado 2018.3</a:t>
            </a:r>
          </a:p>
        </p:txBody>
      </p:sp>
      <p:sp>
        <p:nvSpPr>
          <p:cNvPr id="4" name="不開其他工程。在底部選 Tcl Console 分頁。若看不到，從 Wind">
            <a:extLst xmlns:a="http://schemas.openxmlformats.org/drawingml/2006/main">
              <a:ext uri="{FF2B5EF4-FFF2-40B4-BE49-F238E27FC236}">
                <a16:creationId xmlns:a16="http://schemas.microsoft.com/office/drawing/2014/main" id="{9BF63FE5-3BA0-4F77-927B-F11978ECA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不開其他工程。在底部選 Tcl Console 分頁。若看不到，從 Window 選單顯示 Tcl Console。</a:t>
            </a:r>
          </a:p>
        </p:txBody>
      </p:sp>
      <p:sp>
        <p:nvSpPr>
          <p:cNvPr id="5" name="2. 貼上建立工程指令">
            <a:extLst xmlns:a="http://schemas.openxmlformats.org/drawingml/2006/main">
              <a:ext uri="{FF2B5EF4-FFF2-40B4-BE49-F238E27FC236}">
                <a16:creationId xmlns:a16="http://schemas.microsoft.com/office/drawing/2014/main" id="{D8FA9498-DB11-49F3-A6B7-97DE851D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2. 貼上建立工程指令</a:t>
            </a:r>
          </a:p>
        </p:txBody>
      </p:sp>
      <p:sp>
        <p:nvSpPr>
          <p:cNvPr id="6" name="輸入下方一行後按 Enter。等到 HW2_PROJECT_READY，這一">
            <a:extLst xmlns:a="http://schemas.openxmlformats.org/drawingml/2006/main">
              <a:ext uri="{FF2B5EF4-FFF2-40B4-BE49-F238E27FC236}">
                <a16:creationId xmlns:a16="http://schemas.microsoft.com/office/drawing/2014/main" id="{49FE9324-5FDA-413B-BA3D-1C7CA6F10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7657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輸入下方一行後按 Enter。等到 HW2_PROJECT_READY，這一步只建立工程與 IP 輸出。</a:t>
            </a:r>
          </a:p>
        </p:txBody>
      </p:sp>
      <p:sp>
        <p:nvSpPr>
          <p:cNvPr id="7" name="source C:/soc_hw2/scripts/create_hardw">
            <a:extLst xmlns:a="http://schemas.openxmlformats.org/drawingml/2006/main">
              <a:ext uri="{FF2B5EF4-FFF2-40B4-BE49-F238E27FC236}">
                <a16:creationId xmlns:a16="http://schemas.microsoft.com/office/drawing/2014/main" id="{6FCB05B5-8F4A-4DF0-B805-C2E920784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386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53C55"/>
                </a:solidFill>
                <a:latin typeface="Consolas"/>
                <a:ea typeface="Consolas"/>
                <a:cs typeface="Consolas"/>
              </a:defRPr>
            </a:defPPr>
            <a:lvl1pPr>
              <a:defRPr sz="2025" b="0">
                <a:solidFill>
                  <a:srgbClr val="153C55"/>
                </a:solidFill>
                <a:latin typeface="Consolas"/>
                <a:ea typeface="Consolas"/>
                <a:cs typeface="Consolas"/>
              </a:defRPr>
            </a:lvl1pPr>
            <a:lvl2pPr>
              <a:defRPr sz="2025" b="0">
                <a:solidFill>
                  <a:srgbClr val="153C55"/>
                </a:solidFill>
                <a:latin typeface="Consolas"/>
                <a:ea typeface="Consolas"/>
                <a:cs typeface="Consolas"/>
              </a:defRPr>
            </a:lvl2pPr>
            <a:lvl3pPr>
              <a:defRPr sz="2025" b="0">
                <a:solidFill>
                  <a:srgbClr val="153C55"/>
                </a:solidFill>
                <a:latin typeface="Consolas"/>
                <a:ea typeface="Consolas"/>
                <a:cs typeface="Consolas"/>
              </a:defRPr>
            </a:lvl3pPr>
            <a:lvl4pPr>
              <a:defRPr sz="2025" b="0">
                <a:solidFill>
                  <a:srgbClr val="153C55"/>
                </a:solidFill>
                <a:latin typeface="Consolas"/>
                <a:ea typeface="Consolas"/>
                <a:cs typeface="Consolas"/>
              </a:defRPr>
            </a:lvl4pPr>
            <a:lvl5pPr>
              <a:defRPr sz="2025" b="0">
                <a:solidFill>
                  <a:srgbClr val="153C55"/>
                </a:solidFill>
                <a:latin typeface="Consolas"/>
                <a:ea typeface="Consolas"/>
                <a:cs typeface="Consolas"/>
              </a:defRPr>
            </a:lvl5pPr>
            <a:lvl6pPr>
              <a:defRPr sz="2025" b="0">
                <a:solidFill>
                  <a:srgbClr val="153C55"/>
                </a:solidFill>
                <a:latin typeface="Consolas"/>
                <a:ea typeface="Consolas"/>
                <a:cs typeface="Consolas"/>
              </a:defRPr>
            </a:lvl6pPr>
            <a:lvl7pPr>
              <a:defRPr sz="2025" b="0">
                <a:solidFill>
                  <a:srgbClr val="153C55"/>
                </a:solidFill>
                <a:latin typeface="Consolas"/>
                <a:ea typeface="Consolas"/>
                <a:cs typeface="Consolas"/>
              </a:defRPr>
            </a:lvl7pPr>
            <a:lvl8pPr>
              <a:defRPr sz="2025" b="0">
                <a:solidFill>
                  <a:srgbClr val="153C55"/>
                </a:solidFill>
                <a:latin typeface="Consolas"/>
                <a:ea typeface="Consolas"/>
                <a:cs typeface="Consolas"/>
              </a:defRPr>
            </a:lvl8pPr>
            <a:lvl9pPr>
              <a:defRPr sz="2025" b="0">
                <a:solidFill>
                  <a:srgbClr val="153C55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53C5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53C55"/>
                </a:solidFill>
                <a:latin typeface="Consolas"/>
                <a:ea typeface="Consolas"/>
                <a:cs typeface="Consolas"/>
              </a:rPr>
              <a:t>source C:/soc_hw2/scripts/create_hardware_project.tcl</a:t>
            </a:r>
          </a:p>
        </p:txBody>
      </p:sp>
      <p:sp>
        <p:nvSpPr>
          <p:cNvPr id="8" name="後續再次開啟時，用 File、Open Project 選 hardware">
            <a:extLst xmlns:a="http://schemas.openxmlformats.org/drawingml/2006/main">
              <a:ext uri="{FF2B5EF4-FFF2-40B4-BE49-F238E27FC236}">
                <a16:creationId xmlns:a16="http://schemas.microsoft.com/office/drawing/2014/main" id="{7D8073D0-F836-48F3-A6D7-F52BFA653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後續再次開啟時，用 File、Open Project 選 hardware/soc_hw2.xpr。</a:t>
            </a:r>
          </a:p>
        </p:txBody>
      </p:sp>
      <p:sp>
        <p:nvSpPr>
          <p:cNvPr id="9" name="完成時：工程位於 C:\soc_hw2\hardware\soc_hw2.x">
            <a:extLst xmlns:a="http://schemas.openxmlformats.org/drawingml/2006/main">
              <a:ext uri="{FF2B5EF4-FFF2-40B4-BE49-F238E27FC236}">
                <a16:creationId xmlns:a16="http://schemas.microsoft.com/office/drawing/2014/main" id="{0065E287-6345-452A-A0B9-F56957444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8775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rPr>
              <a:t>完成時：工程位於 C:\soc_hw2\hardware\soc_hw2.xpr。</a:t>
            </a:r>
          </a:p>
        </p:txBody>
      </p:sp>
      <p:sp>
        <p:nvSpPr>
          <p:cNvPr id="10" name="28">
            <a:extLst xmlns:a="http://schemas.openxmlformats.org/drawingml/2006/main">
              <a:ext uri="{FF2B5EF4-FFF2-40B4-BE49-F238E27FC236}">
                <a16:creationId xmlns:a16="http://schemas.microsoft.com/office/drawing/2014/main" id="{B2E84128-ED0F-4811-8BCA-465F6D550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436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56723611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ivado 中的設計與腳位">
            <a:extLst xmlns:a="http://schemas.openxmlformats.org/drawingml/2006/main">
              <a:ext uri="{FF2B5EF4-FFF2-40B4-BE49-F238E27FC236}">
                <a16:creationId xmlns:a16="http://schemas.microsoft.com/office/drawing/2014/main" id="{55939BA0-0286-4935-B18D-64BC2A53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Vivado 中的設計與腳位</a:t>
            </a:r>
          </a:p>
        </p:txBody>
      </p:sp>
      <p:sp>
        <p:nvSpPr>
          <p:cNvPr id="3" name="1. 開啟 Block Design">
            <a:extLst xmlns:a="http://schemas.openxmlformats.org/drawingml/2006/main">
              <a:ext uri="{FF2B5EF4-FFF2-40B4-BE49-F238E27FC236}">
                <a16:creationId xmlns:a16="http://schemas.microsoft.com/office/drawing/2014/main" id="{D00348F6-E964-4950-9E35-5D3C464FD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1. 開啟 Block Design</a:t>
            </a:r>
          </a:p>
        </p:txBody>
      </p:sp>
      <p:sp>
        <p:nvSpPr>
          <p:cNvPr id="4" name="Flow Navigator 的 IP Integrator 下，點 Ope">
            <a:extLst xmlns:a="http://schemas.openxmlformats.org/drawingml/2006/main">
              <a:ext uri="{FF2B5EF4-FFF2-40B4-BE49-F238E27FC236}">
                <a16:creationId xmlns:a16="http://schemas.microsoft.com/office/drawing/2014/main" id="{F5AD1BE3-9D59-46F9-8183-2493C7F64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Flow Navigator 的 IP Integrator 下，點 Open Block Design，選 design_1。</a:t>
            </a:r>
          </a:p>
        </p:txBody>
      </p:sp>
      <p:sp>
        <p:nvSpPr>
          <p:cNvPr id="5" name="2. 檢查硬體架構">
            <a:extLst xmlns:a="http://schemas.openxmlformats.org/drawingml/2006/main">
              <a:ext uri="{FF2B5EF4-FFF2-40B4-BE49-F238E27FC236}">
                <a16:creationId xmlns:a16="http://schemas.microsoft.com/office/drawing/2014/main" id="{FDCA9619-7E9B-49D6-81CE-C847A8FF1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289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2. 檢查硬體架構</a:t>
            </a:r>
          </a:p>
        </p:txBody>
      </p:sp>
      <p:sp>
        <p:nvSpPr>
          <p:cNvPr id="6" name="應有 processing_system7_0、axi_gpio_0、axi">
            <a:extLst xmlns:a="http://schemas.openxmlformats.org/drawingml/2006/main">
              <a:ext uri="{FF2B5EF4-FFF2-40B4-BE49-F238E27FC236}">
                <a16:creationId xmlns:a16="http://schemas.microsoft.com/office/drawing/2014/main" id="{4D886916-8EF3-4F6F-A000-5048DE642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應有 processing_system7_0、axi_gpio_0、axi_gpio_1，以及連線與 Reset IP。LED 使用 GPIO0，按鈕中斷使用 GPIO1。</a:t>
            </a:r>
          </a:p>
        </p:txBody>
      </p:sp>
      <p:sp>
        <p:nvSpPr>
          <p:cNvPr id="7" name="3. 檢查約束檔">
            <a:extLst xmlns:a="http://schemas.openxmlformats.org/drawingml/2006/main">
              <a:ext uri="{FF2B5EF4-FFF2-40B4-BE49-F238E27FC236}">
                <a16:creationId xmlns:a16="http://schemas.microsoft.com/office/drawing/2014/main" id="{677AC3BF-2074-4B75-8D33-7E05E30BE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3. 檢查約束檔</a:t>
            </a:r>
          </a:p>
        </p:txBody>
      </p:sp>
      <p:sp>
        <p:nvSpPr>
          <p:cNvPr id="8" name="在 Sources 的 Constraints 展開，雙擊 ego_xz7.">
            <a:extLst xmlns:a="http://schemas.openxmlformats.org/drawingml/2006/main">
              <a:ext uri="{FF2B5EF4-FFF2-40B4-BE49-F238E27FC236}">
                <a16:creationId xmlns:a16="http://schemas.microsoft.com/office/drawing/2014/main" id="{78B0BAAB-1FDB-4812-8EF1-0056D799A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109728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在 Sources 的 Constraints 展開，雙擊 ego_xz7.xdc。工程器件應為 xc7z020clg484-1。</a:t>
            </a:r>
          </a:p>
        </p:txBody>
      </p:sp>
      <p:sp>
        <p:nvSpPr>
          <p:cNvPr id="9" name="完成時：這個工程已包含手動 PS 與腳位設定，不需另裝 EGO Board ">
            <a:extLst xmlns:a="http://schemas.openxmlformats.org/drawingml/2006/main">
              <a:ext uri="{FF2B5EF4-FFF2-40B4-BE49-F238E27FC236}">
                <a16:creationId xmlns:a16="http://schemas.microsoft.com/office/drawing/2014/main" id="{CFBF9CCD-64F6-49EF-99C6-93E3EB205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8775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rPr>
              <a:t>完成時：這個工程已包含手動 PS 與腳位設定，不需另裝 EGO Board Files。</a:t>
            </a:r>
          </a:p>
        </p:txBody>
      </p:sp>
      <p:sp>
        <p:nvSpPr>
          <p:cNvPr id="10" name="29">
            <a:extLst xmlns:a="http://schemas.openxmlformats.org/drawingml/2006/main">
              <a:ext uri="{FF2B5EF4-FFF2-40B4-BE49-F238E27FC236}">
                <a16:creationId xmlns:a16="http://schemas.microsoft.com/office/drawing/2014/main" id="{2DC3B84F-C059-42D4-BA8B-5AF098335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436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43454358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硬體修改後的 Bitstream 產生">
            <a:extLst xmlns:a="http://schemas.openxmlformats.org/drawingml/2006/main">
              <a:ext uri="{FF2B5EF4-FFF2-40B4-BE49-F238E27FC236}">
                <a16:creationId xmlns:a16="http://schemas.microsoft.com/office/drawing/2014/main" id="{B055A166-8991-4DDA-B55C-0EA6360CA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硬體修改後的 Bitstream 產生</a:t>
            </a:r>
          </a:p>
        </p:txBody>
      </p:sp>
      <p:sp>
        <p:nvSpPr>
          <p:cNvPr id="3" name="1. 先儲存並檢查設計">
            <a:extLst xmlns:a="http://schemas.openxmlformats.org/drawingml/2006/main">
              <a:ext uri="{FF2B5EF4-FFF2-40B4-BE49-F238E27FC236}">
                <a16:creationId xmlns:a16="http://schemas.microsoft.com/office/drawing/2014/main" id="{7745D61F-3EDC-48E4-9EB5-C9A1113A4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1. 先儲存並檢查設計</a:t>
            </a:r>
          </a:p>
        </p:txBody>
      </p:sp>
      <p:sp>
        <p:nvSpPr>
          <p:cNvPr id="4" name="在 Block Design 按 Validate Design，無錯誤後儲">
            <a:extLst xmlns:a="http://schemas.openxmlformats.org/drawingml/2006/main">
              <a:ext uri="{FF2B5EF4-FFF2-40B4-BE49-F238E27FC236}">
                <a16:creationId xmlns:a16="http://schemas.microsoft.com/office/drawing/2014/main" id="{BEC9485C-E40B-41FB-9412-D1956274F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在 Block Design 按 Validate Design，無錯誤後儲存。</a:t>
            </a:r>
          </a:p>
        </p:txBody>
      </p:sp>
      <p:sp>
        <p:nvSpPr>
          <p:cNvPr id="5" name="2. 啟動硬體編譯">
            <a:extLst xmlns:a="http://schemas.openxmlformats.org/drawingml/2006/main">
              <a:ext uri="{FF2B5EF4-FFF2-40B4-BE49-F238E27FC236}">
                <a16:creationId xmlns:a16="http://schemas.microsoft.com/office/drawing/2014/main" id="{E6DC021C-0A1B-42EB-94C7-22C4A0878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289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2. 啟動硬體編譯</a:t>
            </a:r>
          </a:p>
        </p:txBody>
      </p:sp>
      <p:sp>
        <p:nvSpPr>
          <p:cNvPr id="6" name="左側 Flow Navigator 點 Generate Bitstream">
            <a:extLst xmlns:a="http://schemas.openxmlformats.org/drawingml/2006/main">
              <a:ext uri="{FF2B5EF4-FFF2-40B4-BE49-F238E27FC236}">
                <a16:creationId xmlns:a16="http://schemas.microsoft.com/office/drawing/2014/main" id="{F2E253CD-DACC-451E-8E37-865B87A78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左側 Flow Navigator 點 Generate Bitstream。若詢問先執行 synthesis／implementation，按 Yes。</a:t>
            </a:r>
          </a:p>
        </p:txBody>
      </p:sp>
      <p:sp>
        <p:nvSpPr>
          <p:cNvPr id="7" name="3. 等待完成">
            <a:extLst xmlns:a="http://schemas.openxmlformats.org/drawingml/2006/main">
              <a:ext uri="{FF2B5EF4-FFF2-40B4-BE49-F238E27FC236}">
                <a16:creationId xmlns:a16="http://schemas.microsoft.com/office/drawing/2014/main" id="{FCF76A17-2D1B-42F9-A0DB-AD7F33400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3. 等待完成</a:t>
            </a:r>
          </a:p>
        </p:txBody>
      </p:sp>
      <p:sp>
        <p:nvSpPr>
          <p:cNvPr id="8" name="看到 Bitstream Generation successfully c">
            <a:extLst xmlns:a="http://schemas.openxmlformats.org/drawingml/2006/main">
              <a:ext uri="{FF2B5EF4-FFF2-40B4-BE49-F238E27FC236}">
                <a16:creationId xmlns:a16="http://schemas.microsoft.com/office/drawing/2014/main" id="{727E5D34-B698-4538-B58C-D749DC8DE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109728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看到 Bitstream Generation successfully completed 後可關閉完成提示。此步可能花較長時間。</a:t>
            </a:r>
          </a:p>
        </p:txBody>
      </p:sp>
      <p:sp>
        <p:nvSpPr>
          <p:cNvPr id="9" name="完成時：Implementation 的進度完成，沒有 Failed 或 e">
            <a:extLst xmlns:a="http://schemas.openxmlformats.org/drawingml/2006/main">
              <a:ext uri="{FF2B5EF4-FFF2-40B4-BE49-F238E27FC236}">
                <a16:creationId xmlns:a16="http://schemas.microsoft.com/office/drawing/2014/main" id="{EF17D43C-3C9A-41D4-9F4D-6EB97DF45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8775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rPr>
              <a:t>完成時：Implementation 的進度完成，沒有 Failed 或 errors。</a:t>
            </a:r>
          </a:p>
        </p:txBody>
      </p:sp>
      <p:sp>
        <p:nvSpPr>
          <p:cNvPr id="10" name="30">
            <a:extLst xmlns:a="http://schemas.openxmlformats.org/drawingml/2006/main">
              <a:ext uri="{FF2B5EF4-FFF2-40B4-BE49-F238E27FC236}">
                <a16:creationId xmlns:a16="http://schemas.microsoft.com/office/drawing/2014/main" id="{666EE93F-F95D-43A7-A047-6A81143B7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436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67415723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新硬體的 BIT 與 HDF 匯出">
            <a:extLst xmlns:a="http://schemas.openxmlformats.org/drawingml/2006/main">
              <a:ext uri="{FF2B5EF4-FFF2-40B4-BE49-F238E27FC236}">
                <a16:creationId xmlns:a16="http://schemas.microsoft.com/office/drawing/2014/main" id="{0A3C5985-87AE-4D9B-A485-A6036F42F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新硬體的 BIT 與 HDF 匯出</a:t>
            </a:r>
          </a:p>
        </p:txBody>
      </p:sp>
      <p:sp>
        <p:nvSpPr>
          <p:cNvPr id="3" name="1. 保持剛編譯的工程開啟">
            <a:extLst xmlns:a="http://schemas.openxmlformats.org/drawingml/2006/main">
              <a:ext uri="{FF2B5EF4-FFF2-40B4-BE49-F238E27FC236}">
                <a16:creationId xmlns:a16="http://schemas.microsoft.com/office/drawing/2014/main" id="{A66AA4D5-1E70-42A5-94BE-A59BCDD0D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1. 保持剛編譯的工程開啟</a:t>
            </a:r>
          </a:p>
        </p:txBody>
      </p:sp>
      <p:sp>
        <p:nvSpPr>
          <p:cNvPr id="4" name="確認上一頁 Generate Bitstream 成功。">
            <a:extLst xmlns:a="http://schemas.openxmlformats.org/drawingml/2006/main">
              <a:ext uri="{FF2B5EF4-FFF2-40B4-BE49-F238E27FC236}">
                <a16:creationId xmlns:a16="http://schemas.microsoft.com/office/drawing/2014/main" id="{F726D497-E790-4F38-B46F-AD83F102A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確認上一頁 Generate Bitstream 成功。</a:t>
            </a:r>
          </a:p>
        </p:txBody>
      </p:sp>
      <p:sp>
        <p:nvSpPr>
          <p:cNvPr id="5" name="2. 在 Tcl Console 貼上指令">
            <a:extLst xmlns:a="http://schemas.openxmlformats.org/drawingml/2006/main">
              <a:ext uri="{FF2B5EF4-FFF2-40B4-BE49-F238E27FC236}">
                <a16:creationId xmlns:a16="http://schemas.microsoft.com/office/drawing/2014/main" id="{84FA9C4D-A8C2-4BAC-8372-C08804B28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2. 在 Tcl Console 貼上指令</a:t>
            </a:r>
          </a:p>
        </p:txBody>
      </p:sp>
      <p:sp>
        <p:nvSpPr>
          <p:cNvPr id="6" name="執行包內匯出腳本，把同一次編譯的 BIT 與 HDF 更新到 export。">
            <a:extLst xmlns:a="http://schemas.openxmlformats.org/drawingml/2006/main">
              <a:ext uri="{FF2B5EF4-FFF2-40B4-BE49-F238E27FC236}">
                <a16:creationId xmlns:a16="http://schemas.microsoft.com/office/drawing/2014/main" id="{72C25B9C-8FE1-438F-88CA-47BCADBC7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7657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執行包內匯出腳本，把同一次編譯的 BIT 與 HDF 更新到 export。新的 PS 初始化由 SDK 匯入 HDF 後取得。</a:t>
            </a:r>
          </a:p>
        </p:txBody>
      </p:sp>
      <p:sp>
        <p:nvSpPr>
          <p:cNvPr id="7" name="source C:/soc_hw2/scripts/export_hardw">
            <a:extLst xmlns:a="http://schemas.openxmlformats.org/drawingml/2006/main">
              <a:ext uri="{FF2B5EF4-FFF2-40B4-BE49-F238E27FC236}">
                <a16:creationId xmlns:a16="http://schemas.microsoft.com/office/drawing/2014/main" id="{73456611-6A06-4955-8518-0A364F591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386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53C55"/>
                </a:solidFill>
                <a:latin typeface="Consolas"/>
                <a:ea typeface="Consolas"/>
                <a:cs typeface="Consolas"/>
              </a:defRPr>
            </a:defPPr>
            <a:lvl1pPr>
              <a:defRPr sz="2100" b="0">
                <a:solidFill>
                  <a:srgbClr val="153C55"/>
                </a:solidFill>
                <a:latin typeface="Consolas"/>
                <a:ea typeface="Consolas"/>
                <a:cs typeface="Consolas"/>
              </a:defRPr>
            </a:lvl1pPr>
            <a:lvl2pPr>
              <a:defRPr sz="2100" b="0">
                <a:solidFill>
                  <a:srgbClr val="153C55"/>
                </a:solidFill>
                <a:latin typeface="Consolas"/>
                <a:ea typeface="Consolas"/>
                <a:cs typeface="Consolas"/>
              </a:defRPr>
            </a:lvl2pPr>
            <a:lvl3pPr>
              <a:defRPr sz="2100" b="0">
                <a:solidFill>
                  <a:srgbClr val="153C55"/>
                </a:solidFill>
                <a:latin typeface="Consolas"/>
                <a:ea typeface="Consolas"/>
                <a:cs typeface="Consolas"/>
              </a:defRPr>
            </a:lvl3pPr>
            <a:lvl4pPr>
              <a:defRPr sz="2100" b="0">
                <a:solidFill>
                  <a:srgbClr val="153C55"/>
                </a:solidFill>
                <a:latin typeface="Consolas"/>
                <a:ea typeface="Consolas"/>
                <a:cs typeface="Consolas"/>
              </a:defRPr>
            </a:lvl4pPr>
            <a:lvl5pPr>
              <a:defRPr sz="2100" b="0">
                <a:solidFill>
                  <a:srgbClr val="153C55"/>
                </a:solidFill>
                <a:latin typeface="Consolas"/>
                <a:ea typeface="Consolas"/>
                <a:cs typeface="Consolas"/>
              </a:defRPr>
            </a:lvl5pPr>
            <a:lvl6pPr>
              <a:defRPr sz="2100" b="0">
                <a:solidFill>
                  <a:srgbClr val="153C55"/>
                </a:solidFill>
                <a:latin typeface="Consolas"/>
                <a:ea typeface="Consolas"/>
                <a:cs typeface="Consolas"/>
              </a:defRPr>
            </a:lvl6pPr>
            <a:lvl7pPr>
              <a:defRPr sz="2100" b="0">
                <a:solidFill>
                  <a:srgbClr val="153C55"/>
                </a:solidFill>
                <a:latin typeface="Consolas"/>
                <a:ea typeface="Consolas"/>
                <a:cs typeface="Consolas"/>
              </a:defRPr>
            </a:lvl7pPr>
            <a:lvl8pPr>
              <a:defRPr sz="2100" b="0">
                <a:solidFill>
                  <a:srgbClr val="153C55"/>
                </a:solidFill>
                <a:latin typeface="Consolas"/>
                <a:ea typeface="Consolas"/>
                <a:cs typeface="Consolas"/>
              </a:defRPr>
            </a:lvl8pPr>
            <a:lvl9pPr>
              <a:defRPr sz="2100" b="0">
                <a:solidFill>
                  <a:srgbClr val="153C55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3C55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153C55"/>
                </a:solidFill>
                <a:latin typeface="Consolas"/>
                <a:ea typeface="Consolas"/>
                <a:cs typeface="Consolas"/>
              </a:rPr>
              <a:t>source C:/soc_hw2/scripts/export_hardware.tcl</a:t>
            </a:r>
          </a:p>
        </p:txBody>
      </p:sp>
      <p:sp>
        <p:nvSpPr>
          <p:cNvPr id="8" name="等到 HW2_EXPORT_OK。更新硬體後，SDK 也必須使用新的 HDF">
            <a:extLst xmlns:a="http://schemas.openxmlformats.org/drawingml/2006/main">
              <a:ext uri="{FF2B5EF4-FFF2-40B4-BE49-F238E27FC236}">
                <a16:creationId xmlns:a16="http://schemas.microsoft.com/office/drawing/2014/main" id="{4EA7C571-5EA5-4CF6-BB17-0EDD4B30C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等到 HW2_EXPORT_OK。更新硬體後，SDK 也必須使用新的 HDF。</a:t>
            </a:r>
          </a:p>
        </p:txBody>
      </p:sp>
      <p:sp>
        <p:nvSpPr>
          <p:cNvPr id="9" name="完成時：export 取得新硬體。demo 保留原本測試成功的展示版本。">
            <a:extLst xmlns:a="http://schemas.openxmlformats.org/drawingml/2006/main">
              <a:ext uri="{FF2B5EF4-FFF2-40B4-BE49-F238E27FC236}">
                <a16:creationId xmlns:a16="http://schemas.microsoft.com/office/drawing/2014/main" id="{4E3FBF02-F34E-4233-A474-920C642E3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8775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rPr>
              <a:t>完成時：export 取得新硬體。demo 保留原本測試成功的展示版本。</a:t>
            </a:r>
          </a:p>
        </p:txBody>
      </p:sp>
      <p:sp>
        <p:nvSpPr>
          <p:cNvPr id="10" name="31">
            <a:extLst xmlns:a="http://schemas.openxmlformats.org/drawingml/2006/main">
              <a:ext uri="{FF2B5EF4-FFF2-40B4-BE49-F238E27FC236}">
                <a16:creationId xmlns:a16="http://schemas.microsoft.com/office/drawing/2014/main" id="{987D1E72-CD95-423A-8D0B-8C9BCB042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436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1496994629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DK 與新 HDF 的同步">
            <a:extLst xmlns:a="http://schemas.openxmlformats.org/drawingml/2006/main">
              <a:ext uri="{FF2B5EF4-FFF2-40B4-BE49-F238E27FC236}">
                <a16:creationId xmlns:a16="http://schemas.microsoft.com/office/drawing/2014/main" id="{8AE7E751-74D6-477C-8446-0ADC94B39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SDK 與新 HDF 的同步</a:t>
            </a:r>
          </a:p>
        </p:txBody>
      </p:sp>
      <p:sp>
        <p:nvSpPr>
          <p:cNvPr id="3" name="1. 結束目前除錯">
            <a:extLst xmlns:a="http://schemas.openxmlformats.org/drawingml/2006/main">
              <a:ext uri="{FF2B5EF4-FFF2-40B4-BE49-F238E27FC236}">
                <a16:creationId xmlns:a16="http://schemas.microsoft.com/office/drawing/2014/main" id="{DDC5CB11-55D1-45E5-AE7A-1C60E7E60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531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1. 結束目前除錯</a:t>
            </a:r>
          </a:p>
        </p:txBody>
      </p:sp>
      <p:sp>
        <p:nvSpPr>
          <p:cNvPr id="4" name="在 Debug 視窗按 Terminate，結束目前除錯工作階段。">
            <a:extLst xmlns:a="http://schemas.openxmlformats.org/drawingml/2006/main">
              <a:ext uri="{FF2B5EF4-FFF2-40B4-BE49-F238E27FC236}">
                <a16:creationId xmlns:a16="http://schemas.microsoft.com/office/drawing/2014/main" id="{1D0AA1C7-ED06-4356-BF42-55F52440C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53149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在 Debug 視窗按 Terminate，結束目前除錯工作階段。</a:t>
            </a:r>
          </a:p>
        </p:txBody>
      </p:sp>
      <p:sp>
        <p:nvSpPr>
          <p:cNvPr id="5" name="2. 更新硬體平台">
            <a:extLst xmlns:a="http://schemas.openxmlformats.org/drawingml/2006/main">
              <a:ext uri="{FF2B5EF4-FFF2-40B4-BE49-F238E27FC236}">
                <a16:creationId xmlns:a16="http://schemas.microsoft.com/office/drawing/2014/main" id="{751753A9-6DDB-420A-91F4-A03303175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28925"/>
            <a:ext cx="531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2. 更新硬體平台</a:t>
            </a:r>
          </a:p>
        </p:txBody>
      </p:sp>
      <p:sp>
        <p:nvSpPr>
          <p:cNvPr id="6" name="對 hw_platform 按右鍵，選 Change Hardware Pl">
            <a:extLst xmlns:a="http://schemas.openxmlformats.org/drawingml/2006/main">
              <a:ext uri="{FF2B5EF4-FFF2-40B4-BE49-F238E27FC236}">
                <a16:creationId xmlns:a16="http://schemas.microsoft.com/office/drawing/2014/main" id="{1431DF57-1681-465F-BF57-61295C6C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53149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對 hw_platform 按右鍵，選 Change Hardware Platform Specification，Browse 選新的 export/design_1_wrapper.hdf。</a:t>
            </a:r>
          </a:p>
        </p:txBody>
      </p:sp>
      <p:sp>
        <p:nvSpPr>
          <p:cNvPr id="7" name="3. 重新產生 BSP 與應用程式">
            <a:extLst xmlns:a="http://schemas.openxmlformats.org/drawingml/2006/main">
              <a:ext uri="{FF2B5EF4-FFF2-40B4-BE49-F238E27FC236}">
                <a16:creationId xmlns:a16="http://schemas.microsoft.com/office/drawing/2014/main" id="{998D7CAB-7A5A-41F2-85E9-355EE66B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531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3. 重新產生 BSP 與應用程式</a:t>
            </a:r>
          </a:p>
        </p:txBody>
      </p:sp>
      <p:sp>
        <p:nvSpPr>
          <p:cNvPr id="8" name="雙擊 standalone_bsp/system.mss，按 Re-gene">
            <a:extLst xmlns:a="http://schemas.openxmlformats.org/drawingml/2006/main">
              <a:ext uri="{FF2B5EF4-FFF2-40B4-BE49-F238E27FC236}">
                <a16:creationId xmlns:a16="http://schemas.microsoft.com/office/drawing/2014/main" id="{7FFCA377-1F10-47EB-A3C7-EDB034098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531495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雙擊 standalone_bsp/system.mss，按 Re-generate BSP Sources。完成後 Build Project，再編譯 hw2_demo。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050D32-041F-4E9A-BB67-D9789691E9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673d708f6c4ae9"/>
          <a:stretch xmlns:a="http://schemas.openxmlformats.org/drawingml/2006/main"/>
        </p:blipFill>
        <p:spPr>
          <a:xfrm xmlns:a="http://schemas.openxmlformats.org/drawingml/2006/main">
            <a:off x="7523079" y="1428750"/>
            <a:ext cx="2879892" cy="4191000"/>
          </a:xfrm>
          <a:prstGeom xmlns:a="http://schemas.openxmlformats.org/drawingml/2006/main" prst="rect">
            <a:avLst/>
          </a:prstGeom>
        </p:spPr>
      </p:pic>
      <p:sp>
        <p:nvSpPr>
          <p:cNvPr id="10" name="hw_platform 右鍵選單的實際名稱。">
            <a:extLst xmlns:a="http://schemas.openxmlformats.org/drawingml/2006/main">
              <a:ext uri="{FF2B5EF4-FFF2-40B4-BE49-F238E27FC236}">
                <a16:creationId xmlns:a16="http://schemas.microsoft.com/office/drawing/2014/main" id="{E15F1AFF-E29E-45CE-8572-37E77A533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657850"/>
            <a:ext cx="5200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5717A"/>
                </a:solidFill>
                <a:latin typeface="Microsoft JhengHei"/>
                <a:ea typeface="Microsoft JhengHei"/>
                <a:cs typeface="Microsoft JhengHei"/>
              </a:rPr>
              <a:t>hw_platform 右鍵選單的實際名稱。</a:t>
            </a:r>
          </a:p>
        </p:txBody>
      </p:sp>
      <p:sp>
        <p:nvSpPr>
          <p:cNvPr id="11" name="完成時：重新下載時使用新 BIT、新平台與新 ELF。">
            <a:extLst xmlns:a="http://schemas.openxmlformats.org/drawingml/2006/main">
              <a:ext uri="{FF2B5EF4-FFF2-40B4-BE49-F238E27FC236}">
                <a16:creationId xmlns:a16="http://schemas.microsoft.com/office/drawing/2014/main" id="{3EE3FD1F-C6CD-46B9-9FCC-2E87F37EA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8775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rPr>
              <a:t>完成時：重新下載時使用新 BIT、新平台與新 ELF。</a:t>
            </a:r>
          </a:p>
        </p:txBody>
      </p:sp>
      <p:sp>
        <p:nvSpPr>
          <p:cNvPr id="12" name="32">
            <a:extLst xmlns:a="http://schemas.openxmlformats.org/drawingml/2006/main">
              <a:ext uri="{FF2B5EF4-FFF2-40B4-BE49-F238E27FC236}">
                <a16:creationId xmlns:a16="http://schemas.microsoft.com/office/drawing/2014/main" id="{40822B8C-F9FC-4148-AE91-F0120D331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436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583318320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只修改 C 程式時">
            <a:extLst xmlns:a="http://schemas.openxmlformats.org/drawingml/2006/main">
              <a:ext uri="{FF2B5EF4-FFF2-40B4-BE49-F238E27FC236}">
                <a16:creationId xmlns:a16="http://schemas.microsoft.com/office/drawing/2014/main" id="{D605E11A-C374-4BC3-BA9E-377F5779D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只修改 C 程式時</a:t>
            </a:r>
          </a:p>
        </p:txBody>
      </p:sp>
      <p:sp>
        <p:nvSpPr>
          <p:cNvPr id="3" name="1. 編輯 SDK 專案內的程式">
            <a:extLst xmlns:a="http://schemas.openxmlformats.org/drawingml/2006/main">
              <a:ext uri="{FF2B5EF4-FFF2-40B4-BE49-F238E27FC236}">
                <a16:creationId xmlns:a16="http://schemas.microsoft.com/office/drawing/2014/main" id="{3FC024A9-9062-4F76-A45A-984080124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1. 編輯 SDK 專案內的程式</a:t>
            </a:r>
          </a:p>
        </p:txBody>
      </p:sp>
      <p:sp>
        <p:nvSpPr>
          <p:cNvPr id="4" name="雙擊 hw2_demo/src/main.c，修改後按 Ctrl+S。LED">
            <a:extLst xmlns:a="http://schemas.openxmlformats.org/drawingml/2006/main">
              <a:ext uri="{FF2B5EF4-FFF2-40B4-BE49-F238E27FC236}">
                <a16:creationId xmlns:a16="http://schemas.microsoft.com/office/drawing/2014/main" id="{3DECF485-40F1-498A-809F-21312B838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雙擊 hw2_demo/src/main.c，修改後按 Ctrl+S。LED、計數週期與 ISR 都在這個檔案。</a:t>
            </a:r>
          </a:p>
        </p:txBody>
      </p:sp>
      <p:sp>
        <p:nvSpPr>
          <p:cNvPr id="5" name="2. 重新編譯">
            <a:extLst xmlns:a="http://schemas.openxmlformats.org/drawingml/2006/main">
              <a:ext uri="{FF2B5EF4-FFF2-40B4-BE49-F238E27FC236}">
                <a16:creationId xmlns:a16="http://schemas.microsoft.com/office/drawing/2014/main" id="{EE0B1178-0E0D-4E69-B96C-BF851AB51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289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2. 重新編譯</a:t>
            </a:r>
          </a:p>
        </p:txBody>
      </p:sp>
      <p:sp>
        <p:nvSpPr>
          <p:cNvPr id="6" name="對 hw2_demo 按右鍵選 Build Project，確認 Conso">
            <a:extLst xmlns:a="http://schemas.openxmlformats.org/drawingml/2006/main">
              <a:ext uri="{FF2B5EF4-FFF2-40B4-BE49-F238E27FC236}">
                <a16:creationId xmlns:a16="http://schemas.microsoft.com/office/drawing/2014/main" id="{7593EE8D-1447-4C2D-9CAC-9FC361E9E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對 hw2_demo 按右鍵選 Build Project，確認 Console 無 errors，ELF 已更新。</a:t>
            </a:r>
          </a:p>
        </p:txBody>
      </p:sp>
      <p:sp>
        <p:nvSpPr>
          <p:cNvPr id="7" name="3. 重新執行並保留來源">
            <a:extLst xmlns:a="http://schemas.openxmlformats.org/drawingml/2006/main">
              <a:ext uri="{FF2B5EF4-FFF2-40B4-BE49-F238E27FC236}">
                <a16:creationId xmlns:a16="http://schemas.microsoft.com/office/drawing/2014/main" id="{5577A01A-6C77-4A03-971C-0D881275F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3. 重新執行並保留來源</a:t>
            </a:r>
          </a:p>
        </p:txBody>
      </p:sp>
      <p:sp>
        <p:nvSpPr>
          <p:cNvPr id="8" name="執行同一個 Debug 設定，再按 F8。最後把 main.c 複製回 fi">
            <a:extLst xmlns:a="http://schemas.openxmlformats.org/drawingml/2006/main">
              <a:ext uri="{FF2B5EF4-FFF2-40B4-BE49-F238E27FC236}">
                <a16:creationId xmlns:a16="http://schemas.microsoft.com/office/drawing/2014/main" id="{4F77B331-94DB-4EEE-AEE3-0F6621CF5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109728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執行同一個 Debug 設定，再按 F8。最後把 main.c 複製回 firmware/hw2_demo，讓攜帶包保留最新原始碼。</a:t>
            </a:r>
          </a:p>
        </p:txBody>
      </p:sp>
      <p:sp>
        <p:nvSpPr>
          <p:cNvPr id="9" name="完成時：只改 C 程式時，不必重新執行 Generate Bitstream">
            <a:extLst xmlns:a="http://schemas.openxmlformats.org/drawingml/2006/main">
              <a:ext uri="{FF2B5EF4-FFF2-40B4-BE49-F238E27FC236}">
                <a16:creationId xmlns:a16="http://schemas.microsoft.com/office/drawing/2014/main" id="{AA7BA8F4-ABF5-45E2-9E19-89D8E90B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8775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rPr>
              <a:t>完成時：只改 C 程式時，不必重新執行 Generate Bitstream。</a:t>
            </a:r>
          </a:p>
        </p:txBody>
      </p:sp>
      <p:sp>
        <p:nvSpPr>
          <p:cNvPr id="10" name="33">
            <a:extLst xmlns:a="http://schemas.openxmlformats.org/drawingml/2006/main">
              <a:ext uri="{FF2B5EF4-FFF2-40B4-BE49-F238E27FC236}">
                <a16:creationId xmlns:a16="http://schemas.microsoft.com/office/drawing/2014/main" id="{738A3952-5CFF-4D53-B8DD-FDD7E8C6E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436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1640784435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預編譯展示的保底方式">
            <a:extLst xmlns:a="http://schemas.openxmlformats.org/drawingml/2006/main">
              <a:ext uri="{FF2B5EF4-FFF2-40B4-BE49-F238E27FC236}">
                <a16:creationId xmlns:a16="http://schemas.microsoft.com/office/drawing/2014/main" id="{F6FC626C-5890-48EC-AFCF-073C3DB4F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預編譯展示的保底方式</a:t>
            </a:r>
          </a:p>
        </p:txBody>
      </p:sp>
      <p:sp>
        <p:nvSpPr>
          <p:cNvPr id="3" name="1. 先結束其他除錯連線">
            <a:extLst xmlns:a="http://schemas.openxmlformats.org/drawingml/2006/main">
              <a:ext uri="{FF2B5EF4-FFF2-40B4-BE49-F238E27FC236}">
                <a16:creationId xmlns:a16="http://schemas.microsoft.com/office/drawing/2014/main" id="{D53261B0-3657-47D9-9CDB-703E53A0D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1. 先結束其他除錯連線</a:t>
            </a:r>
          </a:p>
        </p:txBody>
      </p:sp>
      <p:sp>
        <p:nvSpPr>
          <p:cNvPr id="4" name="只接這一片 EGO-XZ7，關閉 Vivado Hardware Manag">
            <a:extLst xmlns:a="http://schemas.openxmlformats.org/drawingml/2006/main">
              <a:ext uri="{FF2B5EF4-FFF2-40B4-BE49-F238E27FC236}">
                <a16:creationId xmlns:a16="http://schemas.microsoft.com/office/drawing/2014/main" id="{D88CA3C5-209D-4861-AECA-0C54BC69F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只接這一片 EGO-XZ7，關閉 Vivado Hardware Manager 及 SDK 正在跑的 Debug 工作階段。Terminal 可保持連線。</a:t>
            </a:r>
          </a:p>
        </p:txBody>
      </p:sp>
      <p:sp>
        <p:nvSpPr>
          <p:cNvPr id="5" name="2. 開啟 XSCT Console">
            <a:extLst xmlns:a="http://schemas.openxmlformats.org/drawingml/2006/main">
              <a:ext uri="{FF2B5EF4-FFF2-40B4-BE49-F238E27FC236}">
                <a16:creationId xmlns:a16="http://schemas.microsoft.com/office/drawing/2014/main" id="{E11B6FE6-B628-4801-B63F-A219536D8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2. 開啟 XSCT Console</a:t>
            </a:r>
          </a:p>
        </p:txBody>
      </p:sp>
      <p:sp>
        <p:nvSpPr>
          <p:cNvPr id="6" name="在 SDK 選 Xilinx、XSCT Console。若未列出，用 Win">
            <a:extLst xmlns:a="http://schemas.openxmlformats.org/drawingml/2006/main">
              <a:ext uri="{FF2B5EF4-FFF2-40B4-BE49-F238E27FC236}">
                <a16:creationId xmlns:a16="http://schemas.microsoft.com/office/drawing/2014/main" id="{B9862753-A043-4458-B0BC-9B5E155D2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7657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在 SDK 選 Xilinx、XSCT Console。若未列出，用 Window、Show View、Other... 搜尋 XSCT Console。</a:t>
            </a:r>
          </a:p>
        </p:txBody>
      </p:sp>
      <p:sp>
        <p:nvSpPr>
          <p:cNvPr id="7" name="source C:/soc_hw2/scripts/run_prebuilt">
            <a:extLst xmlns:a="http://schemas.openxmlformats.org/drawingml/2006/main">
              <a:ext uri="{FF2B5EF4-FFF2-40B4-BE49-F238E27FC236}">
                <a16:creationId xmlns:a16="http://schemas.microsoft.com/office/drawing/2014/main" id="{8A16A293-6B21-48ED-BA18-DA046F60E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53C55"/>
                </a:solidFill>
                <a:latin typeface="Consolas"/>
                <a:ea typeface="Consolas"/>
                <a:cs typeface="Consolas"/>
              </a:defRPr>
            </a:defPPr>
            <a:lvl1pPr>
              <a:defRPr sz="2100" b="0">
                <a:solidFill>
                  <a:srgbClr val="153C55"/>
                </a:solidFill>
                <a:latin typeface="Consolas"/>
                <a:ea typeface="Consolas"/>
                <a:cs typeface="Consolas"/>
              </a:defRPr>
            </a:lvl1pPr>
            <a:lvl2pPr>
              <a:defRPr sz="2100" b="0">
                <a:solidFill>
                  <a:srgbClr val="153C55"/>
                </a:solidFill>
                <a:latin typeface="Consolas"/>
                <a:ea typeface="Consolas"/>
                <a:cs typeface="Consolas"/>
              </a:defRPr>
            </a:lvl2pPr>
            <a:lvl3pPr>
              <a:defRPr sz="2100" b="0">
                <a:solidFill>
                  <a:srgbClr val="153C55"/>
                </a:solidFill>
                <a:latin typeface="Consolas"/>
                <a:ea typeface="Consolas"/>
                <a:cs typeface="Consolas"/>
              </a:defRPr>
            </a:lvl3pPr>
            <a:lvl4pPr>
              <a:defRPr sz="2100" b="0">
                <a:solidFill>
                  <a:srgbClr val="153C55"/>
                </a:solidFill>
                <a:latin typeface="Consolas"/>
                <a:ea typeface="Consolas"/>
                <a:cs typeface="Consolas"/>
              </a:defRPr>
            </a:lvl4pPr>
            <a:lvl5pPr>
              <a:defRPr sz="2100" b="0">
                <a:solidFill>
                  <a:srgbClr val="153C55"/>
                </a:solidFill>
                <a:latin typeface="Consolas"/>
                <a:ea typeface="Consolas"/>
                <a:cs typeface="Consolas"/>
              </a:defRPr>
            </a:lvl5pPr>
            <a:lvl6pPr>
              <a:defRPr sz="2100" b="0">
                <a:solidFill>
                  <a:srgbClr val="153C55"/>
                </a:solidFill>
                <a:latin typeface="Consolas"/>
                <a:ea typeface="Consolas"/>
                <a:cs typeface="Consolas"/>
              </a:defRPr>
            </a:lvl6pPr>
            <a:lvl7pPr>
              <a:defRPr sz="2100" b="0">
                <a:solidFill>
                  <a:srgbClr val="153C55"/>
                </a:solidFill>
                <a:latin typeface="Consolas"/>
                <a:ea typeface="Consolas"/>
                <a:cs typeface="Consolas"/>
              </a:defRPr>
            </a:lvl7pPr>
            <a:lvl8pPr>
              <a:defRPr sz="2100" b="0">
                <a:solidFill>
                  <a:srgbClr val="153C55"/>
                </a:solidFill>
                <a:latin typeface="Consolas"/>
                <a:ea typeface="Consolas"/>
                <a:cs typeface="Consolas"/>
              </a:defRPr>
            </a:lvl8pPr>
            <a:lvl9pPr>
              <a:defRPr sz="2100" b="0">
                <a:solidFill>
                  <a:srgbClr val="153C55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53C55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153C55"/>
                </a:solidFill>
                <a:latin typeface="Consolas"/>
                <a:ea typeface="Consolas"/>
                <a:cs typeface="Consolas"/>
              </a:rPr>
              <a:t>source C:/soc_hw2/scripts/run_prebuilt_demo.tcl</a:t>
            </a:r>
          </a:p>
        </p:txBody>
      </p:sp>
      <p:sp>
        <p:nvSpPr>
          <p:cNvPr id="8" name="此指令會重設板子，初始化 PS，下載包內 BIT 與 demo ELF，並直">
            <a:extLst xmlns:a="http://schemas.openxmlformats.org/drawingml/2006/main">
              <a:ext uri="{FF2B5EF4-FFF2-40B4-BE49-F238E27FC236}">
                <a16:creationId xmlns:a16="http://schemas.microsoft.com/office/drawing/2014/main" id="{3AC2BD2C-1396-45C1-BBCA-B70EECF5C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此指令會重設板子，初始化 PS，下載包內 BIT 與 demo ELF，並直接開始執行。</a:t>
            </a:r>
          </a:p>
        </p:txBody>
      </p:sp>
      <p:sp>
        <p:nvSpPr>
          <p:cNvPr id="9" name="完成時：XSCT 顯示 HW2_DEMO_RUNNING，接著測試 S6。">
            <a:extLst xmlns:a="http://schemas.openxmlformats.org/drawingml/2006/main">
              <a:ext uri="{FF2B5EF4-FFF2-40B4-BE49-F238E27FC236}">
                <a16:creationId xmlns:a16="http://schemas.microsoft.com/office/drawing/2014/main" id="{E4E8F230-3118-458B-A488-EA4D3DA31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8775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rPr>
              <a:t>完成時：XSCT 顯示 HW2_DEMO_RUNNING，接著測試 S6。</a:t>
            </a:r>
          </a:p>
        </p:txBody>
      </p:sp>
      <p:sp>
        <p:nvSpPr>
          <p:cNvPr id="10" name="34">
            <a:extLst xmlns:a="http://schemas.openxmlformats.org/drawingml/2006/main">
              <a:ext uri="{FF2B5EF4-FFF2-40B4-BE49-F238E27FC236}">
                <a16:creationId xmlns:a16="http://schemas.microsoft.com/office/drawing/2014/main" id="{B9B4B50B-64A3-46CF-A17B-695FF8A45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436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557657284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DK 專案建立的指令備案">
            <a:extLst xmlns:a="http://schemas.openxmlformats.org/drawingml/2006/main">
              <a:ext uri="{FF2B5EF4-FFF2-40B4-BE49-F238E27FC236}">
                <a16:creationId xmlns:a16="http://schemas.microsoft.com/office/drawing/2014/main" id="{2723900B-302A-4970-B65E-FE36EFD69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SDK 專案建立的指令備案</a:t>
            </a:r>
          </a:p>
        </p:txBody>
      </p:sp>
      <p:sp>
        <p:nvSpPr>
          <p:cNvPr id="3" name="1. 適用情況">
            <a:extLst xmlns:a="http://schemas.openxmlformats.org/drawingml/2006/main">
              <a:ext uri="{FF2B5EF4-FFF2-40B4-BE49-F238E27FC236}">
                <a16:creationId xmlns:a16="http://schemas.microsoft.com/office/drawing/2014/main" id="{5CBB990B-CC8F-4831-9767-36D93AF20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1. 適用情況</a:t>
            </a:r>
          </a:p>
        </p:txBody>
      </p:sp>
      <p:sp>
        <p:nvSpPr>
          <p:cNvPr id="4" name="適用於新建專案或依 firmware 原始碼重建。若已在 SDK 修改 C，">
            <a:extLst xmlns:a="http://schemas.openxmlformats.org/drawingml/2006/main">
              <a:ext uri="{FF2B5EF4-FFF2-40B4-BE49-F238E27FC236}">
                <a16:creationId xmlns:a16="http://schemas.microsoft.com/office/drawing/2014/main" id="{71CDD7F1-30C1-4B1B-9B20-F94430D3D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適用於新建專案或依 firmware 原始碼重建。若已在 SDK 修改 C，先複製回 firmware，再關閉 SDK。</a:t>
            </a:r>
          </a:p>
        </p:txBody>
      </p:sp>
      <p:sp>
        <p:nvSpPr>
          <p:cNvPr id="5" name="2. 從安裝資料夾啟動 XSCT">
            <a:extLst xmlns:a="http://schemas.openxmlformats.org/drawingml/2006/main">
              <a:ext uri="{FF2B5EF4-FFF2-40B4-BE49-F238E27FC236}">
                <a16:creationId xmlns:a16="http://schemas.microsoft.com/office/drawing/2014/main" id="{8E3B3DF2-B0E7-4154-B715-84B9555F8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2. 從安裝資料夾啟動 XSCT</a:t>
            </a:r>
          </a:p>
        </p:txBody>
      </p:sp>
      <p:sp>
        <p:nvSpPr>
          <p:cNvPr id="6" name="在 SDK\2018.3\bin 雙擊 xsct.bat。在出現的 xsct">
            <a:extLst xmlns:a="http://schemas.openxmlformats.org/drawingml/2006/main">
              <a:ext uri="{FF2B5EF4-FFF2-40B4-BE49-F238E27FC236}">
                <a16:creationId xmlns:a16="http://schemas.microsoft.com/office/drawing/2014/main" id="{5CF84EDA-22D3-4BED-8FB4-6EFCB1C3E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7657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在 SDK\2018.3\bin 雙擊 xsct.bat。在出現的 xsct% 提示字元輸入下方指令。</a:t>
            </a:r>
          </a:p>
        </p:txBody>
      </p:sp>
      <p:sp>
        <p:nvSpPr>
          <p:cNvPr id="7" name="source C:/soc_hw2/scripts/create_sdk_w">
            <a:extLst xmlns:a="http://schemas.openxmlformats.org/drawingml/2006/main">
              <a:ext uri="{FF2B5EF4-FFF2-40B4-BE49-F238E27FC236}">
                <a16:creationId xmlns:a16="http://schemas.microsoft.com/office/drawing/2014/main" id="{E19032D9-A0FD-4D78-BB3E-B87EF4496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53C55"/>
                </a:solidFill>
                <a:latin typeface="Consolas"/>
                <a:ea typeface="Consolas"/>
                <a:cs typeface="Consolas"/>
              </a:defRPr>
            </a:defPPr>
            <a:lvl1pPr>
              <a:defRPr sz="2025" b="0">
                <a:solidFill>
                  <a:srgbClr val="153C55"/>
                </a:solidFill>
                <a:latin typeface="Consolas"/>
                <a:ea typeface="Consolas"/>
                <a:cs typeface="Consolas"/>
              </a:defRPr>
            </a:lvl1pPr>
            <a:lvl2pPr>
              <a:defRPr sz="2025" b="0">
                <a:solidFill>
                  <a:srgbClr val="153C55"/>
                </a:solidFill>
                <a:latin typeface="Consolas"/>
                <a:ea typeface="Consolas"/>
                <a:cs typeface="Consolas"/>
              </a:defRPr>
            </a:lvl2pPr>
            <a:lvl3pPr>
              <a:defRPr sz="2025" b="0">
                <a:solidFill>
                  <a:srgbClr val="153C55"/>
                </a:solidFill>
                <a:latin typeface="Consolas"/>
                <a:ea typeface="Consolas"/>
                <a:cs typeface="Consolas"/>
              </a:defRPr>
            </a:lvl3pPr>
            <a:lvl4pPr>
              <a:defRPr sz="2025" b="0">
                <a:solidFill>
                  <a:srgbClr val="153C55"/>
                </a:solidFill>
                <a:latin typeface="Consolas"/>
                <a:ea typeface="Consolas"/>
                <a:cs typeface="Consolas"/>
              </a:defRPr>
            </a:lvl4pPr>
            <a:lvl5pPr>
              <a:defRPr sz="2025" b="0">
                <a:solidFill>
                  <a:srgbClr val="153C55"/>
                </a:solidFill>
                <a:latin typeface="Consolas"/>
                <a:ea typeface="Consolas"/>
                <a:cs typeface="Consolas"/>
              </a:defRPr>
            </a:lvl5pPr>
            <a:lvl6pPr>
              <a:defRPr sz="2025" b="0">
                <a:solidFill>
                  <a:srgbClr val="153C55"/>
                </a:solidFill>
                <a:latin typeface="Consolas"/>
                <a:ea typeface="Consolas"/>
                <a:cs typeface="Consolas"/>
              </a:defRPr>
            </a:lvl6pPr>
            <a:lvl7pPr>
              <a:defRPr sz="2025" b="0">
                <a:solidFill>
                  <a:srgbClr val="153C55"/>
                </a:solidFill>
                <a:latin typeface="Consolas"/>
                <a:ea typeface="Consolas"/>
                <a:cs typeface="Consolas"/>
              </a:defRPr>
            </a:lvl7pPr>
            <a:lvl8pPr>
              <a:defRPr sz="2025" b="0">
                <a:solidFill>
                  <a:srgbClr val="153C55"/>
                </a:solidFill>
                <a:latin typeface="Consolas"/>
                <a:ea typeface="Consolas"/>
                <a:cs typeface="Consolas"/>
              </a:defRPr>
            </a:lvl8pPr>
            <a:lvl9pPr>
              <a:defRPr sz="2025" b="0">
                <a:solidFill>
                  <a:srgbClr val="153C55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53C5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53C55"/>
                </a:solidFill>
                <a:latin typeface="Consolas"/>
                <a:ea typeface="Consolas"/>
                <a:cs typeface="Consolas"/>
              </a:rPr>
              <a:t>source C:/soc_hw2/scripts/create_sdk_workspace.tcl</a:t>
            </a:r>
          </a:p>
        </p:txBody>
      </p:sp>
      <p:sp>
        <p:nvSpPr>
          <p:cNvPr id="8" name="看到 SDK_BUILD_OK 後，開 SDK，workspace 選 C:">
            <a:extLst xmlns:a="http://schemas.openxmlformats.org/drawingml/2006/main">
              <a:ext uri="{FF2B5EF4-FFF2-40B4-BE49-F238E27FC236}">
                <a16:creationId xmlns:a16="http://schemas.microsoft.com/office/drawing/2014/main" id="{99C7397B-7C32-4EED-9804-5C63CB3BE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看到 SDK_BUILD_OK 後，開 SDK，workspace 選 C:\soc_hw2\sdk。此步不下載板子。</a:t>
            </a:r>
          </a:p>
        </p:txBody>
      </p:sp>
      <p:sp>
        <p:nvSpPr>
          <p:cNvPr id="9" name="完成時：hw_platform、standalone_bsp、hw2_dem">
            <a:extLst xmlns:a="http://schemas.openxmlformats.org/drawingml/2006/main">
              <a:ext uri="{FF2B5EF4-FFF2-40B4-BE49-F238E27FC236}">
                <a16:creationId xmlns:a16="http://schemas.microsoft.com/office/drawing/2014/main" id="{7ACBE0FE-5B94-4342-B701-C900FE253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8775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rPr>
              <a:t>完成時：hw_platform、standalone_bsp、hw2_demo 與 ELF 自動建立。</a:t>
            </a:r>
          </a:p>
        </p:txBody>
      </p:sp>
      <p:sp>
        <p:nvSpPr>
          <p:cNvPr id="10" name="35">
            <a:extLst xmlns:a="http://schemas.openxmlformats.org/drawingml/2006/main">
              <a:ext uri="{FF2B5EF4-FFF2-40B4-BE49-F238E27FC236}">
                <a16:creationId xmlns:a16="http://schemas.microsoft.com/office/drawing/2014/main" id="{127D71B1-0AE5-420E-BBFC-85A60B7AC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436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652200140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找不到 xc7z020 時">
            <a:extLst xmlns:a="http://schemas.openxmlformats.org/drawingml/2006/main">
              <a:ext uri="{FF2B5EF4-FFF2-40B4-BE49-F238E27FC236}">
                <a16:creationId xmlns:a16="http://schemas.microsoft.com/office/drawing/2014/main" id="{9DD31D1B-1C51-4E86-BACC-8183C6495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找不到 xc7z020 時</a:t>
            </a:r>
          </a:p>
        </p:txBody>
      </p:sp>
      <p:sp>
        <p:nvSpPr>
          <p:cNvPr id="3" name="1. 回到供電與 USB">
            <a:extLst xmlns:a="http://schemas.openxmlformats.org/drawingml/2006/main">
              <a:ext uri="{FF2B5EF4-FFF2-40B4-BE49-F238E27FC236}">
                <a16:creationId xmlns:a16="http://schemas.microsoft.com/office/drawing/2014/main" id="{612E1B39-BF62-4B05-AAA4-A8D358074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1. 回到供電與 USB</a:t>
            </a:r>
          </a:p>
        </p:txBody>
      </p:sp>
      <p:sp>
        <p:nvSpPr>
          <p:cNvPr id="4" name="確認電源已開，USB 線能傳資料，接到可供 JTAG 使用的板上介面。重新插">
            <a:extLst xmlns:a="http://schemas.openxmlformats.org/drawingml/2006/main">
              <a:ext uri="{FF2B5EF4-FFF2-40B4-BE49-F238E27FC236}">
                <a16:creationId xmlns:a16="http://schemas.microsoft.com/office/drawing/2014/main" id="{FC177190-1A48-48AD-AB75-489A76CC2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確認電源已開，USB 線能傳資料，接到可供 JTAG 使用的板上介面。重新插拔後再試。</a:t>
            </a:r>
          </a:p>
        </p:txBody>
      </p:sp>
      <p:sp>
        <p:nvSpPr>
          <p:cNvPr id="5" name="2. 檢查驅動">
            <a:extLst xmlns:a="http://schemas.openxmlformats.org/drawingml/2006/main">
              <a:ext uri="{FF2B5EF4-FFF2-40B4-BE49-F238E27FC236}">
                <a16:creationId xmlns:a16="http://schemas.microsoft.com/office/drawing/2014/main" id="{6251D345-05E0-491A-91E4-80A0B1E21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289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2. 檢查驅動</a:t>
            </a:r>
          </a:p>
        </p:txBody>
      </p:sp>
      <p:sp>
        <p:nvSpPr>
          <p:cNvPr id="6" name="裝置管理員不應把相關 USB 裝置列為未知裝置。依第 7 頁用管理員身分安裝">
            <a:extLst xmlns:a="http://schemas.openxmlformats.org/drawingml/2006/main">
              <a:ext uri="{FF2B5EF4-FFF2-40B4-BE49-F238E27FC236}">
                <a16:creationId xmlns:a16="http://schemas.microsoft.com/office/drawing/2014/main" id="{845583FC-E20D-4BBF-BBC1-43E390DC6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裝置管理員不應把相關 USB 裝置列為未知裝置。依第 7 頁用管理員身分安裝 Cable driver。</a:t>
            </a:r>
          </a:p>
        </p:txBody>
      </p:sp>
      <p:sp>
        <p:nvSpPr>
          <p:cNvPr id="7" name="3. 重新連線">
            <a:extLst xmlns:a="http://schemas.openxmlformats.org/drawingml/2006/main">
              <a:ext uri="{FF2B5EF4-FFF2-40B4-BE49-F238E27FC236}">
                <a16:creationId xmlns:a16="http://schemas.microsoft.com/office/drawing/2014/main" id="{4BC15243-7A33-4F00-87E2-CB30CF648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3. 重新連線</a:t>
            </a:r>
          </a:p>
        </p:txBody>
      </p:sp>
      <p:sp>
        <p:nvSpPr>
          <p:cNvPr id="8" name="Vivado 的 Open Hardware Manager 內，Open ">
            <a:extLst xmlns:a="http://schemas.openxmlformats.org/drawingml/2006/main">
              <a:ext uri="{FF2B5EF4-FFF2-40B4-BE49-F238E27FC236}">
                <a16:creationId xmlns:a16="http://schemas.microsoft.com/office/drawing/2014/main" id="{6332165E-1E65-42D0-A7EC-DF34664E0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109728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Vivado 的 Open Hardware Manager 內，Open target 選 Auto Connect。SDK 連線之前，先關閉 Vivado 的硬體連線。</a:t>
            </a:r>
          </a:p>
        </p:txBody>
      </p:sp>
      <p:sp>
        <p:nvSpPr>
          <p:cNvPr id="9" name="完成時：先處理到看見 xc7z020，再進行下載。">
            <a:extLst xmlns:a="http://schemas.openxmlformats.org/drawingml/2006/main">
              <a:ext uri="{FF2B5EF4-FFF2-40B4-BE49-F238E27FC236}">
                <a16:creationId xmlns:a16="http://schemas.microsoft.com/office/drawing/2014/main" id="{1AEDB483-8359-46C6-A771-F1E1418A3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8775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rPr>
              <a:t>完成時：先處理到看見 xc7z020，再進行下載。</a:t>
            </a:r>
          </a:p>
        </p:txBody>
      </p:sp>
      <p:sp>
        <p:nvSpPr>
          <p:cNvPr id="10" name="36">
            <a:extLst xmlns:a="http://schemas.openxmlformats.org/drawingml/2006/main">
              <a:ext uri="{FF2B5EF4-FFF2-40B4-BE49-F238E27FC236}">
                <a16:creationId xmlns:a16="http://schemas.microsoft.com/office/drawing/2014/main" id="{C28754F7-9C82-4253-A198-A7F6EF23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436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1700917444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UART 空白、亂碼或埠忙碌">
            <a:extLst xmlns:a="http://schemas.openxmlformats.org/drawingml/2006/main">
              <a:ext uri="{FF2B5EF4-FFF2-40B4-BE49-F238E27FC236}">
                <a16:creationId xmlns:a16="http://schemas.microsoft.com/office/drawing/2014/main" id="{A80D9D4D-8F81-4BED-B207-34782E01A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UART 空白、亂碼或埠忙碌</a:t>
            </a:r>
          </a:p>
        </p:txBody>
      </p:sp>
      <p:sp>
        <p:nvSpPr>
          <p:cNvPr id="3" name="空白">
            <a:extLst xmlns:a="http://schemas.openxmlformats.org/drawingml/2006/main">
              <a:ext uri="{FF2B5EF4-FFF2-40B4-BE49-F238E27FC236}">
                <a16:creationId xmlns:a16="http://schemas.microsoft.com/office/drawing/2014/main" id="{B6ECA61F-597D-407A-92AF-F9B5F6C13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空白</a:t>
            </a:r>
          </a:p>
        </p:txBody>
      </p:sp>
      <p:sp>
        <p:nvSpPr>
          <p:cNvPr id="4" name="確認新 COM 號。Terminal 先連線，再重新執行 Debug 或第 ">
            <a:extLst xmlns:a="http://schemas.openxmlformats.org/drawingml/2006/main">
              <a:ext uri="{FF2B5EF4-FFF2-40B4-BE49-F238E27FC236}">
                <a16:creationId xmlns:a16="http://schemas.microsoft.com/office/drawing/2014/main" id="{D1461CB7-001A-49C8-B85F-267A1AB03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確認新 COM 號。Terminal 先連線，再重新執行 Debug 或第 34 頁腳本，讓 Ready 訊息重新送出。</a:t>
            </a:r>
          </a:p>
        </p:txBody>
      </p:sp>
      <p:sp>
        <p:nvSpPr>
          <p:cNvPr id="5" name="亂碼">
            <a:extLst xmlns:a="http://schemas.openxmlformats.org/drawingml/2006/main">
              <a:ext uri="{FF2B5EF4-FFF2-40B4-BE49-F238E27FC236}">
                <a16:creationId xmlns:a16="http://schemas.microsoft.com/office/drawing/2014/main" id="{2865ABC9-954F-4ABA-9443-00347028E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289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亂碼</a:t>
            </a:r>
          </a:p>
        </p:txBody>
      </p:sp>
      <p:sp>
        <p:nvSpPr>
          <p:cNvPr id="6" name="把 Baud Rate 改成 115200，Data Bits 8，Pari">
            <a:extLst xmlns:a="http://schemas.openxmlformats.org/drawingml/2006/main">
              <a:ext uri="{FF2B5EF4-FFF2-40B4-BE49-F238E27FC236}">
                <a16:creationId xmlns:a16="http://schemas.microsoft.com/office/drawing/2014/main" id="{17939004-B227-48C5-8672-674160F39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把 Baud Rate 改成 115200，Data Bits 8，Parity None，Stop Bits 1，Flow Control None。</a:t>
            </a:r>
          </a:p>
        </p:txBody>
      </p:sp>
      <p:sp>
        <p:nvSpPr>
          <p:cNvPr id="7" name="Port busy / Access denied">
            <a:extLst xmlns:a="http://schemas.openxmlformats.org/drawingml/2006/main">
              <a:ext uri="{FF2B5EF4-FFF2-40B4-BE49-F238E27FC236}">
                <a16:creationId xmlns:a16="http://schemas.microsoft.com/office/drawing/2014/main" id="{50CB2D7B-0BEF-48CC-A58F-6416C6F70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Port busy / Access denied</a:t>
            </a:r>
          </a:p>
        </p:txBody>
      </p:sp>
      <p:sp>
        <p:nvSpPr>
          <p:cNvPr id="8" name="關閉另一個終端機或重複開啟的 SDK Terminal 連線，再重新 Con">
            <a:extLst xmlns:a="http://schemas.openxmlformats.org/drawingml/2006/main">
              <a:ext uri="{FF2B5EF4-FFF2-40B4-BE49-F238E27FC236}">
                <a16:creationId xmlns:a16="http://schemas.microsoft.com/office/drawing/2014/main" id="{D7A4A744-301D-4381-B57E-67C53287A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109728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關閉另一個終端機或重複開啟的 SDK Terminal 連線，再重新 Connect。</a:t>
            </a:r>
          </a:p>
        </p:txBody>
      </p:sp>
      <p:sp>
        <p:nvSpPr>
          <p:cNvPr id="9" name="完成時：LED 有計數時，可按 S6 觸發新的 UART 訊息。">
            <a:extLst xmlns:a="http://schemas.openxmlformats.org/drawingml/2006/main">
              <a:ext uri="{FF2B5EF4-FFF2-40B4-BE49-F238E27FC236}">
                <a16:creationId xmlns:a16="http://schemas.microsoft.com/office/drawing/2014/main" id="{ADB6513A-CA23-4C82-8F9D-E8EC3238F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8775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rPr>
              <a:t>完成時：LED 有計數時，可按 S6 觸發新的 UART 訊息。</a:t>
            </a:r>
          </a:p>
        </p:txBody>
      </p:sp>
      <p:sp>
        <p:nvSpPr>
          <p:cNvPr id="10" name="37">
            <a:extLst xmlns:a="http://schemas.openxmlformats.org/drawingml/2006/main">
              <a:ext uri="{FF2B5EF4-FFF2-40B4-BE49-F238E27FC236}">
                <a16:creationId xmlns:a16="http://schemas.microsoft.com/office/drawing/2014/main" id="{BFC01BE1-FD7F-46EF-B983-78904A7BA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436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1966671212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PGA 成功下載，LED 卻沒動">
            <a:extLst xmlns:a="http://schemas.openxmlformats.org/drawingml/2006/main">
              <a:ext uri="{FF2B5EF4-FFF2-40B4-BE49-F238E27FC236}">
                <a16:creationId xmlns:a16="http://schemas.microsoft.com/office/drawing/2014/main" id="{23301D6C-CF64-47EF-BA32-60CF45F14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FPGA 成功下載，LED 卻沒動</a:t>
            </a:r>
          </a:p>
        </p:txBody>
      </p:sp>
      <p:sp>
        <p:nvSpPr>
          <p:cNvPr id="3" name="1. 確認 C 程式是否已執行">
            <a:extLst xmlns:a="http://schemas.openxmlformats.org/drawingml/2006/main">
              <a:ext uri="{FF2B5EF4-FFF2-40B4-BE49-F238E27FC236}">
                <a16:creationId xmlns:a16="http://schemas.microsoft.com/office/drawing/2014/main" id="{841C7ABB-C67A-4FD2-983F-0C2D9A465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1. 確認 C 程式是否已執行</a:t>
            </a:r>
          </a:p>
        </p:txBody>
      </p:sp>
      <p:sp>
        <p:nvSpPr>
          <p:cNvPr id="4" name="Program FPGA 只設定 PL。還需讓 Debug 設定初始化 PS">
            <a:extLst xmlns:a="http://schemas.openxmlformats.org/drawingml/2006/main">
              <a:ext uri="{FF2B5EF4-FFF2-40B4-BE49-F238E27FC236}">
                <a16:creationId xmlns:a16="http://schemas.microsoft.com/office/drawing/2014/main" id="{00451862-FB61-4E98-872B-60DE56883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Program FPGA 只設定 PL。還需讓 Debug 設定初始化 PS、下載 hw2_demo.elf 並啟動 CPU #0。</a:t>
            </a:r>
          </a:p>
        </p:txBody>
      </p:sp>
      <p:sp>
        <p:nvSpPr>
          <p:cNvPr id="5" name="2. 檢查是否停在 main">
            <a:extLst xmlns:a="http://schemas.openxmlformats.org/drawingml/2006/main">
              <a:ext uri="{FF2B5EF4-FFF2-40B4-BE49-F238E27FC236}">
                <a16:creationId xmlns:a16="http://schemas.microsoft.com/office/drawing/2014/main" id="{ECA8BBF2-CA40-4E84-8B63-76D9075C7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289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2. 檢查是否停在 main</a:t>
            </a:r>
          </a:p>
        </p:txBody>
      </p:sp>
      <p:sp>
        <p:nvSpPr>
          <p:cNvPr id="6" name="如果顯示 Suspended，選 ARM Cortex-A9 #0 並按 F">
            <a:extLst xmlns:a="http://schemas.openxmlformats.org/drawingml/2006/main">
              <a:ext uri="{FF2B5EF4-FFF2-40B4-BE49-F238E27FC236}">
                <a16:creationId xmlns:a16="http://schemas.microsoft.com/office/drawing/2014/main" id="{2BB4576E-4AD7-46E0-AA77-CF6A16344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如果顯示 Suspended，選 ARM Cortex-A9 #0 並按 F8。</a:t>
            </a:r>
          </a:p>
        </p:txBody>
      </p:sp>
      <p:sp>
        <p:nvSpPr>
          <p:cNvPr id="7" name="3. 檢查使用同一包檔案">
            <a:extLst xmlns:a="http://schemas.openxmlformats.org/drawingml/2006/main">
              <a:ext uri="{FF2B5EF4-FFF2-40B4-BE49-F238E27FC236}">
                <a16:creationId xmlns:a16="http://schemas.microsoft.com/office/drawing/2014/main" id="{3A006D2E-46B8-4DE6-8452-56ED1A9F4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3. 檢查使用同一包檔案</a:t>
            </a:r>
          </a:p>
        </p:txBody>
      </p:sp>
      <p:sp>
        <p:nvSpPr>
          <p:cNvPr id="8" name="DDR 下載失敗或按鈕失效時，確認 BIT、HDF、ps7_init.tcl">
            <a:extLst xmlns:a="http://schemas.openxmlformats.org/drawingml/2006/main">
              <a:ext uri="{FF2B5EF4-FFF2-40B4-BE49-F238E27FC236}">
                <a16:creationId xmlns:a16="http://schemas.microsoft.com/office/drawing/2014/main" id="{0DDFA7CB-ED92-4F62-B5C1-A12DB7F3B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109728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DDR 下載失敗或按鈕失效時，確認 BIT、HDF、ps7_init.tcl 與 ELF 屬於同一版本，或用第 34 頁重新載入。</a:t>
            </a:r>
          </a:p>
        </p:txBody>
      </p:sp>
      <p:sp>
        <p:nvSpPr>
          <p:cNvPr id="9" name="完成時：CPU Running，LED 每 0.5 秒變化，S6 可重新計數">
            <a:extLst xmlns:a="http://schemas.openxmlformats.org/drawingml/2006/main">
              <a:ext uri="{FF2B5EF4-FFF2-40B4-BE49-F238E27FC236}">
                <a16:creationId xmlns:a16="http://schemas.microsoft.com/office/drawing/2014/main" id="{6EAEF37D-4AB4-49D4-AA41-086F0364E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8775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rPr>
              <a:t>完成時：CPU Running，LED 每 0.5 秒變化，S6 可重新計數。</a:t>
            </a:r>
          </a:p>
        </p:txBody>
      </p:sp>
      <p:sp>
        <p:nvSpPr>
          <p:cNvPr id="10" name="38">
            <a:extLst xmlns:a="http://schemas.openxmlformats.org/drawingml/2006/main">
              <a:ext uri="{FF2B5EF4-FFF2-40B4-BE49-F238E27FC236}">
                <a16:creationId xmlns:a16="http://schemas.microsoft.com/office/drawing/2014/main" id="{188B7370-6B60-4319-A99B-DE5F77C95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436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1727893740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展示前逐項確認">
            <a:extLst xmlns:a="http://schemas.openxmlformats.org/drawingml/2006/main">
              <a:ext uri="{FF2B5EF4-FFF2-40B4-BE49-F238E27FC236}">
                <a16:creationId xmlns:a16="http://schemas.microsoft.com/office/drawing/2014/main" id="{88387257-A3B6-4CC2-9E29-B16C2537F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展示前逐項確認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E2F84E-9D98-414F-BDB9-D1F639885568}"/>
              </a:ext>
            </a:extLst>
          </p:cNvPr>
          <p:cNvGraphicFramePr/>
          <p:nvPr/>
        </p:nvGraphicFramePr>
        <p:xfrm>
          <a:off xmlns:a="http://schemas.openxmlformats.org/drawingml/2006/main" x="609600" y="1504950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7734300"/>
              </a:tblGrid>
              <a:tr h="6667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63C5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檢查項目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7DD"/>
                      </a:solidFill>
                      <a:prstDash val="solid"/>
                    </a:lnL>
                    <a:lnR w="9525">
                      <a:solidFill>
                        <a:srgbClr val="CFD7DD"/>
                      </a:solidFill>
                      <a:prstDash val="solid"/>
                    </a:lnR>
                    <a:lnT w="9525">
                      <a:solidFill>
                        <a:srgbClr val="CFD7DD"/>
                      </a:solidFill>
                      <a:prstDash val="solid"/>
                    </a:lnT>
                    <a:lnB w="9525">
                      <a:solidFill>
                        <a:srgbClr val="CFD7DD"/>
                      </a:solidFill>
                      <a:prstDash val="solid"/>
                    </a:lnB>
                    <a:solidFill>
                      <a:srgbClr val="E9F0F5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63C55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通過的畫面或動作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7DD"/>
                      </a:solidFill>
                      <a:prstDash val="solid"/>
                    </a:lnR>
                    <a:lnT w="9525">
                      <a:solidFill>
                        <a:srgbClr val="CFD7DD"/>
                      </a:solidFill>
                      <a:prstDash val="solid"/>
                    </a:lnT>
                    <a:lnB w="9525">
                      <a:solidFill>
                        <a:srgbClr val="CFD7DD"/>
                      </a:solidFill>
                      <a:prstDash val="solid"/>
                    </a:lnB>
                    <a:solidFill>
                      <a:srgbClr val="E9F0F5"/>
                    </a:solidFill>
                  </a:tcPr>
                </a:tc>
              </a:tr>
              <a:tr h="6667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USB 與供電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7DD"/>
                      </a:solidFill>
                      <a:prstDash val="solid"/>
                    </a:lnL>
                    <a:lnR w="9525">
                      <a:solidFill>
                        <a:srgbClr val="CFD7DD"/>
                      </a:solidFill>
                      <a:prstDash val="solid"/>
                    </a:lnR>
                    <a:lnB w="9525">
                      <a:solidFill>
                        <a:srgbClr val="CF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已開電源，JTAG 看得到 xc7z020。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7DD"/>
                      </a:solidFill>
                      <a:prstDash val="solid"/>
                    </a:lnR>
                    <a:lnB w="9525">
                      <a:solidFill>
                        <a:srgbClr val="CF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ARM 程式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7DD"/>
                      </a:solidFill>
                      <a:prstDash val="solid"/>
                    </a:lnL>
                    <a:lnR w="9525">
                      <a:solidFill>
                        <a:srgbClr val="CFD7DD"/>
                      </a:solidFill>
                      <a:prstDash val="solid"/>
                    </a:lnR>
                    <a:lnB w="9525">
                      <a:solidFill>
                        <a:srgbClr val="CF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Core #0 Running，Terminal 出現 Ready。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7DD"/>
                      </a:solidFill>
                      <a:prstDash val="solid"/>
                    </a:lnR>
                    <a:lnB w="9525">
                      <a:solidFill>
                        <a:srgbClr val="CF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LED 自動計數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7DD"/>
                      </a:solidFill>
                      <a:prstDash val="solid"/>
                    </a:lnL>
                    <a:lnR w="9525">
                      <a:solidFill>
                        <a:srgbClr val="CFD7DD"/>
                      </a:solidFill>
                      <a:prstDash val="solid"/>
                    </a:lnR>
                    <a:lnB w="9525">
                      <a:solidFill>
                        <a:srgbClr val="CF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數值每 0.5 秒更新，八顆 LED 顯示二進位。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7DD"/>
                      </a:solidFill>
                      <a:prstDash val="solid"/>
                    </a:lnR>
                    <a:lnB w="9525">
                      <a:solidFill>
                        <a:srgbClr val="CF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S6 中斷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7DD"/>
                      </a:solidFill>
                      <a:prstDash val="solid"/>
                    </a:lnL>
                    <a:lnR w="9525">
                      <a:solidFill>
                        <a:srgbClr val="CFD7DD"/>
                      </a:solidFill>
                      <a:prstDash val="solid"/>
                    </a:lnR>
                    <a:lnB w="9525">
                      <a:solidFill>
                        <a:srgbClr val="CF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按一下，LED 熄滅約兩秒，再從 1 計數。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7DD"/>
                      </a:solidFill>
                      <a:prstDash val="solid"/>
                    </a:lnR>
                    <a:lnB w="9525">
                      <a:solidFill>
                        <a:srgbClr val="CF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再次按下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FD7DD"/>
                      </a:solidFill>
                      <a:prstDash val="solid"/>
                    </a:lnL>
                    <a:lnR w="9525">
                      <a:solidFill>
                        <a:srgbClr val="CFD7DD"/>
                      </a:solidFill>
                      <a:prstDash val="solid"/>
                    </a:lnR>
                    <a:lnB w="9525">
                      <a:solidFill>
                        <a:srgbClr val="CF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222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再次收到 BUTTON 與 Resume，行為可重現。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FD7DD"/>
                      </a:solidFill>
                      <a:prstDash val="solid"/>
                    </a:lnR>
                    <a:lnB w="9525">
                      <a:solidFill>
                        <a:srgbClr val="CFD7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完成時：demo 版本已在原電腦完成實測，另一台仍需依此表確認。">
            <a:extLst xmlns:a="http://schemas.openxmlformats.org/drawingml/2006/main">
              <a:ext uri="{FF2B5EF4-FFF2-40B4-BE49-F238E27FC236}">
                <a16:creationId xmlns:a16="http://schemas.microsoft.com/office/drawing/2014/main" id="{43B3585F-D250-492D-9052-85388D8CE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8775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rPr>
              <a:t>完成時：demo 版本已在原電腦完成實測，另一台仍需依此表確認。</a:t>
            </a:r>
          </a:p>
        </p:txBody>
      </p:sp>
      <p:sp>
        <p:nvSpPr>
          <p:cNvPr id="5" name="39">
            <a:extLst xmlns:a="http://schemas.openxmlformats.org/drawingml/2006/main">
              <a:ext uri="{FF2B5EF4-FFF2-40B4-BE49-F238E27FC236}">
                <a16:creationId xmlns:a16="http://schemas.microsoft.com/office/drawing/2014/main" id="{EF5F1E13-0E17-4567-85E1-41C586EB6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436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1027891548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檔案位置與查閱依據">
            <a:extLst xmlns:a="http://schemas.openxmlformats.org/drawingml/2006/main">
              <a:ext uri="{FF2B5EF4-FFF2-40B4-BE49-F238E27FC236}">
                <a16:creationId xmlns:a16="http://schemas.microsoft.com/office/drawing/2014/main" id="{07EBF1E0-A2EE-4F2B-A28F-7F95C0C43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檔案位置與查閱依據</a:t>
            </a:r>
          </a:p>
        </p:txBody>
      </p:sp>
      <p:sp>
        <p:nvSpPr>
          <p:cNvPr id="3" name="另一台固定工程位置">
            <a:extLst xmlns:a="http://schemas.openxmlformats.org/drawingml/2006/main">
              <a:ext uri="{FF2B5EF4-FFF2-40B4-BE49-F238E27FC236}">
                <a16:creationId xmlns:a16="http://schemas.microsoft.com/office/drawing/2014/main" id="{29E86B86-F28F-4B70-A669-59091A2CE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另一台固定工程位置</a:t>
            </a:r>
          </a:p>
        </p:txBody>
      </p:sp>
      <p:sp>
        <p:nvSpPr>
          <p:cNvPr id="4" name="C:\soc_hw2。先讀 START_HERE.txt，完整說明在 REA">
            <a:extLst xmlns:a="http://schemas.openxmlformats.org/drawingml/2006/main">
              <a:ext uri="{FF2B5EF4-FFF2-40B4-BE49-F238E27FC236}">
                <a16:creationId xmlns:a16="http://schemas.microsoft.com/office/drawing/2014/main" id="{C6F886D2-1DCF-48D0-8FBE-CCDFCEC6B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C:\soc_hw2。先讀 START_HERE.txt，完整說明在 README_另一台操作.md。</a:t>
            </a:r>
          </a:p>
        </p:txBody>
      </p:sp>
      <p:sp>
        <p:nvSpPr>
          <p:cNvPr id="5" name="操作與實作依據">
            <a:extLst xmlns:a="http://schemas.openxmlformats.org/drawingml/2006/main">
              <a:ext uri="{FF2B5EF4-FFF2-40B4-BE49-F238E27FC236}">
                <a16:creationId xmlns:a16="http://schemas.microsoft.com/office/drawing/2014/main" id="{1254FBED-6AA6-47DC-952B-55158473D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289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操作與實作依據</a:t>
            </a:r>
          </a:p>
        </p:txBody>
      </p:sp>
      <p:sp>
        <p:nvSpPr>
          <p:cNvPr id="6" name="2018.3 實際 SDK 對話框、SDK 安裝內建說明、同包的原始碼與可攜">
            <a:extLst xmlns:a="http://schemas.openxmlformats.org/drawingml/2006/main">
              <a:ext uri="{FF2B5EF4-FFF2-40B4-BE49-F238E27FC236}">
                <a16:creationId xmlns:a16="http://schemas.microsoft.com/office/drawing/2014/main" id="{588EE0E0-CD48-40E3-8D5C-6CD7FA822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2018.3 實際 SDK 對話框、SDK 安裝內建說明、同包的原始碼與可攜 Tcl 腳本。</a:t>
            </a:r>
          </a:p>
        </p:txBody>
      </p:sp>
      <p:sp>
        <p:nvSpPr>
          <p:cNvPr id="7" name="原本的成功驗證">
            <a:extLst xmlns:a="http://schemas.openxmlformats.org/drawingml/2006/main">
              <a:ext uri="{FF2B5EF4-FFF2-40B4-BE49-F238E27FC236}">
                <a16:creationId xmlns:a16="http://schemas.microsoft.com/office/drawing/2014/main" id="{6F208C2A-E002-45E7-886F-D5BCB45FD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原本的成功驗證</a:t>
            </a:r>
          </a:p>
        </p:txBody>
      </p:sp>
      <p:sp>
        <p:nvSpPr>
          <p:cNvPr id="8" name="evidence 內保留 UART、上板與編譯驗證紀錄。docs 內是簡明實">
            <a:extLst xmlns:a="http://schemas.openxmlformats.org/drawingml/2006/main">
              <a:ext uri="{FF2B5EF4-FFF2-40B4-BE49-F238E27FC236}">
                <a16:creationId xmlns:a16="http://schemas.microsoft.com/office/drawing/2014/main" id="{00E29DD3-8F71-4A27-B43C-9AB292E76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109728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evidence 內保留 UART、上板與編譯驗證紀錄。docs 內是簡明實驗報告，本手冊放在 guide。</a:t>
            </a:r>
          </a:p>
        </p:txBody>
      </p:sp>
      <p:sp>
        <p:nvSpPr>
          <p:cNvPr id="9" name="完成時：保留完整 soc_hw2，後續修改仍可追溯與重新編譯。">
            <a:extLst xmlns:a="http://schemas.openxmlformats.org/drawingml/2006/main">
              <a:ext uri="{FF2B5EF4-FFF2-40B4-BE49-F238E27FC236}">
                <a16:creationId xmlns:a16="http://schemas.microsoft.com/office/drawing/2014/main" id="{067960DB-0C69-43F2-962F-5391D639D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8775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4634A"/>
                </a:solidFill>
                <a:latin typeface="Microsoft JhengHei"/>
                <a:ea typeface="Microsoft JhengHei"/>
                <a:cs typeface="Microsoft JhengHei"/>
              </a:rPr>
              <a:t>完成時：保留完整 soc_hw2，後續修改仍可追溯與重新編譯。</a:t>
            </a:r>
          </a:p>
        </p:txBody>
      </p:sp>
      <p:sp>
        <p:nvSpPr>
          <p:cNvPr id="10" name="40">
            <a:extLst xmlns:a="http://schemas.openxmlformats.org/drawingml/2006/main">
              <a:ext uri="{FF2B5EF4-FFF2-40B4-BE49-F238E27FC236}">
                <a16:creationId xmlns:a16="http://schemas.microsoft.com/office/drawing/2014/main" id="{2B3D2BBA-5133-4A07-B8CE-7AE002A96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436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678557927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LED 計數與暫停狀態機">
            <a:extLst xmlns:a="http://schemas.openxmlformats.org/drawingml/2006/main">
              <a:ext uri="{FF2B5EF4-FFF2-40B4-BE49-F238E27FC236}">
                <a16:creationId xmlns:a16="http://schemas.microsoft.com/office/drawing/2014/main" id="{D706D638-91A1-4E05-AE50-6B686D193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LED 計數與暫停狀態機</a:t>
            </a:r>
          </a:p>
        </p:txBody>
      </p:sp>
      <p:sp>
        <p:nvSpPr>
          <p:cNvPr id="3" name="41">
            <a:extLst xmlns:a="http://schemas.openxmlformats.org/drawingml/2006/main">
              <a:ext uri="{FF2B5EF4-FFF2-40B4-BE49-F238E27FC236}">
                <a16:creationId xmlns:a16="http://schemas.microsoft.com/office/drawing/2014/main" id="{505089B3-D726-4699-9667-4408D3E11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436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rPr>
              <a:t>41</a:t>
            </a:r>
          </a:p>
        </p:txBody>
      </p:sp>
      <p:sp>
        <p:nvSpPr>
          <p:cNvPr id="4" name="執行位置：PS／ARM 的 C 程式。COUNT 與 PAUSE 是兩個主要狀態。">
            <a:extLst xmlns:a="http://schemas.openxmlformats.org/drawingml/2006/main">
              <a:ext uri="{FF2B5EF4-FFF2-40B4-BE49-F238E27FC236}">
                <a16:creationId xmlns:a16="http://schemas.microsoft.com/office/drawing/2014/main" id="{DC0A1051-3CB4-4366-8A8B-58104E922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950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950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950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950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950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950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950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950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950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950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執行位置：PS／ARM 的 C 程式。COUNT 與 PAUSE 是兩個主要狀態。</a:t>
            </a:r>
          </a:p>
        </p:txBody>
      </p:sp>
      <p:sp>
        <p:nvSpPr>
          <p:cNvPr id="5" name="INIT 初始化">
            <a:extLst xmlns:a="http://schemas.openxmlformats.org/drawingml/2006/main">
              <a:ext uri="{FF2B5EF4-FFF2-40B4-BE49-F238E27FC236}">
                <a16:creationId xmlns:a16="http://schemas.microsoft.com/office/drawing/2014/main" id="{66A6DC06-C7CC-4B91-A890-5739E5644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21907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9F0F5"/>
          </a:solidFill>
          <a:ln xmlns:a="http://schemas.openxmlformats.org/drawingml/2006/main" w="19050">
            <a:solidFill>
              <a:srgbClr val="315F7B"/>
            </a:solidFill>
          </a:ln>
        </p:spPr>
      </p:sp>
      <p:sp>
        <p:nvSpPr>
          <p:cNvPr id="6" name="INIT 初始化">
            <a:extLst xmlns:a="http://schemas.openxmlformats.org/drawingml/2006/main">
              <a:ext uri="{FF2B5EF4-FFF2-40B4-BE49-F238E27FC236}">
                <a16:creationId xmlns:a16="http://schemas.microsoft.com/office/drawing/2014/main" id="{B9F90399-D4A2-4814-A611-5AF895E6B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0375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INIT 初始化</a:t>
            </a:r>
          </a:p>
        </p:txBody>
      </p:sp>
      <p:sp>
        <p:nvSpPr>
          <p:cNvPr id="7" name="GPIO/GIC/Timer&#10;LED = 1">
            <a:extLst xmlns:a="http://schemas.openxmlformats.org/drawingml/2006/main">
              <a:ext uri="{FF2B5EF4-FFF2-40B4-BE49-F238E27FC236}">
                <a16:creationId xmlns:a16="http://schemas.microsoft.com/office/drawing/2014/main" id="{A9032961-0316-445B-9CBA-C8722A41C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19475"/>
            <a:ext cx="1962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GPIO/GIC/Timer</a:t>
            </a:r>
          </a:p>
          <a:p xmlns:a="http://schemas.openxmlformats.org/drawingml/2006/main">
            <a:pPr algn="ctr"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LED = 1</a:t>
            </a:r>
          </a:p>
        </p:txBody>
      </p:sp>
      <p:sp>
        <p:nvSpPr>
          <p:cNvPr id="8" name="COUNT 計數">
            <a:extLst xmlns:a="http://schemas.openxmlformats.org/drawingml/2006/main">
              <a:ext uri="{FF2B5EF4-FFF2-40B4-BE49-F238E27FC236}">
                <a16:creationId xmlns:a16="http://schemas.microsoft.com/office/drawing/2014/main" id="{422D81ED-7B7E-48A8-8F82-39D06836E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57500"/>
            <a:ext cx="2857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9F0F5"/>
          </a:solidFill>
          <a:ln xmlns:a="http://schemas.openxmlformats.org/drawingml/2006/main" w="19050">
            <a:solidFill>
              <a:srgbClr val="315F7B"/>
            </a:solidFill>
          </a:ln>
        </p:spPr>
      </p:sp>
      <p:sp>
        <p:nvSpPr>
          <p:cNvPr id="9" name="COUNT 計數">
            <a:extLst xmlns:a="http://schemas.openxmlformats.org/drawingml/2006/main">
              <a:ext uri="{FF2B5EF4-FFF2-40B4-BE49-F238E27FC236}">
                <a16:creationId xmlns:a16="http://schemas.microsoft.com/office/drawing/2014/main" id="{CB814844-B460-4C96-8DF5-0CDDBC03E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00375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COUNT 計數</a:t>
            </a:r>
          </a:p>
        </p:txBody>
      </p:sp>
      <p:sp>
        <p:nvSpPr>
          <p:cNvPr id="10" name="paused = 0&#10;每 500 ms 更新 LED">
            <a:extLst xmlns:a="http://schemas.openxmlformats.org/drawingml/2006/main">
              <a:ext uri="{FF2B5EF4-FFF2-40B4-BE49-F238E27FC236}">
                <a16:creationId xmlns:a16="http://schemas.microsoft.com/office/drawing/2014/main" id="{D7CF38A0-9300-403C-BAED-EC4521F42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419475"/>
            <a:ext cx="2628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paused = 0</a:t>
            </a:r>
          </a:p>
          <a:p xmlns:a="http://schemas.openxmlformats.org/drawingml/2006/main">
            <a:pPr algn="ctr"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每 500 ms 更新 LED</a:t>
            </a:r>
          </a:p>
        </p:txBody>
      </p:sp>
      <p:sp>
        <p:nvSpPr>
          <p:cNvPr id="11" name="PAUSE 暫停">
            <a:extLst xmlns:a="http://schemas.openxmlformats.org/drawingml/2006/main">
              <a:ext uri="{FF2B5EF4-FFF2-40B4-BE49-F238E27FC236}">
                <a16:creationId xmlns:a16="http://schemas.microsoft.com/office/drawing/2014/main" id="{9A689CBE-38D4-48DF-8B95-BC10ABF93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57500"/>
            <a:ext cx="2857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9F0F5"/>
          </a:solidFill>
          <a:ln xmlns:a="http://schemas.openxmlformats.org/drawingml/2006/main" w="19050">
            <a:solidFill>
              <a:srgbClr val="315F7B"/>
            </a:solidFill>
          </a:ln>
        </p:spPr>
      </p:sp>
      <p:sp>
        <p:nvSpPr>
          <p:cNvPr id="12" name="PAUSE 暫停">
            <a:extLst xmlns:a="http://schemas.openxmlformats.org/drawingml/2006/main">
              <a:ext uri="{FF2B5EF4-FFF2-40B4-BE49-F238E27FC236}">
                <a16:creationId xmlns:a16="http://schemas.microsoft.com/office/drawing/2014/main" id="{2AC1BEB7-8AB6-4DC6-80B4-6005600B2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00375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PAUSE 暫停</a:t>
            </a:r>
          </a:p>
        </p:txBody>
      </p:sp>
      <p:sp>
        <p:nvSpPr>
          <p:cNvPr id="13" name="paused = 1&#10;LED = 0">
            <a:extLst xmlns:a="http://schemas.openxmlformats.org/drawingml/2006/main">
              <a:ext uri="{FF2B5EF4-FFF2-40B4-BE49-F238E27FC236}">
                <a16:creationId xmlns:a16="http://schemas.microsoft.com/office/drawing/2014/main" id="{5779FDE7-23D4-4D4F-8372-D47F291BE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419475"/>
            <a:ext cx="2628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paused = 1</a:t>
            </a:r>
          </a:p>
          <a:p xmlns:a="http://schemas.openxmlformats.org/drawingml/2006/main">
            <a:pPr algn="ctr"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LED = 0</a:t>
            </a:r>
          </a:p>
        </p:txBody>
      </p:sp>
      <p:cxnSp>
        <p:nvCxnSpPr>
          <p:cNvPr id="14" name="transition arrow">
            <a:extLst xmlns:a="http://schemas.openxmlformats.org/drawingml/2006/main">
              <a:ext uri="{FF2B5EF4-FFF2-40B4-BE49-F238E27FC236}">
                <a16:creationId xmlns:a16="http://schemas.microsoft.com/office/drawing/2014/main" id="{11C88244-5551-4A03-965F-9BCB9485637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800350" y="3524250"/>
            <a:ext cx="12001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15F7B"/>
            </a:solidFill>
            <a:tailEnd type="triangle" w="med" len="med"/>
          </a:ln>
        </p:spPr>
      </p:cxnSp>
      <p:sp>
        <p:nvSpPr>
          <p:cNvPr id="15" name="完成初始化">
            <a:extLst xmlns:a="http://schemas.openxmlformats.org/drawingml/2006/main">
              <a:ext uri="{FF2B5EF4-FFF2-40B4-BE49-F238E27FC236}">
                <a16:creationId xmlns:a16="http://schemas.microsoft.com/office/drawing/2014/main" id="{EFD367B4-D0E9-4A1A-AD1C-2BD520E8D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057525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650" b="0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defRPr sz="1650" b="0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defRPr sz="1650" b="0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defRPr sz="1650" b="0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defRPr sz="1650" b="0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defRPr sz="1650" b="0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defRPr sz="1650" b="0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defRPr sz="1650" b="0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defRPr sz="1650" b="0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defRPr sz="1650" b="0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完成初始化</a:t>
            </a:r>
          </a:p>
        </p:txBody>
      </p:sp>
      <p:cxnSp>
        <p:nvCxnSpPr>
          <p:cNvPr id="16" name="transition arrow">
            <a:extLst xmlns:a="http://schemas.openxmlformats.org/drawingml/2006/main">
              <a:ext uri="{FF2B5EF4-FFF2-40B4-BE49-F238E27FC236}">
                <a16:creationId xmlns:a16="http://schemas.microsoft.com/office/drawing/2014/main" id="{7F460254-62B1-4F17-89E2-BB188108FF3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0" y="3524250"/>
            <a:ext cx="1714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15F7B"/>
            </a:solidFill>
            <a:tailEnd type="triangle" w="med" len="med"/>
          </a:ln>
        </p:spPr>
      </p:cxnSp>
      <p:sp>
        <p:nvSpPr>
          <p:cNvPr id="17" name="有效新按下&#10;LED=0，計時 2s">
            <a:extLst xmlns:a="http://schemas.openxmlformats.org/drawingml/2006/main">
              <a:ext uri="{FF2B5EF4-FFF2-40B4-BE49-F238E27FC236}">
                <a16:creationId xmlns:a16="http://schemas.microsoft.com/office/drawing/2014/main" id="{8EFC815E-884A-4B91-935F-0BFAFE336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667000"/>
            <a:ext cx="1638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725" b="0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defRPr sz="1725" b="0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defRPr sz="1725" b="0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defRPr sz="1725" b="0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defRPr sz="1725" b="0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defRPr sz="1725" b="0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defRPr sz="1725" b="0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defRPr sz="1725" b="0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defRPr sz="1725" b="0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defRPr sz="1725" b="0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有效新按下</a:t>
            </a:r>
          </a:p>
          <a:p xmlns:a="http://schemas.openxmlformats.org/drawingml/2006/main">
            <a:pPr algn="ctr">
              <a:defRPr sz="1725" b="0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LED=0，計時 2s</a:t>
            </a:r>
          </a:p>
        </p:txBody>
      </p:sp>
      <p:cxnSp>
        <p:nvCxnSpPr>
          <p:cNvPr id="18" name="transition line">
            <a:extLst xmlns:a="http://schemas.openxmlformats.org/drawingml/2006/main">
              <a:ext uri="{FF2B5EF4-FFF2-40B4-BE49-F238E27FC236}">
                <a16:creationId xmlns:a16="http://schemas.microsoft.com/office/drawing/2014/main" id="{AA99E553-9DD3-4AE5-9033-3425E831EACC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4476750" y="2190750"/>
            <a:ext cx="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15F7B"/>
            </a:solidFill>
          </a:ln>
        </p:spPr>
      </p:cxnSp>
      <p:cxnSp>
        <p:nvCxnSpPr>
          <p:cNvPr id="19" name="transition line">
            <a:extLst xmlns:a="http://schemas.openxmlformats.org/drawingml/2006/main">
              <a:ext uri="{FF2B5EF4-FFF2-40B4-BE49-F238E27FC236}">
                <a16:creationId xmlns:a16="http://schemas.microsoft.com/office/drawing/2014/main" id="{6BFA1923-2941-4CB7-BCE5-63C079764E1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476750" y="2190750"/>
            <a:ext cx="19050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15F7B"/>
            </a:solidFill>
          </a:ln>
        </p:spPr>
      </p:cxnSp>
      <p:cxnSp>
        <p:nvCxnSpPr>
          <p:cNvPr id="20" name="transition arrow">
            <a:extLst xmlns:a="http://schemas.openxmlformats.org/drawingml/2006/main">
              <a:ext uri="{FF2B5EF4-FFF2-40B4-BE49-F238E27FC236}">
                <a16:creationId xmlns:a16="http://schemas.microsoft.com/office/drawing/2014/main" id="{A609A9BA-F3AC-489E-AD5E-8B75D439C42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381750" y="2190750"/>
            <a:ext cx="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15F7B"/>
            </a:solidFill>
            <a:tailEnd type="triangle" w="med" len="med"/>
          </a:ln>
        </p:spPr>
      </p:cxnSp>
      <p:sp>
        <p:nvSpPr>
          <p:cNvPr id="21" name="500 ms 到期，計數加 1">
            <a:extLst xmlns:a="http://schemas.openxmlformats.org/drawingml/2006/main">
              <a:ext uri="{FF2B5EF4-FFF2-40B4-BE49-F238E27FC236}">
                <a16:creationId xmlns:a16="http://schemas.microsoft.com/office/drawing/2014/main" id="{A3CEBC59-D910-49CB-B108-6042879A1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743075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800" b="0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defRPr sz="1800" b="0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defRPr sz="1800" b="0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defRPr sz="1800" b="0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defRPr sz="1800" b="0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defRPr sz="1800" b="0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defRPr sz="1800" b="0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defRPr sz="1800" b="0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defRPr sz="1800" b="0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defRPr sz="1800" b="0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500 ms 到期，計數加 1</a:t>
            </a:r>
          </a:p>
        </p:txBody>
      </p:sp>
      <p:cxnSp>
        <p:nvCxnSpPr>
          <p:cNvPr id="22" name="transition line">
            <a:extLst xmlns:a="http://schemas.openxmlformats.org/drawingml/2006/main">
              <a:ext uri="{FF2B5EF4-FFF2-40B4-BE49-F238E27FC236}">
                <a16:creationId xmlns:a16="http://schemas.microsoft.com/office/drawing/2014/main" id="{9A6759EA-2723-4663-91CB-FF49686ADB93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9048750" y="2190750"/>
            <a:ext cx="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15F7B"/>
            </a:solidFill>
          </a:ln>
        </p:spPr>
      </p:cxnSp>
      <p:cxnSp>
        <p:nvCxnSpPr>
          <p:cNvPr id="23" name="transition line">
            <a:extLst xmlns:a="http://schemas.openxmlformats.org/drawingml/2006/main">
              <a:ext uri="{FF2B5EF4-FFF2-40B4-BE49-F238E27FC236}">
                <a16:creationId xmlns:a16="http://schemas.microsoft.com/office/drawing/2014/main" id="{3F2DB4B0-0BA9-440A-92AE-6A952EF995F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048750" y="2190750"/>
            <a:ext cx="19050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15F7B"/>
            </a:solidFill>
          </a:ln>
        </p:spPr>
      </p:cxnSp>
      <p:cxnSp>
        <p:nvCxnSpPr>
          <p:cNvPr id="24" name="transition arrow">
            <a:extLst xmlns:a="http://schemas.openxmlformats.org/drawingml/2006/main">
              <a:ext uri="{FF2B5EF4-FFF2-40B4-BE49-F238E27FC236}">
                <a16:creationId xmlns:a16="http://schemas.microsoft.com/office/drawing/2014/main" id="{BC230727-6B0C-4F33-B5C1-842C7DF62B8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953750" y="2190750"/>
            <a:ext cx="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15F7B"/>
            </a:solidFill>
            <a:tailEnd type="triangle" w="med" len="med"/>
          </a:ln>
        </p:spPr>
      </p:cxnSp>
      <p:sp>
        <p:nvSpPr>
          <p:cNvPr id="25" name="再次有效按下&#10;重新計時 2 秒">
            <a:extLst xmlns:a="http://schemas.openxmlformats.org/drawingml/2006/main">
              <a:ext uri="{FF2B5EF4-FFF2-40B4-BE49-F238E27FC236}">
                <a16:creationId xmlns:a16="http://schemas.microsoft.com/office/drawing/2014/main" id="{07B5FECF-4C44-4AEE-B711-76334F657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00200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800" b="0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defRPr sz="1800" b="0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defRPr sz="1800" b="0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defRPr sz="1800" b="0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defRPr sz="1800" b="0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defRPr sz="1800" b="0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defRPr sz="1800" b="0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defRPr sz="1800" b="0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defRPr sz="1800" b="0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defRPr sz="1800" b="0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再次有效按下</a:t>
            </a:r>
          </a:p>
          <a:p xmlns:a="http://schemas.openxmlformats.org/drawingml/2006/main">
            <a:pPr algn="ctr">
              <a:defRPr sz="1800" b="0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重新計時 2 秒</a:t>
            </a:r>
          </a:p>
        </p:txBody>
      </p:sp>
      <p:cxnSp>
        <p:nvCxnSpPr>
          <p:cNvPr id="26" name="transition line">
            <a:extLst xmlns:a="http://schemas.openxmlformats.org/drawingml/2006/main">
              <a:ext uri="{FF2B5EF4-FFF2-40B4-BE49-F238E27FC236}">
                <a16:creationId xmlns:a16="http://schemas.microsoft.com/office/drawing/2014/main" id="{3E397409-79C9-4438-978E-DDC4E9A22E8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001250" y="4191000"/>
            <a:ext cx="0" cy="7620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15F7B"/>
            </a:solidFill>
          </a:ln>
        </p:spPr>
      </p:cxnSp>
      <p:cxnSp>
        <p:nvCxnSpPr>
          <p:cNvPr id="27" name="transition line">
            <a:extLst xmlns:a="http://schemas.openxmlformats.org/drawingml/2006/main">
              <a:ext uri="{FF2B5EF4-FFF2-40B4-BE49-F238E27FC236}">
                <a16:creationId xmlns:a16="http://schemas.microsoft.com/office/drawing/2014/main" id="{48790126-6BC9-4996-9F08-D8A3EABC4E41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5429250" y="4953000"/>
            <a:ext cx="45720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15F7B"/>
            </a:solidFill>
          </a:ln>
        </p:spPr>
      </p:cxnSp>
      <p:cxnSp>
        <p:nvCxnSpPr>
          <p:cNvPr id="28" name="transition arrow">
            <a:extLst xmlns:a="http://schemas.openxmlformats.org/drawingml/2006/main">
              <a:ext uri="{FF2B5EF4-FFF2-40B4-BE49-F238E27FC236}">
                <a16:creationId xmlns:a16="http://schemas.microsoft.com/office/drawing/2014/main" id="{5199F637-5184-407F-8F2F-74EE3D398653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5429250" y="4191000"/>
            <a:ext cx="0" cy="7620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15F7B"/>
            </a:solidFill>
            <a:tailEnd type="triangle" w="med" len="med"/>
          </a:ln>
        </p:spPr>
      </p:cxnSp>
      <p:sp>
        <p:nvSpPr>
          <p:cNvPr id="29" name="2 秒到期：LED = 1，下一次更新排在 500 ms 後">
            <a:extLst xmlns:a="http://schemas.openxmlformats.org/drawingml/2006/main">
              <a:ext uri="{FF2B5EF4-FFF2-40B4-BE49-F238E27FC236}">
                <a16:creationId xmlns:a16="http://schemas.microsoft.com/office/drawing/2014/main" id="{6244E02C-FDCF-4C28-88AC-0E4D9A5EA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5153025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875" b="0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defRPr sz="1875" b="0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defRPr sz="1875" b="0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defRPr sz="1875" b="0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defRPr sz="1875" b="0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defRPr sz="1875" b="0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defRPr sz="1875" b="0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defRPr sz="1875" b="0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defRPr sz="1875" b="0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defRPr sz="1875" b="0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2 秒到期：LED = 1，下一次更新排在 500 ms 後</a:t>
            </a:r>
          </a:p>
        </p:txBody>
      </p:sp>
      <p:sp>
        <p:nvSpPr>
          <p:cNvPr id="30" name="有效新按下：主程式經 20 ms 防彈跳後，確認按鈕由放開變成按下。">
            <a:extLst xmlns:a="http://schemas.openxmlformats.org/drawingml/2006/main">
              <a:ext uri="{FF2B5EF4-FFF2-40B4-BE49-F238E27FC236}">
                <a16:creationId xmlns:a16="http://schemas.microsoft.com/office/drawing/2014/main" id="{CAF3CC6F-1AB5-40BE-80DE-1937DA752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有效新按下：主程式經 20 ms 防彈跳後，確認按鈕由放開變成按下。</a:t>
            </a:r>
          </a:p>
        </p:txBody>
      </p:sp>
      <p:sp>
        <p:nvSpPr>
          <p:cNvPr id="31" name="COUNT 採八位元循環計數，255 之後回到 0。">
            <a:extLst xmlns:a="http://schemas.openxmlformats.org/drawingml/2006/main">
              <a:ext uri="{FF2B5EF4-FFF2-40B4-BE49-F238E27FC236}">
                <a16:creationId xmlns:a16="http://schemas.microsoft.com/office/drawing/2014/main" id="{A1824D64-D6DE-4F31-89F0-25460AE11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COUNT 採八位元循環計數，255 之後回到 0。</a:t>
            </a:r>
          </a:p>
        </p:txBody>
      </p:sp>
    </p:spTree>
    <p:extLst>
      <p:ext uri="{BB962C8B-B14F-4D97-AF65-F5344CB8AC3E}">
        <p14:creationId xmlns:p14="http://schemas.microsoft.com/office/powerpoint/2010/main" val="1910100905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按鈕事件的防彈跳狀態機">
            <a:extLst xmlns:a="http://schemas.openxmlformats.org/drawingml/2006/main">
              <a:ext uri="{FF2B5EF4-FFF2-40B4-BE49-F238E27FC236}">
                <a16:creationId xmlns:a16="http://schemas.microsoft.com/office/drawing/2014/main" id="{9C18ED2D-B70C-4C38-AC99-B87BC2F2A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按鈕事件的防彈跳狀態機</a:t>
            </a:r>
          </a:p>
        </p:txBody>
      </p:sp>
      <p:sp>
        <p:nvSpPr>
          <p:cNvPr id="3" name="42">
            <a:extLst xmlns:a="http://schemas.openxmlformats.org/drawingml/2006/main">
              <a:ext uri="{FF2B5EF4-FFF2-40B4-BE49-F238E27FC236}">
                <a16:creationId xmlns:a16="http://schemas.microsoft.com/office/drawing/2014/main" id="{9AC57F39-3DF1-4622-90D7-9C61F1FA0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436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5818A"/>
                </a:solidFill>
                <a:latin typeface="Microsoft JhengHei"/>
                <a:ea typeface="Microsoft JhengHei"/>
                <a:cs typeface="Microsoft JhengHei"/>
              </a:rPr>
              <a:t>42</a:t>
            </a:r>
          </a:p>
        </p:txBody>
      </p:sp>
      <p:sp>
        <p:nvSpPr>
          <p:cNvPr id="4" name="ISR 清除中斷來源並增加事件序號。以下等待與按鈕判斷都由主程式處理。">
            <a:extLst xmlns:a="http://schemas.openxmlformats.org/drawingml/2006/main">
              <a:ext uri="{FF2B5EF4-FFF2-40B4-BE49-F238E27FC236}">
                <a16:creationId xmlns:a16="http://schemas.microsoft.com/office/drawing/2014/main" id="{33A5FE71-3CBB-4641-A0B3-273E594C1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950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950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950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950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950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950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950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950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950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950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ISR 清除中斷來源並增加事件序號。以下等待與按鈕判斷都由主程式處理。</a:t>
            </a:r>
          </a:p>
        </p:txBody>
      </p:sp>
      <p:sp>
        <p:nvSpPr>
          <p:cNvPr id="5" name="WAIT_EVENT">
            <a:extLst xmlns:a="http://schemas.openxmlformats.org/drawingml/2006/main">
              <a:ext uri="{FF2B5EF4-FFF2-40B4-BE49-F238E27FC236}">
                <a16:creationId xmlns:a16="http://schemas.microsoft.com/office/drawing/2014/main" id="{6B5EE18C-58C6-49A8-8A95-41DE74FD7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43250"/>
            <a:ext cx="28575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9F0F5"/>
          </a:solidFill>
          <a:ln xmlns:a="http://schemas.openxmlformats.org/drawingml/2006/main" w="19050">
            <a:solidFill>
              <a:srgbClr val="315F7B"/>
            </a:solidFill>
          </a:ln>
        </p:spPr>
      </p:sp>
      <p:sp>
        <p:nvSpPr>
          <p:cNvPr id="6" name="WAIT_EVENT">
            <a:extLst xmlns:a="http://schemas.openxmlformats.org/drawingml/2006/main">
              <a:ext uri="{FF2B5EF4-FFF2-40B4-BE49-F238E27FC236}">
                <a16:creationId xmlns:a16="http://schemas.microsoft.com/office/drawing/2014/main" id="{5A85600C-74DA-4698-B7C8-40F1C5983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86125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WAIT_EVENT</a:t>
            </a:r>
          </a:p>
        </p:txBody>
      </p:sp>
      <p:sp>
        <p:nvSpPr>
          <p:cNvPr id="7" name="等待新事件&#10;debounce_pending = 0">
            <a:extLst xmlns:a="http://schemas.openxmlformats.org/drawingml/2006/main">
              <a:ext uri="{FF2B5EF4-FFF2-40B4-BE49-F238E27FC236}">
                <a16:creationId xmlns:a16="http://schemas.microsoft.com/office/drawing/2014/main" id="{0D7E6C9D-842F-4294-870C-92B6E83A3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705225"/>
            <a:ext cx="26289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等待新事件</a:t>
            </a:r>
          </a:p>
          <a:p xmlns:a="http://schemas.openxmlformats.org/drawingml/2006/main">
            <a:pPr algn="ctr"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debounce_pending = 0</a:t>
            </a:r>
          </a:p>
        </p:txBody>
      </p:sp>
      <p:sp>
        <p:nvSpPr>
          <p:cNvPr id="8" name="WAIT_STABLE">
            <a:extLst xmlns:a="http://schemas.openxmlformats.org/drawingml/2006/main">
              <a:ext uri="{FF2B5EF4-FFF2-40B4-BE49-F238E27FC236}">
                <a16:creationId xmlns:a16="http://schemas.microsoft.com/office/drawing/2014/main" id="{3D69149E-5EFC-41BA-B939-C7E71D478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143250"/>
            <a:ext cx="3333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9F0F5"/>
          </a:solidFill>
          <a:ln xmlns:a="http://schemas.openxmlformats.org/drawingml/2006/main" w="19050">
            <a:solidFill>
              <a:srgbClr val="315F7B"/>
            </a:solidFill>
          </a:ln>
        </p:spPr>
      </p:sp>
      <p:sp>
        <p:nvSpPr>
          <p:cNvPr id="9" name="WAIT_STABLE">
            <a:extLst xmlns:a="http://schemas.openxmlformats.org/drawingml/2006/main">
              <a:ext uri="{FF2B5EF4-FFF2-40B4-BE49-F238E27FC236}">
                <a16:creationId xmlns:a16="http://schemas.microsoft.com/office/drawing/2014/main" id="{E551D811-3886-4A09-853A-09AD03E47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2861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WAIT_STABLE</a:t>
            </a:r>
          </a:p>
        </p:txBody>
      </p:sp>
      <p:sp>
        <p:nvSpPr>
          <p:cNvPr id="10" name="等待 20 ms&#10;debounce_pending = 1">
            <a:extLst xmlns:a="http://schemas.openxmlformats.org/drawingml/2006/main">
              <a:ext uri="{FF2B5EF4-FFF2-40B4-BE49-F238E27FC236}">
                <a16:creationId xmlns:a16="http://schemas.microsoft.com/office/drawing/2014/main" id="{B769E656-64FC-4A15-9254-3E9D90837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705225"/>
            <a:ext cx="31051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等待 20 ms</a:t>
            </a:r>
          </a:p>
          <a:p xmlns:a="http://schemas.openxmlformats.org/drawingml/2006/main">
            <a:pPr algn="ctr"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debounce_pending = 1</a:t>
            </a:r>
          </a:p>
        </p:txBody>
      </p:sp>
      <p:cxnSp>
        <p:nvCxnSpPr>
          <p:cNvPr id="11" name="transition arrow">
            <a:extLst xmlns:a="http://schemas.openxmlformats.org/drawingml/2006/main">
              <a:ext uri="{FF2B5EF4-FFF2-40B4-BE49-F238E27FC236}">
                <a16:creationId xmlns:a16="http://schemas.microsoft.com/office/drawing/2014/main" id="{BA424695-8934-41BA-86FC-A5C606D25B0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762375" y="3733800"/>
            <a:ext cx="41910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15F7B"/>
            </a:solidFill>
            <a:tailEnd type="triangle" w="med" len="med"/>
          </a:ln>
        </p:spPr>
      </p:cxnSp>
      <p:sp>
        <p:nvSpPr>
          <p:cNvPr id="12" name="觀察到新的 IRQ 事件序號&#10;期限設為現在 + 20 ms">
            <a:extLst xmlns:a="http://schemas.openxmlformats.org/drawingml/2006/main">
              <a:ext uri="{FF2B5EF4-FFF2-40B4-BE49-F238E27FC236}">
                <a16:creationId xmlns:a16="http://schemas.microsoft.com/office/drawing/2014/main" id="{C0B79CBD-71DE-4B4F-BD64-1D9E5CA00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714625"/>
            <a:ext cx="3905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875" b="0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defRPr sz="1875" b="0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defRPr sz="1875" b="0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defRPr sz="1875" b="0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defRPr sz="1875" b="0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defRPr sz="1875" b="0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defRPr sz="1875" b="0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defRPr sz="1875" b="0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defRPr sz="1875" b="0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defRPr sz="1875" b="0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觀察到新的 IRQ 事件序號</a:t>
            </a:r>
          </a:p>
          <a:p xmlns:a="http://schemas.openxmlformats.org/drawingml/2006/main">
            <a:pPr algn="ctr">
              <a:defRPr sz="1875" b="0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期限設為現在 + 20 ms</a:t>
            </a:r>
          </a:p>
        </p:txBody>
      </p:sp>
      <p:cxnSp>
        <p:nvCxnSpPr>
          <p:cNvPr id="13" name="transition line">
            <a:extLst xmlns:a="http://schemas.openxmlformats.org/drawingml/2006/main">
              <a:ext uri="{FF2B5EF4-FFF2-40B4-BE49-F238E27FC236}">
                <a16:creationId xmlns:a16="http://schemas.microsoft.com/office/drawing/2014/main" id="{07EFA6B6-AE96-4D57-BB18-3FDA35D5527E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8572500" y="2190750"/>
            <a:ext cx="0" cy="9525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15F7B"/>
            </a:solidFill>
          </a:ln>
        </p:spPr>
      </p:cxnSp>
      <p:cxnSp>
        <p:nvCxnSpPr>
          <p:cNvPr id="14" name="transition line">
            <a:extLst xmlns:a="http://schemas.openxmlformats.org/drawingml/2006/main">
              <a:ext uri="{FF2B5EF4-FFF2-40B4-BE49-F238E27FC236}">
                <a16:creationId xmlns:a16="http://schemas.microsoft.com/office/drawing/2014/main" id="{50FCA0E7-4001-4A4A-A6F1-21F92E693D2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572500" y="2190750"/>
            <a:ext cx="19050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15F7B"/>
            </a:solidFill>
          </a:ln>
        </p:spPr>
      </p:cxnSp>
      <p:cxnSp>
        <p:nvCxnSpPr>
          <p:cNvPr id="15" name="transition arrow">
            <a:extLst xmlns:a="http://schemas.openxmlformats.org/drawingml/2006/main">
              <a:ext uri="{FF2B5EF4-FFF2-40B4-BE49-F238E27FC236}">
                <a16:creationId xmlns:a16="http://schemas.microsoft.com/office/drawing/2014/main" id="{44846435-0B95-4A28-91F1-D9148DFF29E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477500" y="2190750"/>
            <a:ext cx="0" cy="9525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15F7B"/>
            </a:solidFill>
            <a:tailEnd type="triangle" w="med" len="med"/>
          </a:ln>
        </p:spPr>
      </p:cxnSp>
      <p:sp>
        <p:nvSpPr>
          <p:cNvPr id="16" name="再次觀察到新事件&#10;重設 20 ms 期限">
            <a:extLst xmlns:a="http://schemas.openxmlformats.org/drawingml/2006/main">
              <a:ext uri="{FF2B5EF4-FFF2-40B4-BE49-F238E27FC236}">
                <a16:creationId xmlns:a16="http://schemas.microsoft.com/office/drawing/2014/main" id="{D77FC649-8888-4440-A5C7-79108F318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38300"/>
            <a:ext cx="319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800" b="0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defRPr sz="1800" b="0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defRPr sz="1800" b="0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defRPr sz="1800" b="0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defRPr sz="1800" b="0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defRPr sz="1800" b="0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defRPr sz="1800" b="0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defRPr sz="1800" b="0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defRPr sz="1800" b="0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defRPr sz="1800" b="0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再次觀察到新事件</a:t>
            </a:r>
          </a:p>
          <a:p xmlns:a="http://schemas.openxmlformats.org/drawingml/2006/main">
            <a:pPr algn="ctr">
              <a:defRPr sz="1800" b="0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重設 20 ms 期限</a:t>
            </a:r>
          </a:p>
        </p:txBody>
      </p:sp>
      <p:cxnSp>
        <p:nvCxnSpPr>
          <p:cNvPr id="17" name="transition line">
            <a:extLst xmlns:a="http://schemas.openxmlformats.org/drawingml/2006/main">
              <a:ext uri="{FF2B5EF4-FFF2-40B4-BE49-F238E27FC236}">
                <a16:creationId xmlns:a16="http://schemas.microsoft.com/office/drawing/2014/main" id="{105CD938-E1C8-46A1-992B-2778F50E7A2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620250" y="4333875"/>
            <a:ext cx="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15F7B"/>
            </a:solidFill>
          </a:ln>
        </p:spPr>
      </p:cxnSp>
      <p:cxnSp>
        <p:nvCxnSpPr>
          <p:cNvPr id="18" name="transition line">
            <a:extLst xmlns:a="http://schemas.openxmlformats.org/drawingml/2006/main">
              <a:ext uri="{FF2B5EF4-FFF2-40B4-BE49-F238E27FC236}">
                <a16:creationId xmlns:a16="http://schemas.microsoft.com/office/drawing/2014/main" id="{61C5DC33-DB1A-461A-B739-213A4E728849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2333625" y="4953000"/>
            <a:ext cx="72866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15F7B"/>
            </a:solidFill>
          </a:ln>
        </p:spPr>
      </p:cxnSp>
      <p:cxnSp>
        <p:nvCxnSpPr>
          <p:cNvPr id="19" name="transition arrow">
            <a:extLst xmlns:a="http://schemas.openxmlformats.org/drawingml/2006/main">
              <a:ext uri="{FF2B5EF4-FFF2-40B4-BE49-F238E27FC236}">
                <a16:creationId xmlns:a16="http://schemas.microsoft.com/office/drawing/2014/main" id="{93357F40-E21C-4DB2-A69C-8311AB4FD2D4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2333625" y="4333875"/>
            <a:ext cx="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15F7B"/>
            </a:solidFill>
            <a:tailEnd type="triangle" w="med" len="med"/>
          </a:ln>
        </p:spPr>
      </p:cxnSp>
      <p:sp>
        <p:nvSpPr>
          <p:cNvPr id="20" name="20 ms 到期：讀取按鈕並更新穩定狀態">
            <a:extLst xmlns:a="http://schemas.openxmlformats.org/drawingml/2006/main">
              <a:ext uri="{FF2B5EF4-FFF2-40B4-BE49-F238E27FC236}">
                <a16:creationId xmlns:a16="http://schemas.microsoft.com/office/drawing/2014/main" id="{BD623B26-4661-489B-862D-CF5AF881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467225"/>
            <a:ext cx="5667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875" b="0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defRPr sz="1875" b="0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defRPr sz="1875" b="0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defRPr sz="1875" b="0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defRPr sz="1875" b="0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defRPr sz="1875" b="0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defRPr sz="1875" b="0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defRPr sz="1875" b="0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defRPr sz="1875" b="0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defRPr sz="1875" b="0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63C55"/>
                </a:solidFill>
                <a:latin typeface="Microsoft JhengHei"/>
                <a:ea typeface="Microsoft JhengHei"/>
                <a:cs typeface="Microsoft JhengHei"/>
              </a:rPr>
              <a:t>20 ms 到期：讀取按鈕並更新穩定狀態</a:t>
            </a:r>
          </a:p>
        </p:txBody>
      </p:sp>
      <p:sp>
        <p:nvSpPr>
          <p:cNvPr id="21" name="先計算 pressed = current &amp; ~stable &amp; 0x1F，再更新 st">
            <a:extLst xmlns:a="http://schemas.openxmlformats.org/drawingml/2006/main">
              <a:ext uri="{FF2B5EF4-FFF2-40B4-BE49-F238E27FC236}">
                <a16:creationId xmlns:a16="http://schemas.microsoft.com/office/drawing/2014/main" id="{1C923DB4-3846-4C97-AE53-04C86CA3E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先計算 pressed = current &amp; ~stable &amp; 0x1F，再更新 stable = current。</a:t>
            </a:r>
          </a:p>
        </p:txBody>
      </p:sp>
      <p:sp>
        <p:nvSpPr>
          <p:cNvPr id="22" name="pressed 非 0 才通知主狀態機。放開也會更新 stable，下一次按下才能再觸發。">
            <a:extLst xmlns:a="http://schemas.openxmlformats.org/drawingml/2006/main">
              <a:ext uri="{FF2B5EF4-FFF2-40B4-BE49-F238E27FC236}">
                <a16:creationId xmlns:a16="http://schemas.microsoft.com/office/drawing/2014/main" id="{05C8FC97-5BA7-417B-B6C5-F7D786097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pressed 非 0 才通知主狀態機。放開也會更新 stable，下一次按下才能再觸發。</a:t>
            </a:r>
          </a:p>
        </p:txBody>
      </p:sp>
      <p:sp>
        <p:nvSpPr>
          <p:cNvPr id="23" name="等待防彈跳期間，COUNT／PAUSE 照常執行。長按同一顆按鈕不會連續重設。">
            <a:extLst xmlns:a="http://schemas.openxmlformats.org/drawingml/2006/main">
              <a:ext uri="{FF2B5EF4-FFF2-40B4-BE49-F238E27FC236}">
                <a16:creationId xmlns:a16="http://schemas.microsoft.com/office/drawing/2014/main" id="{3E556BBA-3123-4F34-85EA-A750848E7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rPr>
              <a:t>等待防彈跳期間，COUNT／PAUSE 照常執行。長按同一顆按鈕不會連續重設。</a:t>
            </a:r>
          </a:p>
        </p:txBody>
      </p:sp>
    </p:spTree>
    <p:extLst>
      <p:ext uri="{BB962C8B-B14F-4D97-AF65-F5344CB8AC3E}">
        <p14:creationId xmlns:p14="http://schemas.microsoft.com/office/powerpoint/2010/main" val="8737712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2026-10-28T03:00:19.7570000Z</dcterms:created>
  <dcterms:modified xsi:type="dcterms:W3CDTF">2026-10-28T03:00:19.7570000Z</dcterms:modified>
</coreProperties>
</file>